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Montserrat Ultra-Bold" charset="1" panose="00000900000000000000"/>
      <p:regular r:id="rId18"/>
    </p:embeddedFont>
    <p:embeddedFont>
      <p:font typeface="Montserrat" charset="1" panose="00000500000000000000"/>
      <p:regular r:id="rId19"/>
    </p:embeddedFont>
    <p:embeddedFont>
      <p:font typeface="Open Sauce" charset="1" panose="00000500000000000000"/>
      <p:regular r:id="rId20"/>
    </p:embeddedFont>
    <p:embeddedFont>
      <p:font typeface="Montserrat Bold" charset="1" panose="00000800000000000000"/>
      <p:regular r:id="rId21"/>
    </p:embeddedFont>
    <p:embeddedFont>
      <p:font typeface="Open Sauce Light" charset="1" panose="00000400000000000000"/>
      <p:regular r:id="rId22"/>
    </p:embeddedFont>
    <p:embeddedFont>
      <p:font typeface="Open Sauce Heavy" charset="1" panose="00000A00000000000000"/>
      <p:regular r:id="rId23"/>
    </p:embeddedFont>
    <p:embeddedFont>
      <p:font typeface="Open Sauce Bold" charset="1" panose="000008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https://classroom.google.com/c/Nzk3NjMzNTYyMTYy" TargetMode="External" Type="http://schemas.openxmlformats.org/officeDocument/2006/relationships/hyperlink"/><Relationship Id="rId6" Target="https://classroom.google.com/c/Nzk3NjMzNTYyMTYy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1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8.png" Type="http://schemas.openxmlformats.org/officeDocument/2006/relationships/image"/><Relationship Id="rId6" Target="../media/image1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1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1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7.png" Type="http://schemas.openxmlformats.org/officeDocument/2006/relationships/image"/><Relationship Id="rId5" Target="../media/image8.pn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7.png" Type="http://schemas.openxmlformats.org/officeDocument/2006/relationships/image"/><Relationship Id="rId5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86026" y="6423577"/>
            <a:ext cx="13746548" cy="8229600"/>
          </a:xfrm>
          <a:custGeom>
            <a:avLst/>
            <a:gdLst/>
            <a:ahLst/>
            <a:cxnLst/>
            <a:rect r="r" b="b" t="t" l="l"/>
            <a:pathLst>
              <a:path h="8229600" w="13746548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889400" y="-1820909"/>
            <a:ext cx="14774614" cy="12601514"/>
          </a:xfrm>
          <a:custGeom>
            <a:avLst/>
            <a:gdLst/>
            <a:ahLst/>
            <a:cxnLst/>
            <a:rect r="r" b="b" t="t" l="l"/>
            <a:pathLst>
              <a:path h="12601514" w="14774614">
                <a:moveTo>
                  <a:pt x="0" y="0"/>
                </a:moveTo>
                <a:lnTo>
                  <a:pt x="14774614" y="0"/>
                </a:lnTo>
                <a:lnTo>
                  <a:pt x="14774614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5070414" cy="1592630"/>
          </a:xfrm>
          <a:custGeom>
            <a:avLst/>
            <a:gdLst/>
            <a:ahLst/>
            <a:cxnLst/>
            <a:rect r="r" b="b" t="t" l="l"/>
            <a:pathLst>
              <a:path h="1592630" w="5070414">
                <a:moveTo>
                  <a:pt x="0" y="0"/>
                </a:moveTo>
                <a:lnTo>
                  <a:pt x="5070414" y="0"/>
                </a:lnTo>
                <a:lnTo>
                  <a:pt x="5070414" y="1592630"/>
                </a:lnTo>
                <a:lnTo>
                  <a:pt x="0" y="15926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40608" y="4733015"/>
            <a:ext cx="16606783" cy="2174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721"/>
              </a:lnSpc>
              <a:spcBef>
                <a:spcPct val="0"/>
              </a:spcBef>
            </a:pPr>
            <a:r>
              <a:rPr lang="en-US" b="true" sz="12658" spc="29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MODELO EN V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0608" y="3131407"/>
            <a:ext cx="16606783" cy="2174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721"/>
              </a:lnSpc>
              <a:spcBef>
                <a:spcPct val="0"/>
              </a:spcBef>
            </a:pPr>
            <a:r>
              <a:rPr lang="en-US" b="true" sz="12658" spc="29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MODELO EN V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0608" y="3859496"/>
            <a:ext cx="16606783" cy="2174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721"/>
              </a:lnSpc>
              <a:spcBef>
                <a:spcPct val="0"/>
              </a:spcBef>
            </a:pPr>
            <a:r>
              <a:rPr lang="en-US" b="true" sz="12658" spc="29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MODELO EN V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39555" y="1163291"/>
            <a:ext cx="7408889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</a:p>
          <a:p>
            <a:pPr algn="ctr">
              <a:lnSpc>
                <a:spcPts val="3359"/>
              </a:lnSpc>
            </a:pPr>
            <a:r>
              <a:rPr lang="en-US" b="true" sz="2400" spc="55" u="sng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  <a:hlinkClick r:id="rId5" tooltip="https://classroom.google.com/c/Nzk3NjMzNTYyMTYy"/>
              </a:rPr>
              <a:t>Pr</a:t>
            </a:r>
            <a:r>
              <a:rPr lang="en-US" b="true" sz="2400" spc="55" u="sng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  <a:hlinkClick r:id="rId6" tooltip="https://classroom.google.com/c/Nzk3NjMzNTYyMTYy"/>
              </a:rPr>
              <a:t>OYECTO DE UNA PLATAFORMA VIRTUAL</a:t>
            </a:r>
          </a:p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5439555" y="7979117"/>
            <a:ext cx="7408889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pc="5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PABLO LEONEL SALOMON CAMPOS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92454" y="2117062"/>
            <a:ext cx="3303091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Mario Alonso Segovia Gutiérrez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57406" y="8876803"/>
            <a:ext cx="2173188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29 de mayo de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5603" y="420807"/>
            <a:ext cx="333097" cy="333097"/>
          </a:xfrm>
          <a:custGeom>
            <a:avLst/>
            <a:gdLst/>
            <a:ahLst/>
            <a:cxnLst/>
            <a:rect r="r" b="b" t="t" l="l"/>
            <a:pathLst>
              <a:path h="333097" w="333097">
                <a:moveTo>
                  <a:pt x="0" y="0"/>
                </a:moveTo>
                <a:lnTo>
                  <a:pt x="333097" y="0"/>
                </a:lnTo>
                <a:lnTo>
                  <a:pt x="333097" y="333097"/>
                </a:lnTo>
                <a:lnTo>
                  <a:pt x="0" y="333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86026" y="6423577"/>
            <a:ext cx="13746548" cy="8229600"/>
          </a:xfrm>
          <a:custGeom>
            <a:avLst/>
            <a:gdLst/>
            <a:ahLst/>
            <a:cxnLst/>
            <a:rect r="r" b="b" t="t" l="l"/>
            <a:pathLst>
              <a:path h="8229600" w="13746548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607709" y="-1481982"/>
            <a:ext cx="14774614" cy="12601514"/>
          </a:xfrm>
          <a:custGeom>
            <a:avLst/>
            <a:gdLst/>
            <a:ahLst/>
            <a:cxnLst/>
            <a:rect r="r" b="b" t="t" l="l"/>
            <a:pathLst>
              <a:path h="12601514" w="14774614">
                <a:moveTo>
                  <a:pt x="0" y="0"/>
                </a:moveTo>
                <a:lnTo>
                  <a:pt x="14774614" y="0"/>
                </a:lnTo>
                <a:lnTo>
                  <a:pt x="14774614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954973" y="2147144"/>
            <a:ext cx="9769260" cy="7111156"/>
            <a:chOff x="0" y="0"/>
            <a:chExt cx="1513514" cy="11017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13514" cy="1101704"/>
            </a:xfrm>
            <a:custGeom>
              <a:avLst/>
              <a:gdLst/>
              <a:ahLst/>
              <a:cxnLst/>
              <a:rect r="r" b="b" t="t" l="l"/>
              <a:pathLst>
                <a:path h="1101704" w="1513514">
                  <a:moveTo>
                    <a:pt x="14265" y="0"/>
                  </a:moveTo>
                  <a:lnTo>
                    <a:pt x="1499249" y="0"/>
                  </a:lnTo>
                  <a:cubicBezTo>
                    <a:pt x="1503033" y="0"/>
                    <a:pt x="1506661" y="1503"/>
                    <a:pt x="1509336" y="4178"/>
                  </a:cubicBezTo>
                  <a:cubicBezTo>
                    <a:pt x="1512011" y="6853"/>
                    <a:pt x="1513514" y="10481"/>
                    <a:pt x="1513514" y="14265"/>
                  </a:cubicBezTo>
                  <a:lnTo>
                    <a:pt x="1513514" y="1087440"/>
                  </a:lnTo>
                  <a:cubicBezTo>
                    <a:pt x="1513514" y="1095318"/>
                    <a:pt x="1507128" y="1101704"/>
                    <a:pt x="1499249" y="1101704"/>
                  </a:cubicBezTo>
                  <a:lnTo>
                    <a:pt x="14265" y="1101704"/>
                  </a:lnTo>
                  <a:cubicBezTo>
                    <a:pt x="6386" y="1101704"/>
                    <a:pt x="0" y="1095318"/>
                    <a:pt x="0" y="1087440"/>
                  </a:cubicBezTo>
                  <a:lnTo>
                    <a:pt x="0" y="14265"/>
                  </a:lnTo>
                  <a:cubicBezTo>
                    <a:pt x="0" y="6386"/>
                    <a:pt x="6386" y="0"/>
                    <a:pt x="14265" y="0"/>
                  </a:cubicBezTo>
                  <a:close/>
                </a:path>
              </a:pathLst>
            </a:custGeom>
            <a:blipFill>
              <a:blip r:embed="rId6"/>
              <a:stretch>
                <a:fillRect l="-14238" t="0" r="-15167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95603" y="1663548"/>
            <a:ext cx="8259370" cy="98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04"/>
              </a:lnSpc>
            </a:pPr>
            <a:r>
              <a:rPr lang="en-US" b="true" sz="6641" spc="-3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Definición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5603" y="3069633"/>
            <a:ext cx="7598443" cy="6966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 spc="7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El Modelo en V es una metodología de desarrollo de software que organiza el proyecto en etapas relacionadas con actividades de prueba.</a:t>
            </a:r>
          </a:p>
          <a:p>
            <a:pPr algn="just">
              <a:lnSpc>
                <a:spcPts val="3220"/>
              </a:lnSpc>
            </a:pPr>
          </a:p>
          <a:p>
            <a:pPr algn="just">
              <a:lnSpc>
                <a:spcPts val="3220"/>
              </a:lnSpc>
            </a:pPr>
            <a:r>
              <a:rPr lang="en-US" sz="2300" spc="7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Se llama “Modelo en V” porque su estructura tiene forma de letra V:</a:t>
            </a:r>
          </a:p>
          <a:p>
            <a:pPr algn="just">
              <a:lnSpc>
                <a:spcPts val="3220"/>
              </a:lnSpc>
            </a:pPr>
            <a:r>
              <a:rPr lang="en-US" sz="2300" spc="7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del lado izquierdo se planea y diseña el sistema, y del lado derecho se realizan las pruebas correspondientes.</a:t>
            </a:r>
          </a:p>
          <a:p>
            <a:pPr algn="just">
              <a:lnSpc>
                <a:spcPts val="3220"/>
              </a:lnSpc>
            </a:pPr>
          </a:p>
          <a:p>
            <a:pPr algn="just">
              <a:lnSpc>
                <a:spcPts val="3220"/>
              </a:lnSpc>
            </a:pPr>
            <a:r>
              <a:rPr lang="en-US" sz="2300" spc="7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Su objetivo principal es asegurar que cada fase del desarrollo tenga una validación o prueba relacionada, para detectar errores desde etapas tempranas. IBM lo describe como una variante del modelo en cascada enfocada en verificación y validación.</a:t>
            </a: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300573" y="0"/>
            <a:ext cx="14774614" cy="12601514"/>
          </a:xfrm>
          <a:custGeom>
            <a:avLst/>
            <a:gdLst/>
            <a:ahLst/>
            <a:cxnLst/>
            <a:rect r="r" b="b" t="t" l="l"/>
            <a:pathLst>
              <a:path h="12601514" w="14774614">
                <a:moveTo>
                  <a:pt x="0" y="0"/>
                </a:moveTo>
                <a:lnTo>
                  <a:pt x="14774613" y="0"/>
                </a:lnTo>
                <a:lnTo>
                  <a:pt x="14774613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86026" y="6423577"/>
            <a:ext cx="13746548" cy="8229600"/>
          </a:xfrm>
          <a:custGeom>
            <a:avLst/>
            <a:gdLst/>
            <a:ahLst/>
            <a:cxnLst/>
            <a:rect r="r" b="b" t="t" l="l"/>
            <a:pathLst>
              <a:path h="8229600" w="13746548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328277" y="5810513"/>
            <a:ext cx="8395896" cy="7111156"/>
            <a:chOff x="0" y="0"/>
            <a:chExt cx="1300744" cy="11017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00744" cy="1101704"/>
            </a:xfrm>
            <a:custGeom>
              <a:avLst/>
              <a:gdLst/>
              <a:ahLst/>
              <a:cxnLst/>
              <a:rect r="r" b="b" t="t" l="l"/>
              <a:pathLst>
                <a:path h="1101704" w="1300744">
                  <a:moveTo>
                    <a:pt x="16598" y="0"/>
                  </a:moveTo>
                  <a:lnTo>
                    <a:pt x="1284146" y="0"/>
                  </a:lnTo>
                  <a:cubicBezTo>
                    <a:pt x="1288548" y="0"/>
                    <a:pt x="1292770" y="1749"/>
                    <a:pt x="1295883" y="4861"/>
                  </a:cubicBezTo>
                  <a:cubicBezTo>
                    <a:pt x="1298995" y="7974"/>
                    <a:pt x="1300744" y="12196"/>
                    <a:pt x="1300744" y="16598"/>
                  </a:cubicBezTo>
                  <a:lnTo>
                    <a:pt x="1300744" y="1085106"/>
                  </a:lnTo>
                  <a:cubicBezTo>
                    <a:pt x="1300744" y="1094273"/>
                    <a:pt x="1293313" y="1101704"/>
                    <a:pt x="1284146" y="1101704"/>
                  </a:cubicBezTo>
                  <a:lnTo>
                    <a:pt x="16598" y="1101704"/>
                  </a:lnTo>
                  <a:cubicBezTo>
                    <a:pt x="7431" y="1101704"/>
                    <a:pt x="0" y="1094273"/>
                    <a:pt x="0" y="1085106"/>
                  </a:cubicBezTo>
                  <a:lnTo>
                    <a:pt x="0" y="16598"/>
                  </a:lnTo>
                  <a:cubicBezTo>
                    <a:pt x="0" y="7431"/>
                    <a:pt x="7431" y="0"/>
                    <a:pt x="16598" y="0"/>
                  </a:cubicBezTo>
                  <a:close/>
                </a:path>
              </a:pathLst>
            </a:custGeom>
            <a:blipFill>
              <a:blip r:embed="rId4"/>
              <a:stretch>
                <a:fillRect l="-25287" t="0" r="-25287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69113" y="2936072"/>
            <a:ext cx="8874887" cy="6122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79"/>
              </a:lnSpc>
            </a:pPr>
            <a:r>
              <a:rPr lang="en-US" sz="2342" spc="77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El Modelo en V surge como una evolución del modelo en cascada, con la intención de mejorar el control de calidad durante el desarrollo de software.</a:t>
            </a:r>
          </a:p>
          <a:p>
            <a:pPr algn="just">
              <a:lnSpc>
                <a:spcPts val="3279"/>
              </a:lnSpc>
            </a:pPr>
          </a:p>
          <a:p>
            <a:pPr algn="just">
              <a:lnSpc>
                <a:spcPts val="3279"/>
              </a:lnSpc>
            </a:pPr>
            <a:r>
              <a:rPr lang="en-US" sz="2342" spc="77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Comenzó a utilizarse principalmente en proyectos donde era necesario tener mucha documentación, control y pruebas, como sistemas gubernamentales, militares, médicos e industriales.</a:t>
            </a:r>
          </a:p>
          <a:p>
            <a:pPr algn="just">
              <a:lnSpc>
                <a:spcPts val="3279"/>
              </a:lnSpc>
            </a:pPr>
          </a:p>
          <a:p>
            <a:pPr algn="just">
              <a:lnSpc>
                <a:spcPts val="3279"/>
              </a:lnSpc>
            </a:pPr>
            <a:r>
              <a:rPr lang="en-US" sz="2342" spc="77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En Alemania, el V-Modell fue utilizado como estándar para proyectos de desarrollo de sistemas, especialmente en el sector público y de defensa. El V-Modell XT es una versión más formal usada para planear y ejecutar proyectos de sistemas.</a:t>
            </a:r>
          </a:p>
          <a:p>
            <a:pPr algn="just">
              <a:lnSpc>
                <a:spcPts val="32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509815" y="2312773"/>
            <a:ext cx="7407251" cy="98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704"/>
              </a:lnSpc>
            </a:pPr>
            <a:r>
              <a:rPr lang="en-US" b="true" sz="6641" spc="-3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Contexto y origen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83677" y="9024815"/>
            <a:ext cx="407672" cy="233485"/>
          </a:xfrm>
          <a:custGeom>
            <a:avLst/>
            <a:gdLst/>
            <a:ahLst/>
            <a:cxnLst/>
            <a:rect r="r" b="b" t="t" l="l"/>
            <a:pathLst>
              <a:path h="233485" w="407672">
                <a:moveTo>
                  <a:pt x="0" y="0"/>
                </a:moveTo>
                <a:lnTo>
                  <a:pt x="407672" y="0"/>
                </a:lnTo>
                <a:lnTo>
                  <a:pt x="407672" y="233485"/>
                </a:lnTo>
                <a:lnTo>
                  <a:pt x="0" y="2334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5603" y="420807"/>
            <a:ext cx="333097" cy="333097"/>
          </a:xfrm>
          <a:custGeom>
            <a:avLst/>
            <a:gdLst/>
            <a:ahLst/>
            <a:cxnLst/>
            <a:rect r="r" b="b" t="t" l="l"/>
            <a:pathLst>
              <a:path h="333097" w="333097">
                <a:moveTo>
                  <a:pt x="0" y="0"/>
                </a:moveTo>
                <a:lnTo>
                  <a:pt x="333097" y="0"/>
                </a:lnTo>
                <a:lnTo>
                  <a:pt x="333097" y="333097"/>
                </a:lnTo>
                <a:lnTo>
                  <a:pt x="0" y="333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16785" y="412429"/>
            <a:ext cx="2753652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Thynk Unlimited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7607709" y="-1481982"/>
            <a:ext cx="14774614" cy="12601514"/>
          </a:xfrm>
          <a:custGeom>
            <a:avLst/>
            <a:gdLst/>
            <a:ahLst/>
            <a:cxnLst/>
            <a:rect r="r" b="b" t="t" l="l"/>
            <a:pathLst>
              <a:path h="12601514" w="14774614">
                <a:moveTo>
                  <a:pt x="0" y="0"/>
                </a:moveTo>
                <a:lnTo>
                  <a:pt x="14774614" y="0"/>
                </a:lnTo>
                <a:lnTo>
                  <a:pt x="14774614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86026" y="6423577"/>
            <a:ext cx="13746548" cy="8229600"/>
          </a:xfrm>
          <a:custGeom>
            <a:avLst/>
            <a:gdLst/>
            <a:ahLst/>
            <a:cxnLst/>
            <a:rect r="r" b="b" t="t" l="l"/>
            <a:pathLst>
              <a:path h="8229600" w="13746548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268" y="3318336"/>
            <a:ext cx="9056732" cy="5094411"/>
          </a:xfrm>
          <a:custGeom>
            <a:avLst/>
            <a:gdLst/>
            <a:ahLst/>
            <a:cxnLst/>
            <a:rect r="r" b="b" t="t" l="l"/>
            <a:pathLst>
              <a:path h="5094411" w="9056732">
                <a:moveTo>
                  <a:pt x="0" y="0"/>
                </a:moveTo>
                <a:lnTo>
                  <a:pt x="9056732" y="0"/>
                </a:lnTo>
                <a:lnTo>
                  <a:pt x="9056732" y="5094412"/>
                </a:lnTo>
                <a:lnTo>
                  <a:pt x="0" y="50944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784832" y="1514032"/>
            <a:ext cx="5741000" cy="195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704"/>
              </a:lnSpc>
            </a:pPr>
            <a:r>
              <a:rPr lang="en-US" b="true" sz="6641" spc="-3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Organización del equipo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04462" y="4004307"/>
            <a:ext cx="8421968" cy="571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66"/>
              </a:lnSpc>
            </a:pPr>
            <a:r>
              <a:rPr lang="en-US" sz="2333" spc="7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En el Modelo en V participan diferentes roles:</a:t>
            </a:r>
          </a:p>
          <a:p>
            <a:pPr algn="just">
              <a:lnSpc>
                <a:spcPts val="3266"/>
              </a:lnSpc>
            </a:pPr>
            <a:r>
              <a:rPr lang="en-US" sz="2333" spc="7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Cliente o usuario: explica las necesidades del sistema.</a:t>
            </a:r>
          </a:p>
          <a:p>
            <a:pPr algn="just">
              <a:lnSpc>
                <a:spcPts val="3266"/>
              </a:lnSpc>
            </a:pPr>
            <a:r>
              <a:rPr lang="en-US" sz="2333" spc="7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Analista: recopila y documenta los requisitos.</a:t>
            </a:r>
          </a:p>
          <a:p>
            <a:pPr algn="just">
              <a:lnSpc>
                <a:spcPts val="3266"/>
              </a:lnSpc>
            </a:pPr>
          </a:p>
          <a:p>
            <a:pPr algn="just">
              <a:lnSpc>
                <a:spcPts val="3266"/>
              </a:lnSpc>
            </a:pPr>
            <a:r>
              <a:rPr lang="en-US" sz="2333" spc="7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Diseñador o arquitecto: define la estructura del sistema.</a:t>
            </a:r>
          </a:p>
          <a:p>
            <a:pPr algn="just">
              <a:lnSpc>
                <a:spcPts val="3266"/>
              </a:lnSpc>
            </a:pPr>
            <a:r>
              <a:rPr lang="en-US" sz="2333" spc="7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Programadores: desarrollan los módulos.</a:t>
            </a:r>
          </a:p>
          <a:p>
            <a:pPr algn="just">
              <a:lnSpc>
                <a:spcPts val="3266"/>
              </a:lnSpc>
            </a:pPr>
            <a:r>
              <a:rPr lang="en-US" sz="2333" spc="7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Tester o equipo de calidad: realiza las pruebas.</a:t>
            </a:r>
          </a:p>
          <a:p>
            <a:pPr algn="just">
              <a:lnSpc>
                <a:spcPts val="3266"/>
              </a:lnSpc>
            </a:pPr>
            <a:r>
              <a:rPr lang="en-US" sz="2333" spc="7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Líder de proyecto: da seguimiento al avance, tiempos y entregables.</a:t>
            </a:r>
          </a:p>
          <a:p>
            <a:pPr algn="just">
              <a:lnSpc>
                <a:spcPts val="3266"/>
              </a:lnSpc>
            </a:pPr>
          </a:p>
          <a:p>
            <a:pPr algn="just">
              <a:lnSpc>
                <a:spcPts val="3266"/>
              </a:lnSpc>
            </a:pPr>
            <a:r>
              <a:rPr lang="en-US" sz="2333" spc="7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El trabajo se distribuye por fases. Primero se analiza y documenta, después se diseña, luego se programa y finalmente se prueba.</a:t>
            </a:r>
          </a:p>
          <a:p>
            <a:pPr algn="just">
              <a:lnSpc>
                <a:spcPts val="3266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5603" y="420807"/>
            <a:ext cx="333097" cy="333097"/>
          </a:xfrm>
          <a:custGeom>
            <a:avLst/>
            <a:gdLst/>
            <a:ahLst/>
            <a:cxnLst/>
            <a:rect r="r" b="b" t="t" l="l"/>
            <a:pathLst>
              <a:path h="333097" w="333097">
                <a:moveTo>
                  <a:pt x="0" y="0"/>
                </a:moveTo>
                <a:lnTo>
                  <a:pt x="333097" y="0"/>
                </a:lnTo>
                <a:lnTo>
                  <a:pt x="333097" y="333097"/>
                </a:lnTo>
                <a:lnTo>
                  <a:pt x="0" y="333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16785" y="412429"/>
            <a:ext cx="2753652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Thynk Unlimited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7607709" y="-1481982"/>
            <a:ext cx="14774614" cy="12601514"/>
          </a:xfrm>
          <a:custGeom>
            <a:avLst/>
            <a:gdLst/>
            <a:ahLst/>
            <a:cxnLst/>
            <a:rect r="r" b="b" t="t" l="l"/>
            <a:pathLst>
              <a:path h="12601514" w="14774614">
                <a:moveTo>
                  <a:pt x="0" y="0"/>
                </a:moveTo>
                <a:lnTo>
                  <a:pt x="14774614" y="0"/>
                </a:lnTo>
                <a:lnTo>
                  <a:pt x="14774614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86026" y="6423577"/>
            <a:ext cx="13746548" cy="8229600"/>
          </a:xfrm>
          <a:custGeom>
            <a:avLst/>
            <a:gdLst/>
            <a:ahLst/>
            <a:cxnLst/>
            <a:rect r="r" b="b" t="t" l="l"/>
            <a:pathLst>
              <a:path h="8229600" w="13746548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551506" y="2209424"/>
            <a:ext cx="7707794" cy="195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704"/>
              </a:lnSpc>
            </a:pPr>
            <a:r>
              <a:rPr lang="en-US" b="true" sz="6641" spc="-3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Gestión de tareas y proyectos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9685" y="2637596"/>
            <a:ext cx="8045463" cy="6620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79"/>
              </a:lnSpc>
            </a:pPr>
            <a:r>
              <a:rPr lang="en-US" sz="2342" spc="77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En esta metodología, las actividades se organizan por etapas. No se pasa a la siguiente fase hasta terminar correctamente la anterior.</a:t>
            </a:r>
          </a:p>
          <a:p>
            <a:pPr algn="just">
              <a:lnSpc>
                <a:spcPts val="3279"/>
              </a:lnSpc>
            </a:pPr>
          </a:p>
          <a:p>
            <a:pPr algn="just">
              <a:lnSpc>
                <a:spcPts val="3279"/>
              </a:lnSpc>
            </a:pPr>
            <a:r>
              <a:rPr lang="en-US" sz="2342" spc="77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El avance se controla mediante documentos, cronogramas, revisiones y pruebas. También se da seguimiento a los errores encontrados durante la validación.</a:t>
            </a:r>
          </a:p>
          <a:p>
            <a:pPr algn="just">
              <a:lnSpc>
                <a:spcPts val="3279"/>
              </a:lnSpc>
            </a:pPr>
            <a:r>
              <a:rPr lang="en-US" sz="2342" spc="77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Las tareas se priorizan según la importancia de los requisitos, el riesgo del sistema y el impacto que tendría un error.</a:t>
            </a:r>
          </a:p>
          <a:p>
            <a:pPr algn="just">
              <a:lnSpc>
                <a:spcPts val="3279"/>
              </a:lnSpc>
            </a:pPr>
          </a:p>
          <a:p>
            <a:pPr algn="just">
              <a:lnSpc>
                <a:spcPts val="3279"/>
              </a:lnSpc>
            </a:pPr>
            <a:r>
              <a:rPr lang="en-US" sz="2342" spc="77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Herramientas que pueden utilizarse:</a:t>
            </a:r>
          </a:p>
          <a:p>
            <a:pPr algn="just">
              <a:lnSpc>
                <a:spcPts val="3279"/>
              </a:lnSpc>
            </a:pPr>
            <a:r>
              <a:rPr lang="en-US" sz="2342" spc="77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Trello, Jira, Microsoft Project, GitHub, GitLab, Excel, Google Drive o diagramas UML.</a:t>
            </a:r>
          </a:p>
          <a:p>
            <a:pPr algn="just">
              <a:lnSpc>
                <a:spcPts val="3979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9643919" y="5376641"/>
            <a:ext cx="8644081" cy="7763318"/>
            <a:chOff x="0" y="0"/>
            <a:chExt cx="2776494" cy="24935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76494" cy="2493591"/>
            </a:xfrm>
            <a:custGeom>
              <a:avLst/>
              <a:gdLst/>
              <a:ahLst/>
              <a:cxnLst/>
              <a:rect r="r" b="b" t="t" l="l"/>
              <a:pathLst>
                <a:path h="2493591" w="2776494">
                  <a:moveTo>
                    <a:pt x="16121" y="0"/>
                  </a:moveTo>
                  <a:lnTo>
                    <a:pt x="2760373" y="0"/>
                  </a:lnTo>
                  <a:cubicBezTo>
                    <a:pt x="2769276" y="0"/>
                    <a:pt x="2776494" y="7218"/>
                    <a:pt x="2776494" y="16121"/>
                  </a:cubicBezTo>
                  <a:lnTo>
                    <a:pt x="2776494" y="2477470"/>
                  </a:lnTo>
                  <a:cubicBezTo>
                    <a:pt x="2776494" y="2486374"/>
                    <a:pt x="2769276" y="2493591"/>
                    <a:pt x="2760373" y="2493591"/>
                  </a:cubicBezTo>
                  <a:lnTo>
                    <a:pt x="16121" y="2493591"/>
                  </a:lnTo>
                  <a:cubicBezTo>
                    <a:pt x="7218" y="2493591"/>
                    <a:pt x="0" y="2486374"/>
                    <a:pt x="0" y="2477470"/>
                  </a:cubicBezTo>
                  <a:lnTo>
                    <a:pt x="0" y="16121"/>
                  </a:lnTo>
                  <a:cubicBezTo>
                    <a:pt x="0" y="7218"/>
                    <a:pt x="7218" y="0"/>
                    <a:pt x="16121" y="0"/>
                  </a:cubicBezTo>
                  <a:close/>
                </a:path>
              </a:pathLst>
            </a:custGeom>
            <a:blipFill>
              <a:blip r:embed="rId6"/>
              <a:stretch>
                <a:fillRect l="-17400" t="0" r="-1740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5603" y="420807"/>
            <a:ext cx="333097" cy="333097"/>
          </a:xfrm>
          <a:custGeom>
            <a:avLst/>
            <a:gdLst/>
            <a:ahLst/>
            <a:cxnLst/>
            <a:rect r="r" b="b" t="t" l="l"/>
            <a:pathLst>
              <a:path h="333097" w="333097">
                <a:moveTo>
                  <a:pt x="0" y="0"/>
                </a:moveTo>
                <a:lnTo>
                  <a:pt x="333097" y="0"/>
                </a:lnTo>
                <a:lnTo>
                  <a:pt x="333097" y="333097"/>
                </a:lnTo>
                <a:lnTo>
                  <a:pt x="0" y="333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16785" y="412429"/>
            <a:ext cx="2753652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Thynk Unlimited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9442721" y="-3144156"/>
            <a:ext cx="14774614" cy="12601514"/>
          </a:xfrm>
          <a:custGeom>
            <a:avLst/>
            <a:gdLst/>
            <a:ahLst/>
            <a:cxnLst/>
            <a:rect r="r" b="b" t="t" l="l"/>
            <a:pathLst>
              <a:path h="12601514" w="14774614">
                <a:moveTo>
                  <a:pt x="0" y="0"/>
                </a:moveTo>
                <a:lnTo>
                  <a:pt x="14774614" y="0"/>
                </a:lnTo>
                <a:lnTo>
                  <a:pt x="14774614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86026" y="6351615"/>
            <a:ext cx="13746548" cy="8229600"/>
          </a:xfrm>
          <a:custGeom>
            <a:avLst/>
            <a:gdLst/>
            <a:ahLst/>
            <a:cxnLst/>
            <a:rect r="r" b="b" t="t" l="l"/>
            <a:pathLst>
              <a:path h="8229600" w="13746548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9767" y="1628682"/>
            <a:ext cx="5825699" cy="98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704"/>
              </a:lnSpc>
            </a:pPr>
            <a:r>
              <a:rPr lang="en-US" b="true" sz="6641" spc="-3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Ventajas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1874" y="3118501"/>
            <a:ext cx="8293722" cy="3580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 spc="7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El Modelo en V tiene varias ventajas:</a:t>
            </a: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7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Permite una mejor organización del proyecto.</a:t>
            </a: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7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Ayuda a detectar errores desde etapas tempranas.</a:t>
            </a: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7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Relaciona cada fase de desarrollo con una fase de prueba.</a:t>
            </a: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7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Facilita el control de calidad.</a:t>
            </a: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7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Es útil cuando los requisitos están bien definidos.</a:t>
            </a: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7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Permite tener documentación clara del sistema.</a:t>
            </a:r>
          </a:p>
          <a:p>
            <a:pPr algn="just">
              <a:lnSpc>
                <a:spcPts val="322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896518" y="1628682"/>
            <a:ext cx="5825699" cy="98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704"/>
              </a:lnSpc>
            </a:pPr>
            <a:r>
              <a:rPr lang="en-US" b="true" sz="6641" spc="-3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Desventajas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35219" y="3118501"/>
            <a:ext cx="8293722" cy="3580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20"/>
              </a:lnSpc>
            </a:pPr>
            <a:r>
              <a:rPr lang="en-US" sz="2300" spc="7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El Modelo en V tiene varias ventajas:</a:t>
            </a:r>
          </a:p>
          <a:p>
            <a:pPr algn="r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7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Permite una mejor organización del proyecto.</a:t>
            </a:r>
          </a:p>
          <a:p>
            <a:pPr algn="r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7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Ayuda a detectar errores desde etapas tempranas.</a:t>
            </a:r>
          </a:p>
          <a:p>
            <a:pPr algn="r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7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Relaciona cada fase de desarrollo con una fase de prueba.</a:t>
            </a:r>
          </a:p>
          <a:p>
            <a:pPr algn="r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7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Facilita el control de calidad.</a:t>
            </a:r>
          </a:p>
          <a:p>
            <a:pPr algn="r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7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Es útil cuando los requisitos están bien definidos.</a:t>
            </a:r>
          </a:p>
          <a:p>
            <a:pPr algn="r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7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Permite tener documentación clara del sistema.</a:t>
            </a:r>
          </a:p>
          <a:p>
            <a:pPr algn="r">
              <a:lnSpc>
                <a:spcPts val="322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5603" y="420807"/>
            <a:ext cx="333097" cy="333097"/>
          </a:xfrm>
          <a:custGeom>
            <a:avLst/>
            <a:gdLst/>
            <a:ahLst/>
            <a:cxnLst/>
            <a:rect r="r" b="b" t="t" l="l"/>
            <a:pathLst>
              <a:path h="333097" w="333097">
                <a:moveTo>
                  <a:pt x="0" y="0"/>
                </a:moveTo>
                <a:lnTo>
                  <a:pt x="333097" y="0"/>
                </a:lnTo>
                <a:lnTo>
                  <a:pt x="333097" y="333097"/>
                </a:lnTo>
                <a:lnTo>
                  <a:pt x="0" y="333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16785" y="412429"/>
            <a:ext cx="2753652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Thynk Unlimited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7643689" y="-1553943"/>
            <a:ext cx="14774614" cy="12601514"/>
          </a:xfrm>
          <a:custGeom>
            <a:avLst/>
            <a:gdLst/>
            <a:ahLst/>
            <a:cxnLst/>
            <a:rect r="r" b="b" t="t" l="l"/>
            <a:pathLst>
              <a:path h="12601514" w="14774614">
                <a:moveTo>
                  <a:pt x="0" y="0"/>
                </a:moveTo>
                <a:lnTo>
                  <a:pt x="14774613" y="0"/>
                </a:lnTo>
                <a:lnTo>
                  <a:pt x="14774613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86026" y="6423577"/>
            <a:ext cx="13746548" cy="8229600"/>
          </a:xfrm>
          <a:custGeom>
            <a:avLst/>
            <a:gdLst/>
            <a:ahLst/>
            <a:cxnLst/>
            <a:rect r="r" b="b" t="t" l="l"/>
            <a:pathLst>
              <a:path h="8229600" w="13746548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62151" y="1938577"/>
            <a:ext cx="5741000" cy="98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704"/>
              </a:lnSpc>
            </a:pPr>
            <a:r>
              <a:rPr lang="en-US" b="true" sz="6641" spc="-3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Casos de uso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41956" y="2374547"/>
            <a:ext cx="8941373" cy="655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spc="8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El Modelo en V funciona mejor en proyectos donde los requisitos son claros desde el inicio y el sistema necesita mucha calidad.</a:t>
            </a:r>
          </a:p>
          <a:p>
            <a:pPr algn="just">
              <a:lnSpc>
                <a:spcPts val="3499"/>
              </a:lnSpc>
            </a:pPr>
            <a:r>
              <a:rPr lang="en-US" sz="2499" spc="8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Ejemplos de proyectos donde se puede usar: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8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Sistemas hospitalarios.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8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Plataformas bancarias.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8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Software para gobierno.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8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Sistemas de control industrial.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8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Aplicaciones de seguridad.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8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Sistemas escolares con procesos bien definidos.</a:t>
            </a:r>
          </a:p>
          <a:p>
            <a:pPr algn="just">
              <a:lnSpc>
                <a:spcPts val="3499"/>
              </a:lnSpc>
            </a:pPr>
            <a:r>
              <a:rPr lang="en-US" sz="2499" spc="8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Empresas o instituciones que podrían usarlo son hospitales, bancos, dependencias gubernamentales, aseguradoras o empresas de tecnología que desarrollen sistemas críticos.</a:t>
            </a:r>
          </a:p>
          <a:p>
            <a:pPr algn="just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5603" y="420807"/>
            <a:ext cx="333097" cy="333097"/>
          </a:xfrm>
          <a:custGeom>
            <a:avLst/>
            <a:gdLst/>
            <a:ahLst/>
            <a:cxnLst/>
            <a:rect r="r" b="b" t="t" l="l"/>
            <a:pathLst>
              <a:path h="333097" w="333097">
                <a:moveTo>
                  <a:pt x="0" y="0"/>
                </a:moveTo>
                <a:lnTo>
                  <a:pt x="333097" y="0"/>
                </a:lnTo>
                <a:lnTo>
                  <a:pt x="333097" y="333097"/>
                </a:lnTo>
                <a:lnTo>
                  <a:pt x="0" y="333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16785" y="412429"/>
            <a:ext cx="2753652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Thynk Unlimited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220402" y="0"/>
            <a:ext cx="4682201" cy="5448237"/>
          </a:xfrm>
          <a:custGeom>
            <a:avLst/>
            <a:gdLst/>
            <a:ahLst/>
            <a:cxnLst/>
            <a:rect r="r" b="b" t="t" l="l"/>
            <a:pathLst>
              <a:path h="5448237" w="4682201">
                <a:moveTo>
                  <a:pt x="0" y="0"/>
                </a:moveTo>
                <a:lnTo>
                  <a:pt x="4682201" y="0"/>
                </a:lnTo>
                <a:lnTo>
                  <a:pt x="4682201" y="5448237"/>
                </a:lnTo>
                <a:lnTo>
                  <a:pt x="0" y="5448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15548" t="-75630" r="0" b="-5566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86026" y="6423577"/>
            <a:ext cx="13746548" cy="8229600"/>
          </a:xfrm>
          <a:custGeom>
            <a:avLst/>
            <a:gdLst/>
            <a:ahLst/>
            <a:cxnLst/>
            <a:rect r="r" b="b" t="t" l="l"/>
            <a:pathLst>
              <a:path h="8229600" w="13746548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433601" y="1283099"/>
            <a:ext cx="5825699" cy="195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04"/>
              </a:lnSpc>
            </a:pPr>
            <a:r>
              <a:rPr lang="en-US" b="true" sz="6641" spc="-3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Ejemplo práctico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144000" y="4370294"/>
            <a:ext cx="9144000" cy="5916706"/>
          </a:xfrm>
          <a:custGeom>
            <a:avLst/>
            <a:gdLst/>
            <a:ahLst/>
            <a:cxnLst/>
            <a:rect r="r" b="b" t="t" l="l"/>
            <a:pathLst>
              <a:path h="5916706" w="9144000">
                <a:moveTo>
                  <a:pt x="0" y="0"/>
                </a:moveTo>
                <a:lnTo>
                  <a:pt x="9144000" y="0"/>
                </a:lnTo>
                <a:lnTo>
                  <a:pt x="9144000" y="5916706"/>
                </a:lnTo>
                <a:lnTo>
                  <a:pt x="0" y="59167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50425" y="1047750"/>
            <a:ext cx="7440024" cy="1344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</a:pPr>
            <a:r>
              <a:rPr lang="en-US" b="true" sz="2400" spc="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APLICACIÓN DEL MODELO EN V EN EL SISTEMA DEL ALBERGUE “TU TECHO”</a:t>
            </a:r>
          </a:p>
          <a:p>
            <a:pPr algn="just">
              <a:lnSpc>
                <a:spcPts val="2640"/>
              </a:lnSpc>
            </a:pPr>
          </a:p>
          <a:p>
            <a:pPr algn="just" marL="0" indent="0" lvl="0">
              <a:lnSpc>
                <a:spcPts val="264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56829" y="1980482"/>
            <a:ext cx="8477724" cy="879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spc="5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Un ejemplo práctico del uso del Modelo en V sería el desarrollo del sistema administrativo para el albergue Ajo'olnaj / Tu Techo, perteneciente a la Secretaría de Inclusión.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  <a:r>
              <a:rPr lang="en-US" sz="1800" spc="5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Este sistema tendría como finalidad organizar y controlar la información de los beneficiarios, sus expedientes, los servicios que reciben y los movimientos administrativos del albergue.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  <a:r>
              <a:rPr lang="en-US" sz="1800" spc="5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Primera etapa: Requisitos</a:t>
            </a:r>
          </a:p>
          <a:p>
            <a:pPr algn="just">
              <a:lnSpc>
                <a:spcPts val="2520"/>
              </a:lnSpc>
            </a:pPr>
            <a:r>
              <a:rPr lang="en-US" sz="1800" spc="5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En esta fase se identificarían las necesidades del sistema, por ejemplo:</a:t>
            </a:r>
          </a:p>
          <a:p>
            <a:pPr algn="just" marL="388623" indent="-194312" lvl="1">
              <a:lnSpc>
                <a:spcPts val="2520"/>
              </a:lnSpc>
              <a:buFont typeface="Arial"/>
              <a:buChar char="•"/>
            </a:pPr>
            <a:r>
              <a:rPr lang="en-US" sz="1800" spc="5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Registrar beneficiarios.</a:t>
            </a:r>
          </a:p>
          <a:p>
            <a:pPr algn="just" marL="388623" indent="-194312" lvl="1">
              <a:lnSpc>
                <a:spcPts val="2520"/>
              </a:lnSpc>
              <a:buFont typeface="Arial"/>
              <a:buChar char="•"/>
            </a:pPr>
            <a:r>
              <a:rPr lang="en-US" sz="1800" spc="5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Guardar documentos como CURP, INE y acta de nacimiento.</a:t>
            </a:r>
          </a:p>
          <a:p>
            <a:pPr algn="just" marL="388623" indent="-194312" lvl="1">
              <a:lnSpc>
                <a:spcPts val="2520"/>
              </a:lnSpc>
              <a:buFont typeface="Arial"/>
              <a:buChar char="•"/>
            </a:pPr>
            <a:r>
              <a:rPr lang="en-US" sz="1800" spc="5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Crear y consultar expedientes.</a:t>
            </a:r>
          </a:p>
          <a:p>
            <a:pPr algn="just" marL="388623" indent="-194312" lvl="1">
              <a:lnSpc>
                <a:spcPts val="2520"/>
              </a:lnSpc>
              <a:buFont typeface="Arial"/>
              <a:buChar char="•"/>
            </a:pPr>
            <a:r>
              <a:rPr lang="en-US" sz="1800" spc="5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Registrar ingresos y egresos.</a:t>
            </a:r>
          </a:p>
          <a:p>
            <a:pPr algn="just" marL="388623" indent="-194312" lvl="1">
              <a:lnSpc>
                <a:spcPts val="2520"/>
              </a:lnSpc>
              <a:buFont typeface="Arial"/>
              <a:buChar char="•"/>
            </a:pPr>
            <a:r>
              <a:rPr lang="en-US" sz="1800" spc="5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Controlar servicios como enfermería, psicología y trabajo social.</a:t>
            </a:r>
          </a:p>
          <a:p>
            <a:pPr algn="just" marL="388623" indent="-194312" lvl="1">
              <a:lnSpc>
                <a:spcPts val="2520"/>
              </a:lnSpc>
              <a:buFont typeface="Arial"/>
              <a:buChar char="•"/>
            </a:pPr>
            <a:r>
              <a:rPr lang="en-US" sz="1800" spc="5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Administrar usuarios del sistema.</a:t>
            </a:r>
          </a:p>
          <a:p>
            <a:pPr algn="just" marL="388623" indent="-194312" lvl="1">
              <a:lnSpc>
                <a:spcPts val="2520"/>
              </a:lnSpc>
              <a:buFont typeface="Arial"/>
              <a:buChar char="•"/>
            </a:pPr>
            <a:r>
              <a:rPr lang="en-US" sz="1800" spc="5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Generar reportes.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  <a:r>
              <a:rPr lang="en-US" sz="1800" spc="5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Después de definir los requisitos, se diseñaría la estructura del sistema:</a:t>
            </a:r>
          </a:p>
          <a:p>
            <a:pPr algn="just" marL="388623" indent="-194312" lvl="1">
              <a:lnSpc>
                <a:spcPts val="2520"/>
              </a:lnSpc>
              <a:buFont typeface="Arial"/>
              <a:buChar char="•"/>
            </a:pPr>
            <a:r>
              <a:rPr lang="en-US" sz="1800" spc="5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diseño de la base de datos,</a:t>
            </a:r>
          </a:p>
          <a:p>
            <a:pPr algn="just" marL="388623" indent="-194312" lvl="1">
              <a:lnSpc>
                <a:spcPts val="2520"/>
              </a:lnSpc>
              <a:buFont typeface="Arial"/>
              <a:buChar char="•"/>
            </a:pPr>
            <a:r>
              <a:rPr lang="en-US" sz="1800" spc="5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diseño de módulos,</a:t>
            </a:r>
          </a:p>
          <a:p>
            <a:pPr algn="just" marL="388623" indent="-194312" lvl="1">
              <a:lnSpc>
                <a:spcPts val="2520"/>
              </a:lnSpc>
              <a:buFont typeface="Arial"/>
              <a:buChar char="•"/>
            </a:pPr>
            <a:r>
              <a:rPr lang="en-US" sz="1800" spc="5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flujo de navegación,</a:t>
            </a:r>
          </a:p>
          <a:p>
            <a:pPr algn="just" marL="388623" indent="-194312" lvl="1">
              <a:lnSpc>
                <a:spcPts val="2520"/>
              </a:lnSpc>
              <a:buFont typeface="Arial"/>
              <a:buChar char="•"/>
            </a:pPr>
            <a:r>
              <a:rPr lang="en-US" sz="1800" spc="5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formularios,</a:t>
            </a:r>
          </a:p>
          <a:p>
            <a:pPr algn="just" marL="388623" indent="-194312" lvl="1">
              <a:lnSpc>
                <a:spcPts val="2520"/>
              </a:lnSpc>
              <a:buFont typeface="Arial"/>
              <a:buChar char="•"/>
            </a:pPr>
            <a:r>
              <a:rPr lang="en-US" sz="1800" spc="5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panel administrativo,</a:t>
            </a:r>
          </a:p>
          <a:p>
            <a:pPr algn="just" marL="388623" indent="-194312" lvl="1">
              <a:lnSpc>
                <a:spcPts val="2520"/>
              </a:lnSpc>
              <a:buFont typeface="Arial"/>
              <a:buChar char="•"/>
            </a:pPr>
            <a:r>
              <a:rPr lang="en-US" sz="1800" spc="5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permisos de usuario según el rol.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5603" y="420807"/>
            <a:ext cx="333097" cy="333097"/>
          </a:xfrm>
          <a:custGeom>
            <a:avLst/>
            <a:gdLst/>
            <a:ahLst/>
            <a:cxnLst/>
            <a:rect r="r" b="b" t="t" l="l"/>
            <a:pathLst>
              <a:path h="333097" w="333097">
                <a:moveTo>
                  <a:pt x="0" y="0"/>
                </a:moveTo>
                <a:lnTo>
                  <a:pt x="333097" y="0"/>
                </a:lnTo>
                <a:lnTo>
                  <a:pt x="333097" y="333097"/>
                </a:lnTo>
                <a:lnTo>
                  <a:pt x="0" y="333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16785" y="412429"/>
            <a:ext cx="2753652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Thynk Unlimited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220402" y="0"/>
            <a:ext cx="4682201" cy="5448237"/>
          </a:xfrm>
          <a:custGeom>
            <a:avLst/>
            <a:gdLst/>
            <a:ahLst/>
            <a:cxnLst/>
            <a:rect r="r" b="b" t="t" l="l"/>
            <a:pathLst>
              <a:path h="5448237" w="4682201">
                <a:moveTo>
                  <a:pt x="0" y="0"/>
                </a:moveTo>
                <a:lnTo>
                  <a:pt x="4682201" y="0"/>
                </a:lnTo>
                <a:lnTo>
                  <a:pt x="4682201" y="5448237"/>
                </a:lnTo>
                <a:lnTo>
                  <a:pt x="0" y="5448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15548" t="-75630" r="0" b="-5566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86026" y="6423577"/>
            <a:ext cx="13746548" cy="8229600"/>
          </a:xfrm>
          <a:custGeom>
            <a:avLst/>
            <a:gdLst/>
            <a:ahLst/>
            <a:cxnLst/>
            <a:rect r="r" b="b" t="t" l="l"/>
            <a:pathLst>
              <a:path h="8229600" w="13746548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433601" y="1963865"/>
            <a:ext cx="5825699" cy="195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04"/>
              </a:lnSpc>
            </a:pPr>
            <a:r>
              <a:rPr lang="en-US" b="true" sz="6641" spc="-3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Ejemplo práctico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705140" y="2381437"/>
            <a:ext cx="407672" cy="233485"/>
          </a:xfrm>
          <a:custGeom>
            <a:avLst/>
            <a:gdLst/>
            <a:ahLst/>
            <a:cxnLst/>
            <a:rect r="r" b="b" t="t" l="l"/>
            <a:pathLst>
              <a:path h="233485" w="407672">
                <a:moveTo>
                  <a:pt x="0" y="0"/>
                </a:moveTo>
                <a:lnTo>
                  <a:pt x="407672" y="0"/>
                </a:lnTo>
                <a:lnTo>
                  <a:pt x="407672" y="233485"/>
                </a:lnTo>
                <a:lnTo>
                  <a:pt x="0" y="2334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148528" y="5169430"/>
            <a:ext cx="8139472" cy="5158390"/>
          </a:xfrm>
          <a:custGeom>
            <a:avLst/>
            <a:gdLst/>
            <a:ahLst/>
            <a:cxnLst/>
            <a:rect r="r" b="b" t="t" l="l"/>
            <a:pathLst>
              <a:path h="5158390" w="8139472">
                <a:moveTo>
                  <a:pt x="0" y="0"/>
                </a:moveTo>
                <a:lnTo>
                  <a:pt x="8139472" y="0"/>
                </a:lnTo>
                <a:lnTo>
                  <a:pt x="8139472" y="5158390"/>
                </a:lnTo>
                <a:lnTo>
                  <a:pt x="0" y="51583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50425" y="1047750"/>
            <a:ext cx="7440024" cy="1344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</a:pPr>
            <a:r>
              <a:rPr lang="en-US" b="true" sz="2400" spc="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APLICACIÓN DEL MODELO EN V EN EL SISTEMA DEL ALBERGUE “TU TECHO”</a:t>
            </a:r>
          </a:p>
          <a:p>
            <a:pPr algn="just">
              <a:lnSpc>
                <a:spcPts val="2640"/>
              </a:lnSpc>
            </a:pPr>
          </a:p>
          <a:p>
            <a:pPr algn="just" marL="0" indent="0" lvl="0">
              <a:lnSpc>
                <a:spcPts val="264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96665" y="2130659"/>
            <a:ext cx="9144000" cy="853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spc="6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Tercera etapa: Codificación</a:t>
            </a:r>
          </a:p>
          <a:p>
            <a:pPr algn="just">
              <a:lnSpc>
                <a:spcPts val="2940"/>
              </a:lnSpc>
            </a:pPr>
            <a:r>
              <a:rPr lang="en-US" sz="2100" spc="6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En esta parte se desarrollaría cada módulo del sistema, por ejemplo:</a:t>
            </a:r>
          </a:p>
          <a:p>
            <a:pPr algn="just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 spc="6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módulo de beneficiarios,</a:t>
            </a:r>
          </a:p>
          <a:p>
            <a:pPr algn="just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 spc="6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módulo de expedientes,</a:t>
            </a:r>
          </a:p>
          <a:p>
            <a:pPr algn="just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 spc="6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módulo de servicios,</a:t>
            </a:r>
          </a:p>
          <a:p>
            <a:pPr algn="just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 spc="6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módulo de ingresos y egresos,</a:t>
            </a:r>
          </a:p>
          <a:p>
            <a:pPr algn="just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 spc="6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módulo de reportes.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  <a:r>
              <a:rPr lang="en-US" sz="2100" spc="6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Cuarta etapa: Pruebas</a:t>
            </a:r>
          </a:p>
          <a:p>
            <a:pPr algn="just">
              <a:lnSpc>
                <a:spcPts val="2940"/>
              </a:lnSpc>
            </a:pPr>
            <a:r>
              <a:rPr lang="en-US" sz="2100" spc="6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Siguiendo el Modelo en V, cada fase de desarrollo tendría su prueba correspondiente:</a:t>
            </a:r>
          </a:p>
          <a:p>
            <a:pPr algn="just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 spc="6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Pruebas unitarias: verificar que cada módulo funcione correctamente por separado.</a:t>
            </a:r>
          </a:p>
          <a:p>
            <a:pPr algn="just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 spc="6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Pruebas de integración: comprobar que los módulos trabajen bien entre sí, por ejemplo beneficiarios con expedientes.</a:t>
            </a:r>
          </a:p>
          <a:p>
            <a:pPr algn="just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 spc="6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Pruebas del sistema: revisar que el sistema completo funcione correctamente.</a:t>
            </a:r>
          </a:p>
          <a:p>
            <a:pPr algn="just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 spc="6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Pruebas de aceptación: validar con los usuarios si el sistema cumple con las necesidades reales del albergue.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5603" y="420807"/>
            <a:ext cx="333097" cy="333097"/>
          </a:xfrm>
          <a:custGeom>
            <a:avLst/>
            <a:gdLst/>
            <a:ahLst/>
            <a:cxnLst/>
            <a:rect r="r" b="b" t="t" l="l"/>
            <a:pathLst>
              <a:path h="333097" w="333097">
                <a:moveTo>
                  <a:pt x="0" y="0"/>
                </a:moveTo>
                <a:lnTo>
                  <a:pt x="333097" y="0"/>
                </a:lnTo>
                <a:lnTo>
                  <a:pt x="333097" y="333097"/>
                </a:lnTo>
                <a:lnTo>
                  <a:pt x="0" y="333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16785" y="412429"/>
            <a:ext cx="2753652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Thynk Unlimited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7607709" y="-1481982"/>
            <a:ext cx="14774614" cy="12601514"/>
          </a:xfrm>
          <a:custGeom>
            <a:avLst/>
            <a:gdLst/>
            <a:ahLst/>
            <a:cxnLst/>
            <a:rect r="r" b="b" t="t" l="l"/>
            <a:pathLst>
              <a:path h="12601514" w="14774614">
                <a:moveTo>
                  <a:pt x="0" y="0"/>
                </a:moveTo>
                <a:lnTo>
                  <a:pt x="14774614" y="0"/>
                </a:lnTo>
                <a:lnTo>
                  <a:pt x="14774614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86026" y="6423577"/>
            <a:ext cx="13746548" cy="8229600"/>
          </a:xfrm>
          <a:custGeom>
            <a:avLst/>
            <a:gdLst/>
            <a:ahLst/>
            <a:cxnLst/>
            <a:rect r="r" b="b" t="t" l="l"/>
            <a:pathLst>
              <a:path h="8229600" w="13746548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5603" y="420807"/>
            <a:ext cx="333097" cy="333097"/>
          </a:xfrm>
          <a:custGeom>
            <a:avLst/>
            <a:gdLst/>
            <a:ahLst/>
            <a:cxnLst/>
            <a:rect r="r" b="b" t="t" l="l"/>
            <a:pathLst>
              <a:path h="333097" w="333097">
                <a:moveTo>
                  <a:pt x="0" y="0"/>
                </a:moveTo>
                <a:lnTo>
                  <a:pt x="333097" y="0"/>
                </a:lnTo>
                <a:lnTo>
                  <a:pt x="333097" y="333097"/>
                </a:lnTo>
                <a:lnTo>
                  <a:pt x="0" y="333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16785" y="412429"/>
            <a:ext cx="2753652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Thynk Unlimited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7607709" y="-1481982"/>
            <a:ext cx="14774614" cy="12601514"/>
          </a:xfrm>
          <a:custGeom>
            <a:avLst/>
            <a:gdLst/>
            <a:ahLst/>
            <a:cxnLst/>
            <a:rect r="r" b="b" t="t" l="l"/>
            <a:pathLst>
              <a:path h="12601514" w="14774614">
                <a:moveTo>
                  <a:pt x="0" y="0"/>
                </a:moveTo>
                <a:lnTo>
                  <a:pt x="14774614" y="0"/>
                </a:lnTo>
                <a:lnTo>
                  <a:pt x="14774614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86026" y="6423577"/>
            <a:ext cx="13746548" cy="8229600"/>
          </a:xfrm>
          <a:custGeom>
            <a:avLst/>
            <a:gdLst/>
            <a:ahLst/>
            <a:cxnLst/>
            <a:rect r="r" b="b" t="t" l="l"/>
            <a:pathLst>
              <a:path h="8229600" w="13746548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42095" y="1404124"/>
            <a:ext cx="5825699" cy="98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04"/>
              </a:lnSpc>
            </a:pPr>
            <a:r>
              <a:rPr lang="en-US" b="true" sz="6641" spc="-3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Conclusiones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3104740"/>
            <a:ext cx="18288000" cy="267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true" sz="2400" spc="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EL MODELO EN V ES UNA METODOLOGÍA ÚTIL PARA DESARROLLAR SOFTWARE DE FORMA ORDENADA, ESPECIALMENTE CUANDO EL PROYECTO NECESITA PRUEBAS, DOCUMENTACIÓN Y CONTROL DE CALIDAD.</a:t>
            </a:r>
          </a:p>
          <a:p>
            <a:pPr algn="ctr">
              <a:lnSpc>
                <a:spcPts val="2640"/>
              </a:lnSpc>
              <a:spcBef>
                <a:spcPct val="0"/>
              </a:spcBef>
            </a:pPr>
          </a:p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true" sz="2400" spc="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 MÁS IMPORTANTE DE ESTA METODOLOGÍA ES QUE CADA ETAPA DEL DESARROLLO TIENE UNA PRUEBA RELACIONADA, LO QUE AYUDA A DETECTAR ERRORES ANTES DE ENTREGAR EL SISTEMA FINAL.</a:t>
            </a:r>
          </a:p>
          <a:p>
            <a:pPr algn="ctr">
              <a:lnSpc>
                <a:spcPts val="2640"/>
              </a:lnSpc>
              <a:spcBef>
                <a:spcPct val="0"/>
              </a:spcBef>
            </a:pPr>
          </a:p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true" sz="2400" spc="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RECOMENDARÍA UTILIZAR EL MODELO EN V EN PROYECTOS DONDE LOS REQUISITOS ESTÉN BIEN DEFINIDOS, COMO SISTEMAS HOSPITALARIOS, BANCARIOS, ESCOLARES O GUBERNAMENTALES.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DAHLEuQLmG0</dc:identifier>
  <dcterms:modified xsi:type="dcterms:W3CDTF">2011-08-01T06:04:30Z</dcterms:modified>
  <cp:revision>1</cp:revision>
  <dc:title>Participación2_P3_PPV_SALOMON_PABLO</dc:title>
</cp:coreProperties>
</file>