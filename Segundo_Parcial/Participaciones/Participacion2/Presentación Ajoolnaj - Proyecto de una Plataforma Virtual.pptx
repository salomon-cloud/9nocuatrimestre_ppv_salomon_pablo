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lay"/>
      <p:regular r:id="rId18"/>
      <p:bold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123C21-20BC-430A-A5F3-4BBDBC45B317}">
  <a:tblStyle styleId="{71123C21-20BC-430A-A5F3-4BBDBC45B31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-bold.fntdata"/><Relationship Id="rId1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4a7876d6e_5_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4a7876d6e_5_1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Abrimos explicando que Ajoolnaj es un sistema realista para apoyar la operación de un albergue.</a:t>
            </a:r>
            <a:br>
              <a:rPr lang="en-US"/>
            </a:br>
            <a:r>
              <a:rPr lang="en-US"/>
              <a:t>La exposición no se centra solo en que el sistema funcione; se centra en cómo garantizamos calidad, mantenibilidad y escalabilidad desde el código.</a:t>
            </a:r>
            <a:endParaRPr/>
          </a:p>
        </p:txBody>
      </p:sp>
      <p:sp>
        <p:nvSpPr>
          <p:cNvPr id="84" name="Google Shape;84;g3f4a7876d6e_5_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a7876d6e_5_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4a7876d6e_5_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Cerramos recordando que el objetivo de calidad es que el sistema no solo funcione hoy, sino que pueda mantenerse mañana.</a:t>
            </a:r>
            <a:br>
              <a:rPr lang="en-US"/>
            </a:br>
            <a:r>
              <a:rPr lang="en-US"/>
              <a:t>Después de esta diapositiva abrimos preguntas.</a:t>
            </a:r>
            <a:endParaRPr/>
          </a:p>
        </p:txBody>
      </p:sp>
      <p:sp>
        <p:nvSpPr>
          <p:cNvPr id="330" name="Google Shape;330;g3f4a7876d6e_5_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0.png"/><Relationship Id="rId13" Type="http://schemas.openxmlformats.org/officeDocument/2006/relationships/image" Target="../media/image11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2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5.png"/><Relationship Id="rId11" Type="http://schemas.openxmlformats.org/officeDocument/2006/relationships/image" Target="../media/image16.png"/><Relationship Id="rId22" Type="http://schemas.openxmlformats.org/officeDocument/2006/relationships/image" Target="../media/image32.png"/><Relationship Id="rId10" Type="http://schemas.openxmlformats.org/officeDocument/2006/relationships/image" Target="../media/image9.png"/><Relationship Id="rId21" Type="http://schemas.openxmlformats.org/officeDocument/2006/relationships/image" Target="../media/image39.png"/><Relationship Id="rId13" Type="http://schemas.openxmlformats.org/officeDocument/2006/relationships/image" Target="../media/image17.png"/><Relationship Id="rId24" Type="http://schemas.openxmlformats.org/officeDocument/2006/relationships/image" Target="../media/image33.png"/><Relationship Id="rId12" Type="http://schemas.openxmlformats.org/officeDocument/2006/relationships/image" Target="../media/image21.png"/><Relationship Id="rId23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7.png"/><Relationship Id="rId15" Type="http://schemas.openxmlformats.org/officeDocument/2006/relationships/image" Target="../media/image18.png"/><Relationship Id="rId14" Type="http://schemas.openxmlformats.org/officeDocument/2006/relationships/image" Target="../media/image22.png"/><Relationship Id="rId17" Type="http://schemas.openxmlformats.org/officeDocument/2006/relationships/image" Target="../media/image20.png"/><Relationship Id="rId16" Type="http://schemas.openxmlformats.org/officeDocument/2006/relationships/image" Target="../media/image23.png"/><Relationship Id="rId5" Type="http://schemas.openxmlformats.org/officeDocument/2006/relationships/image" Target="../media/image24.png"/><Relationship Id="rId19" Type="http://schemas.openxmlformats.org/officeDocument/2006/relationships/image" Target="../media/image26.png"/><Relationship Id="rId6" Type="http://schemas.openxmlformats.org/officeDocument/2006/relationships/image" Target="../media/image15.png"/><Relationship Id="rId18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0.png"/><Relationship Id="rId10" Type="http://schemas.openxmlformats.org/officeDocument/2006/relationships/image" Target="../media/image35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9" Type="http://schemas.openxmlformats.org/officeDocument/2006/relationships/image" Target="../media/image42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30.png"/><Relationship Id="rId8" Type="http://schemas.openxmlformats.org/officeDocument/2006/relationships/image" Target="../media/image3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4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41.png"/><Relationship Id="rId5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1.png"/><Relationship Id="rId5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Relationship Id="rId6" Type="http://schemas.openxmlformats.org/officeDocument/2006/relationships/image" Target="../media/image44.png"/><Relationship Id="rId7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0" y="0"/>
            <a:ext cx="6355200" cy="6858000"/>
          </a:xfrm>
          <a:prstGeom prst="rect">
            <a:avLst/>
          </a:prstGeom>
          <a:solidFill>
            <a:srgbClr val="0F2238"/>
          </a:solidFill>
          <a:ln cap="flat" cmpd="sng" w="12700">
            <a:solidFill>
              <a:srgbClr val="0F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713232" y="713232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PROYECTO </a:t>
            </a:r>
            <a:r>
              <a:rPr b="1" lang="en-US" sz="850">
                <a:solidFill>
                  <a:srgbClr val="E76F51"/>
                </a:solidFill>
              </a:rPr>
              <a:t>DE UNA PLATAFORMA VIRTUAL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685800" y="1234440"/>
            <a:ext cx="5120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lay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Ajoolnaj</a:t>
            </a:r>
            <a:endParaRPr b="0" i="0" sz="4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713232" y="2011680"/>
            <a:ext cx="4983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29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7B29D"/>
                </a:solidFill>
                <a:latin typeface="Arial"/>
                <a:ea typeface="Arial"/>
                <a:cs typeface="Arial"/>
                <a:sym typeface="Arial"/>
              </a:rPr>
              <a:t>Sistema de Gestión Institucional para un Albergue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713232" y="288036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Aplicación de Clean Code, principios SOLID y Definition of Done en un sistema modular con Laravel.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713232" y="3977640"/>
            <a:ext cx="3337500" cy="310800"/>
          </a:xfrm>
          <a:prstGeom prst="roundRect">
            <a:avLst>
              <a:gd fmla="val 23529" name="adj"/>
            </a:avLst>
          </a:prstGeom>
          <a:solidFill>
            <a:srgbClr val="253E5D"/>
          </a:solidFill>
          <a:ln cap="flat" cmpd="sng" w="12700">
            <a:solidFill>
              <a:srgbClr val="253E5D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822960" y="4046220"/>
            <a:ext cx="311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Laravel · PostgreSQL · </a:t>
            </a:r>
            <a:r>
              <a:rPr b="1" lang="en-US" sz="850">
                <a:solidFill>
                  <a:srgbClr val="FFFFFF"/>
                </a:solidFill>
              </a:rPr>
              <a:t>CSS</a:t>
            </a: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· RBAC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713225" y="5090575"/>
            <a:ext cx="4572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Integrantes del equip</a:t>
            </a:r>
            <a:r>
              <a:rPr lang="en-US" sz="1100">
                <a:solidFill>
                  <a:srgbClr val="DCE6F2"/>
                </a:solidFill>
              </a:rPr>
              <a:t>o</a:t>
            </a:r>
            <a:r>
              <a:rPr b="0" i="0" lang="en-US" sz="110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 · Julio 2026</a:t>
            </a:r>
            <a:br>
              <a:rPr b="0" i="0" lang="en-US" sz="110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rgbClr val="DCE6F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Manuel David Castro Blanco</a:t>
            </a:r>
            <a:endParaRPr sz="1100">
              <a:solidFill>
                <a:srgbClr val="DCE6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Pablo Leonel Salomon Campos</a:t>
            </a:r>
            <a:endParaRPr sz="1100">
              <a:solidFill>
                <a:srgbClr val="DCE6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Gerardo Alexander Díaz León</a:t>
            </a:r>
            <a:endParaRPr sz="1100">
              <a:solidFill>
                <a:srgbClr val="DCE6F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DCE6F2"/>
                </a:solidFill>
              </a:rPr>
              <a:t>Bryant Maximiliano Dzul Perez</a:t>
            </a:r>
            <a:endParaRPr sz="1350">
              <a:solidFill>
                <a:srgbClr val="F4F4F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100">
              <a:solidFill>
                <a:srgbClr val="DCE6F2"/>
              </a:solidFill>
            </a:endParaRPr>
          </a:p>
        </p:txBody>
      </p:sp>
      <p:pic>
        <p:nvPicPr>
          <p:cNvPr id="94" name="Google Shape;94;p14" title="Captura de pantalla 2026-07-10 190421.png"/>
          <p:cNvPicPr preferRelativeResize="0"/>
          <p:nvPr/>
        </p:nvPicPr>
        <p:blipFill rotWithShape="1">
          <a:blip r:embed="rId3">
            <a:alphaModFix/>
          </a:blip>
          <a:srcRect b="0" l="10630" r="10630" t="0"/>
          <a:stretch/>
        </p:blipFill>
        <p:spPr>
          <a:xfrm>
            <a:off x="6492240" y="0"/>
            <a:ext cx="5696712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57650"/>
            <a:ext cx="11049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¿Qué es Ajoolnaj?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1371600"/>
            <a:ext cx="1081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Problema que resuelve: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albergue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gestiona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mano ingresos y egresos (papel, sin control de camas ni alertas de permanencia).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704850" y="2124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09625" y="212407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Objetivo general: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Digitalizar y centralizar toda la operación en una plataforma web segura y auditable.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04850" y="25717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9625" y="2571750"/>
            <a:ext cx="10810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Alcance funcional: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Admisión, expedientes, estancias, camas, permanencia (alertas 3→6 meses), seguimiento clínico y egresos.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04850" y="33242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09625" y="3324225"/>
            <a:ext cx="10810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acceso: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7 roles (Admin, Dirección, Encargado, Trabajo Social, Enfermería, Psicología, Cocina).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43434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 de Desarrollo: Backend Fases 1-7 Terminadas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09625" y="5257800"/>
            <a:ext cx="42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Fase 1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1238247" y="4871950"/>
            <a:ext cx="9926400" cy="573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437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9312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9625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500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953750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91687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67562" y="47339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9443850" y="5257800"/>
            <a:ext cx="189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nventario/Móvil (Pendiente Fase 8 y 9)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524825" y="5210150"/>
            <a:ext cx="119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Progreso Actual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371600"/>
            <a:ext cx="5334000" cy="453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10525" y="1581150"/>
            <a:ext cx="1885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6050" y="20669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81975" y="20669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67900" y="20669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96050" y="33242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81975" y="33242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867900" y="33242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96050" y="45815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181975" y="4581525"/>
            <a:ext cx="154305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67900" y="4581525"/>
            <a:ext cx="15430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Stack y arquitectura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09625" y="1371600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Laravel 12 · PHP 8.2 · PostgreSQL 12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704850" y="18192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09625" y="1819275"/>
            <a:ext cx="509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Blade + Alpine.js + CSS + Vite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704850" y="22669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09625" y="22669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Entorno: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Laravel Sail (Docker) · Auth con Laravel Breeze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704850" y="30194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30194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RBAC propio (roles y permisos en BD) integrado con Gates y Policies nativos de Laravel.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04850" y="37719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09625" y="37719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Modular por dominios. Cada módulo es independiente, logrando un bajo acoplamiento.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791450" y="165020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6596538" y="24050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Acceso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82463" y="24050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Expedientes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968388" y="24050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Estancias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596538" y="36623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Clínico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282463" y="36623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968388" y="36623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596538" y="49196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Bitácora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282463" y="49196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Catálogos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9968388" y="4919662"/>
            <a:ext cx="138017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endParaRPr/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53225" y="26717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86625" y="26717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39150" y="26717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972550" y="26717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139362" y="26717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672762" y="2671762"/>
            <a:ext cx="504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53225" y="39290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286625" y="39290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439150" y="39290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972550" y="39290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0139362" y="39290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0672762" y="3929062"/>
            <a:ext cx="504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753225" y="51863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286625" y="5186362"/>
            <a:ext cx="533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453437" y="51863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986837" y="5186362"/>
            <a:ext cx="5048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0125075" y="5186362"/>
            <a:ext cx="485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658475" y="5186362"/>
            <a:ext cx="533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7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3492400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1562100"/>
            <a:ext cx="3492549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1562100"/>
            <a:ext cx="3492400" cy="405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Nuestras reglas de Clean Code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457450"/>
            <a:ext cx="2901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866775" y="2838450"/>
            <a:ext cx="30469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Nombres descriptivos en lenguaje del dominio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866775" y="3438525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código debe leerse como el negocio del albergue.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866775" y="3990975"/>
            <a:ext cx="290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Ambigüedad y traducción mental.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866775" y="4314825"/>
            <a:ext cx="29018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RegistrarIngresoService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PersonaUsuaria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2457450"/>
            <a:ext cx="290199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4644925" y="2838450"/>
            <a:ext cx="30470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Lógica en Servicios, no en Controladores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644925" y="343852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Controladores delgados, reglas testeables.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4644925" y="3990975"/>
            <a:ext cx="2901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"Controladores Dios" y código duplicado.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4644925" y="4543425"/>
            <a:ext cx="29019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servicio orquesta crear estancia y asignar cama; el controlador solo delega.</a:t>
            </a:r>
            <a:endParaRPr/>
          </a:p>
        </p:txBody>
      </p:sp>
      <p:pic>
        <p:nvPicPr>
          <p:cNvPr descr="image.png" id="201" name="Google Shape;20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2457450"/>
            <a:ext cx="29018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8423225" y="2838450"/>
            <a:ext cx="304694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Cero "Magic Numbers": constantes con nombre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8423225" y="3438525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valor de negocio se define en un solo lugar.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8423225" y="3990975"/>
            <a:ext cx="2901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Valores inconsistentes esparcidos.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8423225" y="4543425"/>
            <a:ext cx="29018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Estancia::MESES_PERIODO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06" name="Google Shape;20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193357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4925" y="1933575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3225" y="1933575"/>
            <a:ext cx="29527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Nuestras reglas de Clean Code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571500" y="1371600"/>
            <a:ext cx="476059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REGLA 4 — Validación y autorización fuera del controlador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571500" y="1905000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Separar "qué datos son válidos y quién puede" de "qué hace la acción".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571500" y="2657475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Reglas de negocio dispersas y fallas de seguridad.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571500" y="3409950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StoreDiagnosticoRequest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define rules() y authorize().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571500" y="4257675"/>
            <a:ext cx="476059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REGLA 5 — Comentarios del "por qué" y tipos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571500" y="4572000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 qué: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código dice el "qué"; el comentario aporta intención.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571500" y="5324475"/>
            <a:ext cx="4533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Comentarios obvios que se vuelven mentiras al actualizar el código.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571500" y="6076950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726650" y="6124575"/>
            <a:ext cx="4295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Extra: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Funciones cortas de responsabilidad única.</a:t>
            </a:r>
            <a:endParaRPr/>
          </a:p>
        </p:txBody>
      </p:sp>
      <p:pic>
        <p:nvPicPr>
          <p:cNvPr id="225" name="Google Shape;22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401" y="1790775"/>
            <a:ext cx="5849100" cy="4333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70300"/>
            <a:ext cx="5334000" cy="23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SRP — Principio de Responsabilidad Única</a:t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09625" y="137160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 qué consiste: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Cada clase debe tener una sola razón para cambiar (una sola responsabilidad).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704850" y="21240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09625" y="212407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Dónde lo aplicamos: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los Servicios de dominio. Cada servicio hace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sola cosa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704850" y="28765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09625" y="28765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 evita: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Clases enormes que hacen de todo y se rompen al tocarlas.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704850" y="3629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09625" y="3629025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Beneficio: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Podemos cambiar cómo se genera el folio sin tocar la asignación de camas, facilitando las pruebas unitarias.</a:t>
            </a:r>
            <a:endParaRPr/>
          </a:p>
        </p:txBody>
      </p:sp>
      <p:pic>
        <p:nvPicPr>
          <p:cNvPr id="242" name="Google Shape;242;p19" title="Diagrama de flujo-2026-07-11-0043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1425" y="2633650"/>
            <a:ext cx="5044142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0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5219700"/>
            <a:ext cx="8791574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DIP — Inversión de Dependencias</a:t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704850" y="13716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809625" y="137160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 qué consiste: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Las clases dependen de abstracciones o se les inyectan sus dependencias, no las instancian directamente.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04850" y="2428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809625" y="2428875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Dónde lo aplicamos: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Los servicios reciben sus colaboradores por el constructor gracias al contenedor de dependencias de Laravel.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704850" y="34861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809625" y="34861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Qué evita: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Acoplamiento rígido (evita usar new AsignacionCamaService() dentro de otro servicio).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704850" y="4238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09625" y="42386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Beneficio: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Permite inyectar </a:t>
            </a: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mocks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fácilmente durante las pruebas automáticas.</a:t>
            </a:r>
            <a:endParaRPr/>
          </a:p>
        </p:txBody>
      </p:sp>
      <p:pic>
        <p:nvPicPr>
          <p:cNvPr id="259" name="Google Shape;259;p20" title="Diagrama de flujo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7288" y="5295900"/>
            <a:ext cx="866986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Nuestra Definition of Done</a:t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571500" y="1371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funcionalidad está "terminada" únicamente cuando: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1114425" y="191452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Cumple los requisitos funcionales.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6781800" y="191452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Sigue nuestras 5 reglas de Clean Code.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1114425" y="233169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La lógica de negocio está en un Service.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781800" y="233169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Tiene validación (FormRequest o Policy).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114425" y="274885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Pasa pruebas automáticas sin errores.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781800" y="274885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Fue probada manualmente en flujo real.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114425" y="316602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7. No presenta errores/warnings conocidos.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6781800" y="3166020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8. Pull Request revisado y aprobado por otro.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1114425" y="358318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9. Migraciones aplican limpio y seguras.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781800" y="3583185"/>
            <a:ext cx="4838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10. Documentación y README actualizados.</a:t>
            </a:r>
            <a:endParaRPr/>
          </a:p>
        </p:txBody>
      </p:sp>
      <p:pic>
        <p:nvPicPr>
          <p:cNvPr descr="image.png" id="278" name="Google Shape;2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205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94205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592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35922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63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77638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9355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319355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1071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3610719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2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81550"/>
            <a:ext cx="11049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Deuda técnica: riesgos y prevención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6" name="Google Shape;296;p22"/>
          <p:cNvGraphicFramePr/>
          <p:nvPr/>
        </p:nvGraphicFramePr>
        <p:xfrm>
          <a:off x="571500" y="1466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{71123C21-20BC-430A-A5F3-4BBDBC45B317}</a:tableStyleId>
              </a:tblPr>
              <a:tblGrid>
                <a:gridCol w="4419600"/>
                <a:gridCol w="6629400"/>
              </a:tblGrid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Riesgo Identificado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Estrategia de Mitigación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Cobertura de pruebas limitada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(SQLite difiere de PostgreSQL en migraciones).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Verificar contra BD PostgreSQL real y añadir pruebas estrictas a la lógica crítica de negocio.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Fases 8 y 9 sin implementar.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Planificarlas formalmente; prohibido "parchear" los módulos actuales para forzar su funcionamiento.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en controlador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(por presión de tiempo).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Respetar tajantemente el patrón </a:t>
                      </a:r>
                      <a:r>
                        <a:rPr b="0" i="1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Service + FormRequest</a:t>
                      </a: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(DoD).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Copiar-pegar entre módulos.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Reutilizar servicios y mantener el aislamiento de la arquitectura por dominios.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5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22"/>
          <p:cNvSpPr txBox="1"/>
          <p:nvPr/>
        </p:nvSpPr>
        <p:spPr>
          <a:xfrm>
            <a:off x="800100" y="4924425"/>
            <a:ext cx="10629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Estrategia global: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Las fechas ajustadas causan baja calidad. Lo prevenimos con el DoD, PR obligatorios y registrando la deuda conscientemente en vez de ocultarla.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3"/>
          <p:cNvPicPr preferRelativeResize="0"/>
          <p:nvPr/>
        </p:nvPicPr>
        <p:blipFill rotWithShape="1">
          <a:blip r:embed="rId3">
            <a:alphaModFix/>
          </a:blip>
          <a:srcRect b="0" l="3911" r="0" t="0"/>
          <a:stretch/>
        </p:blipFill>
        <p:spPr>
          <a:xfrm>
            <a:off x="26125" y="53375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71600"/>
            <a:ext cx="533400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71600"/>
            <a:ext cx="5334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5F"/>
                </a:solidFill>
                <a:latin typeface="Inter"/>
                <a:ea typeface="Inter"/>
                <a:cs typeface="Inter"/>
                <a:sym typeface="Inter"/>
              </a:rPr>
              <a:t>Nuestro MVP: el ciclo de valor</a:t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 txBox="1"/>
          <p:nvPr/>
        </p:nvSpPr>
        <p:spPr>
          <a:xfrm>
            <a:off x="571500" y="5214044"/>
            <a:ext cx="11049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3A5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Justificación: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MVP cubre el ciclo vital de una persona (Ingreso → Estancia →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Evaluaciones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→ Egreso), aportando el valor central al albergue de inmediato.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828675" y="1628775"/>
            <a:ext cx="506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MVP (</a:t>
            </a:r>
            <a:r>
              <a:rPr b="1" lang="en-US" sz="1404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Actualmente</a:t>
            </a:r>
            <a:r>
              <a:rPr b="1" i="0" lang="en-US" sz="1404" u="none" cap="none" strike="noStrike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828675" y="1943100"/>
            <a:ext cx="4819650" cy="9525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 txBox="1"/>
          <p:nvPr/>
        </p:nvSpPr>
        <p:spPr>
          <a:xfrm>
            <a:off x="6543675" y="1628775"/>
            <a:ext cx="506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404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Futuras iteraciones</a:t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6543675" y="1943100"/>
            <a:ext cx="481965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2" name="Google Shape;31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675" y="1647825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962025" y="2095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066800" y="2095500"/>
            <a:ext cx="45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Login y control de acceso por rol.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962025" y="2543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1066800" y="2543175"/>
            <a:ext cx="45815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Alta de expediente y persona usuaria.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962025" y="2990850"/>
            <a:ext cx="10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947058" y="3027738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1051833" y="3027738"/>
            <a:ext cx="45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Seguimiento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evaluaciones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básico.</a:t>
            </a:r>
            <a:endParaRPr/>
          </a:p>
        </p:txBody>
      </p:sp>
      <p:sp>
        <p:nvSpPr>
          <p:cNvPr id="320" name="Google Shape;320;p23"/>
          <p:cNvSpPr txBox="1"/>
          <p:nvPr/>
        </p:nvSpPr>
        <p:spPr>
          <a:xfrm>
            <a:off x="962025" y="3459192"/>
            <a:ext cx="104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3"/>
          <p:cNvSpPr txBox="1"/>
          <p:nvPr/>
        </p:nvSpPr>
        <p:spPr>
          <a:xfrm>
            <a:off x="1066800" y="3459192"/>
            <a:ext cx="458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Egreso de la persona usuaria.</a:t>
            </a:r>
            <a:endParaRPr/>
          </a:p>
        </p:txBody>
      </p:sp>
      <p:pic>
        <p:nvPicPr>
          <p:cNvPr descr="image.png" id="322" name="Google Shape;32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3675" y="1647825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3"/>
          <p:cNvSpPr txBox="1"/>
          <p:nvPr/>
        </p:nvSpPr>
        <p:spPr>
          <a:xfrm>
            <a:off x="6677025" y="2095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781800" y="2095500"/>
            <a:ext cx="4581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inventarios y operación interna (Fase 8).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677025" y="28479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6781800" y="2847975"/>
            <a:ext cx="45815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Vista móvil de solo lectura para monitoreo (Fase 9).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238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high_detail_abstract_3d_diagram_ui_concept_art.png" id="332" name="Google Shape;332;p24"/>
          <p:cNvPicPr preferRelativeResize="0"/>
          <p:nvPr/>
        </p:nvPicPr>
        <p:blipFill rotWithShape="1">
          <a:blip r:embed="rId3">
            <a:alphaModFix/>
          </a:blip>
          <a:srcRect b="4995" l="5001" r="21669" t="5004"/>
          <a:stretch/>
        </p:blipFill>
        <p:spPr>
          <a:xfrm>
            <a:off x="7132320" y="594360"/>
            <a:ext cx="4434842" cy="306324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4"/>
          <p:cNvSpPr/>
          <p:nvPr/>
        </p:nvSpPr>
        <p:spPr>
          <a:xfrm>
            <a:off x="777240" y="822960"/>
            <a:ext cx="4206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76F51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777240" y="1234440"/>
            <a:ext cx="4846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868680" y="2322576"/>
            <a:ext cx="82200" cy="8220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1051560" y="2240280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Ajoolnaj resuelve un flujo institucional real del albergue.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868680" y="2816352"/>
            <a:ext cx="82200" cy="8220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1051560" y="2734056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La arquitectura por dominios reduce acoplamiento y facilita mantenimiento.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868680" y="3310128"/>
            <a:ext cx="82200" cy="8220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1051560" y="3227832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Clean Code, SOLID y DoD funcionan como reglas de entrega, no como teoría aislada.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868680" y="3803904"/>
            <a:ext cx="82200" cy="8220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1051560" y="3721608"/>
            <a:ext cx="5440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El MVP entrega valor inmediato y deja una ruta clara para inventario y móvil.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777240" y="544068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083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777240" y="60807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2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CE6F2"/>
                </a:solidFill>
                <a:latin typeface="Arial"/>
                <a:ea typeface="Arial"/>
                <a:cs typeface="Arial"/>
                <a:sym typeface="Arial"/>
              </a:rPr>
              <a:t>Equipo Ajoolnaj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