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Open Sauce Bold" charset="1" panose="00000800000000000000"/>
      <p:regular r:id="rId24"/>
    </p:embeddedFont>
    <p:embeddedFont>
      <p:font typeface="Open Sauce" charset="1" panose="00000500000000000000"/>
      <p:regular r:id="rId25"/>
    </p:embeddedFont>
    <p:embeddedFont>
      <p:font typeface="Canva Sans Bold" charset="1" panose="020B0803030501040103"/>
      <p:regular r:id="rId26"/>
    </p:embeddedFont>
    <p:embeddedFont>
      <p:font typeface="Canva Sans" charset="1" panose="020B0503030501040103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github.com/David-0302/Proyecto_9NO_Ajo-olnaj-/tree/Max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12" Target="../media/image23.png" Type="http://schemas.openxmlformats.org/officeDocument/2006/relationships/image"/><Relationship Id="rId13" Target="../media/image24.svg" Type="http://schemas.openxmlformats.org/officeDocument/2006/relationships/image"/><Relationship Id="rId14" Target="../media/image25.png" Type="http://schemas.openxmlformats.org/officeDocument/2006/relationships/image"/><Relationship Id="rId15" Target="../media/image26.png" Type="http://schemas.openxmlformats.org/officeDocument/2006/relationships/image"/><Relationship Id="rId16" Target="../media/image27.png" Type="http://schemas.openxmlformats.org/officeDocument/2006/relationships/image"/><Relationship Id="rId17" Target="../media/image28.png" Type="http://schemas.openxmlformats.org/officeDocument/2006/relationships/image"/><Relationship Id="rId18" Target="../media/image29.png" Type="http://schemas.openxmlformats.org/officeDocument/2006/relationships/image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png" Type="http://schemas.openxmlformats.org/officeDocument/2006/relationships/image"/><Relationship Id="rId2" Target="../media/image30.png" Type="http://schemas.openxmlformats.org/officeDocument/2006/relationships/image"/><Relationship Id="rId3" Target="../media/image31.pn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Relationship Id="rId6" Target="../media/image34.png" Type="http://schemas.openxmlformats.org/officeDocument/2006/relationships/image"/><Relationship Id="rId7" Target="../media/image35.png" Type="http://schemas.openxmlformats.org/officeDocument/2006/relationships/image"/><Relationship Id="rId8" Target="../media/image36.pn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9.png" Type="http://schemas.openxmlformats.org/officeDocument/2006/relationships/image"/><Relationship Id="rId4" Target="../media/image40.png" Type="http://schemas.openxmlformats.org/officeDocument/2006/relationships/image"/><Relationship Id="rId5" Target="../media/image41.png" Type="http://schemas.openxmlformats.org/officeDocument/2006/relationships/image"/><Relationship Id="rId6" Target="../media/image42.png" Type="http://schemas.openxmlformats.org/officeDocument/2006/relationships/image"/><Relationship Id="rId7" Target="../media/image4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png" Type="http://schemas.openxmlformats.org/officeDocument/2006/relationships/image"/><Relationship Id="rId11" Target="../media/image52.png" Type="http://schemas.openxmlformats.org/officeDocument/2006/relationships/image"/><Relationship Id="rId12" Target="../media/image53.png" Type="http://schemas.openxmlformats.org/officeDocument/2006/relationships/image"/><Relationship Id="rId2" Target="../media/image30.png" Type="http://schemas.openxmlformats.org/officeDocument/2006/relationships/image"/><Relationship Id="rId3" Target="../media/image44.png" Type="http://schemas.openxmlformats.org/officeDocument/2006/relationships/image"/><Relationship Id="rId4" Target="../media/image45.svg" Type="http://schemas.openxmlformats.org/officeDocument/2006/relationships/image"/><Relationship Id="rId5" Target="../media/image46.png" Type="http://schemas.openxmlformats.org/officeDocument/2006/relationships/image"/><Relationship Id="rId6" Target="../media/image47.png" Type="http://schemas.openxmlformats.org/officeDocument/2006/relationships/image"/><Relationship Id="rId7" Target="../media/image48.png" Type="http://schemas.openxmlformats.org/officeDocument/2006/relationships/image"/><Relationship Id="rId8" Target="../media/image49.png" Type="http://schemas.openxmlformats.org/officeDocument/2006/relationships/image"/><Relationship Id="rId9" Target="../media/image5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1.png" Type="http://schemas.openxmlformats.org/officeDocument/2006/relationships/image"/><Relationship Id="rId2" Target="../media/image30.png" Type="http://schemas.openxmlformats.org/officeDocument/2006/relationships/image"/><Relationship Id="rId3" Target="../media/image54.png" Type="http://schemas.openxmlformats.org/officeDocument/2006/relationships/image"/><Relationship Id="rId4" Target="../media/image55.svg" Type="http://schemas.openxmlformats.org/officeDocument/2006/relationships/image"/><Relationship Id="rId5" Target="../media/image56.png" Type="http://schemas.openxmlformats.org/officeDocument/2006/relationships/image"/><Relationship Id="rId6" Target="../media/image57.png" Type="http://schemas.openxmlformats.org/officeDocument/2006/relationships/image"/><Relationship Id="rId7" Target="../media/image58.png" Type="http://schemas.openxmlformats.org/officeDocument/2006/relationships/image"/><Relationship Id="rId8" Target="../media/image59.png" Type="http://schemas.openxmlformats.org/officeDocument/2006/relationships/image"/><Relationship Id="rId9" Target="../media/image6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2.png" Type="http://schemas.openxmlformats.org/officeDocument/2006/relationships/image"/><Relationship Id="rId3" Target="../media/image63.png" Type="http://schemas.openxmlformats.org/officeDocument/2006/relationships/image"/><Relationship Id="rId4" Target="../media/image64.png" Type="http://schemas.openxmlformats.org/officeDocument/2006/relationships/image"/><Relationship Id="rId5" Target="../media/image65.png" Type="http://schemas.openxmlformats.org/officeDocument/2006/relationships/image"/><Relationship Id="rId6" Target="../media/image66.png" Type="http://schemas.openxmlformats.org/officeDocument/2006/relationships/image"/><Relationship Id="rId7" Target="../media/image6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5.png" Type="http://schemas.openxmlformats.org/officeDocument/2006/relationships/image"/><Relationship Id="rId2" Target="../media/image68.png" Type="http://schemas.openxmlformats.org/officeDocument/2006/relationships/image"/><Relationship Id="rId3" Target="../media/image30.png" Type="http://schemas.openxmlformats.org/officeDocument/2006/relationships/image"/><Relationship Id="rId4" Target="../media/image69.png" Type="http://schemas.openxmlformats.org/officeDocument/2006/relationships/image"/><Relationship Id="rId5" Target="../media/image70.png" Type="http://schemas.openxmlformats.org/officeDocument/2006/relationships/image"/><Relationship Id="rId6" Target="../media/image71.png" Type="http://schemas.openxmlformats.org/officeDocument/2006/relationships/image"/><Relationship Id="rId7" Target="../media/image72.png" Type="http://schemas.openxmlformats.org/officeDocument/2006/relationships/image"/><Relationship Id="rId8" Target="../media/image73.png" Type="http://schemas.openxmlformats.org/officeDocument/2006/relationships/image"/><Relationship Id="rId9" Target="../media/image7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76.png" Type="http://schemas.openxmlformats.org/officeDocument/2006/relationships/image"/><Relationship Id="rId4" Target="../media/image77.png" Type="http://schemas.openxmlformats.org/officeDocument/2006/relationships/image"/><Relationship Id="rId5" Target="../media/image78.png" Type="http://schemas.openxmlformats.org/officeDocument/2006/relationships/image"/><Relationship Id="rId6" Target="../media/image7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80.png" Type="http://schemas.openxmlformats.org/officeDocument/2006/relationships/image"/><Relationship Id="rId4" Target="../media/image81.png" Type="http://schemas.openxmlformats.org/officeDocument/2006/relationships/image"/><Relationship Id="rId5" Target="../media/image82.png" Type="http://schemas.openxmlformats.org/officeDocument/2006/relationships/image"/><Relationship Id="rId6" Target="../media/image83.png" Type="http://schemas.openxmlformats.org/officeDocument/2006/relationships/image"/><Relationship Id="rId7" Target="../media/image8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85.png" Type="http://schemas.openxmlformats.org/officeDocument/2006/relationships/image"/><Relationship Id="rId4" Target="../media/image86.png" Type="http://schemas.openxmlformats.org/officeDocument/2006/relationships/image"/><Relationship Id="rId5" Target="../media/image87.png" Type="http://schemas.openxmlformats.org/officeDocument/2006/relationships/image"/><Relationship Id="rId6" Target="../media/image88.png" Type="http://schemas.openxmlformats.org/officeDocument/2006/relationships/image"/><Relationship Id="rId7" Target="../media/image89.png" Type="http://schemas.openxmlformats.org/officeDocument/2006/relationships/image"/><Relationship Id="rId8" Target="../media/image90.png" Type="http://schemas.openxmlformats.org/officeDocument/2006/relationships/image"/><Relationship Id="rId9" Target="../media/image9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46.png" Type="http://schemas.openxmlformats.org/officeDocument/2006/relationships/image"/><Relationship Id="rId4" Target="../media/image92.png" Type="http://schemas.openxmlformats.org/officeDocument/2006/relationships/image"/><Relationship Id="rId5" Target="../media/image93.png" Type="http://schemas.openxmlformats.org/officeDocument/2006/relationships/image"/><Relationship Id="rId6" Target="../media/image94.png" Type="http://schemas.openxmlformats.org/officeDocument/2006/relationships/image"/><Relationship Id="rId7" Target="../media/image95.png" Type="http://schemas.openxmlformats.org/officeDocument/2006/relationships/image"/><Relationship Id="rId8" Target="../media/image96.png" Type="http://schemas.openxmlformats.org/officeDocument/2006/relationships/image"/><Relationship Id="rId9" Target="../media/image9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46.png" Type="http://schemas.openxmlformats.org/officeDocument/2006/relationships/image"/><Relationship Id="rId4" Target="../media/image98.png" Type="http://schemas.openxmlformats.org/officeDocument/2006/relationships/image"/><Relationship Id="rId5" Target="../media/image99.png" Type="http://schemas.openxmlformats.org/officeDocument/2006/relationships/image"/><Relationship Id="rId6" Target="../media/image100.png" Type="http://schemas.openxmlformats.org/officeDocument/2006/relationships/image"/><Relationship Id="rId7" Target="../media/image101.png" Type="http://schemas.openxmlformats.org/officeDocument/2006/relationships/image"/><Relationship Id="rId8" Target="../media/image102.png" Type="http://schemas.openxmlformats.org/officeDocument/2006/relationships/image"/><Relationship Id="rId9" Target="../media/image10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04.png" Type="http://schemas.openxmlformats.org/officeDocument/2006/relationships/image"/><Relationship Id="rId4" Target="../media/image105.png" Type="http://schemas.openxmlformats.org/officeDocument/2006/relationships/image"/><Relationship Id="rId5" Target="../media/image106.png" Type="http://schemas.openxmlformats.org/officeDocument/2006/relationships/image"/><Relationship Id="rId6" Target="../media/image10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08.png" Type="http://schemas.openxmlformats.org/officeDocument/2006/relationships/image"/><Relationship Id="rId4" Target="../media/image109.png" Type="http://schemas.openxmlformats.org/officeDocument/2006/relationships/image"/><Relationship Id="rId5" Target="../media/image110.png" Type="http://schemas.openxmlformats.org/officeDocument/2006/relationships/image"/><Relationship Id="rId6" Target="../media/image111.png" Type="http://schemas.openxmlformats.org/officeDocument/2006/relationships/image"/><Relationship Id="rId7" Target="../media/image11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0.png" Type="http://schemas.openxmlformats.org/officeDocument/2006/relationships/image"/><Relationship Id="rId2" Target="../media/image30.png" Type="http://schemas.openxmlformats.org/officeDocument/2006/relationships/image"/><Relationship Id="rId3" Target="../media/image113.png" Type="http://schemas.openxmlformats.org/officeDocument/2006/relationships/image"/><Relationship Id="rId4" Target="../media/image114.png" Type="http://schemas.openxmlformats.org/officeDocument/2006/relationships/image"/><Relationship Id="rId5" Target="../media/image115.png" Type="http://schemas.openxmlformats.org/officeDocument/2006/relationships/image"/><Relationship Id="rId6" Target="../media/image116.png" Type="http://schemas.openxmlformats.org/officeDocument/2006/relationships/image"/><Relationship Id="rId7" Target="../media/image117.png" Type="http://schemas.openxmlformats.org/officeDocument/2006/relationships/image"/><Relationship Id="rId8" Target="../media/image118.png" Type="http://schemas.openxmlformats.org/officeDocument/2006/relationships/image"/><Relationship Id="rId9" Target="../media/image11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121.png" Type="http://schemas.openxmlformats.org/officeDocument/2006/relationships/image"/><Relationship Id="rId4" Target="../media/image122.png" Type="http://schemas.openxmlformats.org/officeDocument/2006/relationships/image"/><Relationship Id="rId5" Target="../media/image123.png" Type="http://schemas.openxmlformats.org/officeDocument/2006/relationships/image"/><Relationship Id="rId6" Target="../media/image12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273"/>
            <a:ext cx="18280403" cy="10282727"/>
          </a:xfrm>
          <a:custGeom>
            <a:avLst/>
            <a:gdLst/>
            <a:ahLst/>
            <a:cxnLst/>
            <a:rect r="r" b="b" t="t" l="l"/>
            <a:pathLst>
              <a:path h="10282727" w="18280403">
                <a:moveTo>
                  <a:pt x="0" y="0"/>
                </a:moveTo>
                <a:lnTo>
                  <a:pt x="18280403" y="0"/>
                </a:lnTo>
                <a:lnTo>
                  <a:pt x="18280403" y="10282727"/>
                </a:lnTo>
                <a:lnTo>
                  <a:pt x="0" y="10282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37038" y="1047750"/>
            <a:ext cx="8806327" cy="2813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419"/>
              </a:lnSpc>
            </a:pPr>
            <a:r>
              <a:rPr lang="en-US" b="true" sz="6396">
                <a:solidFill>
                  <a:srgbClr val="14057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Simulación de una reunión de </a:t>
            </a:r>
            <a:r>
              <a:rPr lang="en-US" b="true" sz="6396">
                <a:solidFill>
                  <a:srgbClr val="14057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 Planning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369130" y="4317109"/>
            <a:ext cx="3244940" cy="828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91"/>
              </a:lnSpc>
            </a:pPr>
            <a:r>
              <a:rPr lang="en-US" b="true" sz="5596" u="sng">
                <a:solidFill>
                  <a:srgbClr val="140574"/>
                </a:solidFill>
                <a:latin typeface="Open Sauce Bold"/>
                <a:ea typeface="Open Sauce Bold"/>
                <a:cs typeface="Open Sauce Bold"/>
                <a:sym typeface="Open Sauce Bold"/>
                <a:hlinkClick r:id="rId3" tooltip="https://github.com/David-0302/Proyecto_9NO_Ajo-olnaj-/tree/Max"/>
              </a:rPr>
              <a:t>Ajo-olnaj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82730" y="5676930"/>
            <a:ext cx="5965870" cy="503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39"/>
              </a:lnSpc>
            </a:pPr>
            <a:r>
              <a:rPr lang="en-US" sz="3396">
                <a:solidFill>
                  <a:srgbClr val="140574"/>
                </a:solidFill>
                <a:latin typeface="Open Sauce"/>
                <a:ea typeface="Open Sauce"/>
                <a:cs typeface="Open Sauce"/>
                <a:sym typeface="Open Sauce"/>
              </a:rPr>
              <a:t>Manuel David Castro Blanco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82730" y="6392731"/>
            <a:ext cx="6168695" cy="503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39"/>
              </a:lnSpc>
            </a:pPr>
            <a:r>
              <a:rPr lang="en-US" sz="3396">
                <a:solidFill>
                  <a:srgbClr val="140574"/>
                </a:solidFill>
                <a:latin typeface="Open Sauce"/>
                <a:ea typeface="Open Sauce"/>
                <a:cs typeface="Open Sauce"/>
                <a:sym typeface="Open Sauce"/>
              </a:rPr>
              <a:t>Bryan Maximiliano Dzul Perez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82730" y="7105309"/>
            <a:ext cx="6641952" cy="503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39"/>
              </a:lnSpc>
            </a:pPr>
            <a:r>
              <a:rPr lang="en-US" sz="3396">
                <a:solidFill>
                  <a:srgbClr val="140574"/>
                </a:solidFill>
                <a:latin typeface="Open Sauce"/>
                <a:ea typeface="Open Sauce"/>
                <a:cs typeface="Open Sauce"/>
                <a:sym typeface="Open Sauce"/>
              </a:rPr>
              <a:t>Pablo Leonel Salomon Campos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82730" y="7817886"/>
            <a:ext cx="6641952" cy="503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39"/>
              </a:lnSpc>
            </a:pPr>
            <a:r>
              <a:rPr lang="en-US" sz="3396">
                <a:solidFill>
                  <a:srgbClr val="140574"/>
                </a:solidFill>
                <a:latin typeface="Open Sauce"/>
                <a:ea typeface="Open Sauce"/>
                <a:cs typeface="Open Sauce"/>
                <a:sym typeface="Open Sauce"/>
              </a:rPr>
              <a:t>Gerardo Alexander Díaz León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273"/>
            <a:ext cx="18280403" cy="10282727"/>
          </a:xfrm>
          <a:custGeom>
            <a:avLst/>
            <a:gdLst/>
            <a:ahLst/>
            <a:cxnLst/>
            <a:rect r="r" b="b" t="t" l="l"/>
            <a:pathLst>
              <a:path h="10282727" w="18280403">
                <a:moveTo>
                  <a:pt x="0" y="0"/>
                </a:moveTo>
                <a:lnTo>
                  <a:pt x="18280403" y="0"/>
                </a:lnTo>
                <a:lnTo>
                  <a:pt x="18280403" y="10282727"/>
                </a:lnTo>
                <a:lnTo>
                  <a:pt x="0" y="10282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458828" y="3768444"/>
            <a:ext cx="5280830" cy="5247825"/>
          </a:xfrm>
          <a:custGeom>
            <a:avLst/>
            <a:gdLst/>
            <a:ahLst/>
            <a:cxnLst/>
            <a:rect r="r" b="b" t="t" l="l"/>
            <a:pathLst>
              <a:path h="5247825" w="5280830">
                <a:moveTo>
                  <a:pt x="0" y="0"/>
                </a:moveTo>
                <a:lnTo>
                  <a:pt x="5280830" y="0"/>
                </a:lnTo>
                <a:lnTo>
                  <a:pt x="5280830" y="5247825"/>
                </a:lnTo>
                <a:lnTo>
                  <a:pt x="0" y="5247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581414" y="8350642"/>
            <a:ext cx="8853697" cy="269324"/>
            <a:chOff x="0" y="0"/>
            <a:chExt cx="2487343" cy="7566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87344" cy="75663"/>
            </a:xfrm>
            <a:custGeom>
              <a:avLst/>
              <a:gdLst/>
              <a:ahLst/>
              <a:cxnLst/>
              <a:rect r="r" b="b" t="t" l="l"/>
              <a:pathLst>
                <a:path h="75663" w="2487344">
                  <a:moveTo>
                    <a:pt x="37832" y="0"/>
                  </a:moveTo>
                  <a:lnTo>
                    <a:pt x="2449512" y="0"/>
                  </a:lnTo>
                  <a:cubicBezTo>
                    <a:pt x="2470406" y="0"/>
                    <a:pt x="2487344" y="16938"/>
                    <a:pt x="2487344" y="37832"/>
                  </a:cubicBezTo>
                  <a:lnTo>
                    <a:pt x="2487344" y="37832"/>
                  </a:lnTo>
                  <a:cubicBezTo>
                    <a:pt x="2487344" y="47865"/>
                    <a:pt x="2483358" y="57488"/>
                    <a:pt x="2476263" y="64583"/>
                  </a:cubicBezTo>
                  <a:cubicBezTo>
                    <a:pt x="2469168" y="71678"/>
                    <a:pt x="2459545" y="75663"/>
                    <a:pt x="2449512" y="75663"/>
                  </a:cubicBezTo>
                  <a:lnTo>
                    <a:pt x="37832" y="75663"/>
                  </a:lnTo>
                  <a:cubicBezTo>
                    <a:pt x="16938" y="75663"/>
                    <a:pt x="0" y="58726"/>
                    <a:pt x="0" y="37832"/>
                  </a:cubicBezTo>
                  <a:lnTo>
                    <a:pt x="0" y="37832"/>
                  </a:lnTo>
                  <a:cubicBezTo>
                    <a:pt x="0" y="16938"/>
                    <a:pt x="16938" y="0"/>
                    <a:pt x="37832" y="0"/>
                  </a:cubicBezTo>
                  <a:close/>
                </a:path>
              </a:pathLst>
            </a:custGeom>
            <a:solidFill>
              <a:srgbClr val="6BB3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487343" cy="104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4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314237" y="8350642"/>
            <a:ext cx="5565296" cy="269324"/>
            <a:chOff x="0" y="0"/>
            <a:chExt cx="1563505" cy="7566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63505" cy="75663"/>
            </a:xfrm>
            <a:custGeom>
              <a:avLst/>
              <a:gdLst/>
              <a:ahLst/>
              <a:cxnLst/>
              <a:rect r="r" b="b" t="t" l="l"/>
              <a:pathLst>
                <a:path h="75663" w="1563505">
                  <a:moveTo>
                    <a:pt x="37832" y="0"/>
                  </a:moveTo>
                  <a:lnTo>
                    <a:pt x="1525674" y="0"/>
                  </a:lnTo>
                  <a:cubicBezTo>
                    <a:pt x="1535707" y="0"/>
                    <a:pt x="1545330" y="3986"/>
                    <a:pt x="1552425" y="11081"/>
                  </a:cubicBezTo>
                  <a:cubicBezTo>
                    <a:pt x="1559520" y="18175"/>
                    <a:pt x="1563505" y="27798"/>
                    <a:pt x="1563505" y="37832"/>
                  </a:cubicBezTo>
                  <a:lnTo>
                    <a:pt x="1563505" y="37832"/>
                  </a:lnTo>
                  <a:cubicBezTo>
                    <a:pt x="1563505" y="58726"/>
                    <a:pt x="1546568" y="75663"/>
                    <a:pt x="1525674" y="75663"/>
                  </a:cubicBezTo>
                  <a:lnTo>
                    <a:pt x="37832" y="75663"/>
                  </a:lnTo>
                  <a:cubicBezTo>
                    <a:pt x="16938" y="75663"/>
                    <a:pt x="0" y="58726"/>
                    <a:pt x="0" y="37832"/>
                  </a:cubicBezTo>
                  <a:lnTo>
                    <a:pt x="0" y="37832"/>
                  </a:lnTo>
                  <a:cubicBezTo>
                    <a:pt x="0" y="16938"/>
                    <a:pt x="16938" y="0"/>
                    <a:pt x="37832" y="0"/>
                  </a:cubicBezTo>
                  <a:close/>
                </a:path>
              </a:pathLst>
            </a:custGeom>
            <a:solidFill>
              <a:srgbClr val="6BB3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563505" cy="104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4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5400000">
            <a:off x="2018173" y="8032028"/>
            <a:ext cx="975872" cy="971081"/>
          </a:xfrm>
          <a:custGeom>
            <a:avLst/>
            <a:gdLst/>
            <a:ahLst/>
            <a:cxnLst/>
            <a:rect r="r" b="b" t="t" l="l"/>
            <a:pathLst>
              <a:path h="971081" w="975872">
                <a:moveTo>
                  <a:pt x="0" y="0"/>
                </a:moveTo>
                <a:lnTo>
                  <a:pt x="975873" y="0"/>
                </a:lnTo>
                <a:lnTo>
                  <a:pt x="975873" y="971081"/>
                </a:lnTo>
                <a:lnTo>
                  <a:pt x="0" y="9710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2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1" id="11"/>
          <p:cNvGrpSpPr/>
          <p:nvPr/>
        </p:nvGrpSpPr>
        <p:grpSpPr>
          <a:xfrm rot="0">
            <a:off x="2022896" y="7889149"/>
            <a:ext cx="972756" cy="1131934"/>
            <a:chOff x="0" y="0"/>
            <a:chExt cx="6985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18449"/>
              <a:ext cx="698500" cy="775902"/>
            </a:xfrm>
            <a:custGeom>
              <a:avLst/>
              <a:gdLst/>
              <a:ahLst/>
              <a:cxnLst/>
              <a:rect r="r" b="b" t="t" l="l"/>
              <a:pathLst>
                <a:path h="775902" w="698500">
                  <a:moveTo>
                    <a:pt x="408368" y="15947"/>
                  </a:moveTo>
                  <a:lnTo>
                    <a:pt x="639382" y="150355"/>
                  </a:lnTo>
                  <a:cubicBezTo>
                    <a:pt x="675983" y="171650"/>
                    <a:pt x="698500" y="210801"/>
                    <a:pt x="698500" y="253146"/>
                  </a:cubicBezTo>
                  <a:lnTo>
                    <a:pt x="698500" y="522756"/>
                  </a:lnTo>
                  <a:cubicBezTo>
                    <a:pt x="698500" y="565101"/>
                    <a:pt x="675983" y="604252"/>
                    <a:pt x="639382" y="625547"/>
                  </a:cubicBezTo>
                  <a:lnTo>
                    <a:pt x="408368" y="759955"/>
                  </a:lnTo>
                  <a:cubicBezTo>
                    <a:pt x="371823" y="781217"/>
                    <a:pt x="326677" y="781217"/>
                    <a:pt x="290132" y="759955"/>
                  </a:cubicBezTo>
                  <a:lnTo>
                    <a:pt x="59118" y="625547"/>
                  </a:lnTo>
                  <a:cubicBezTo>
                    <a:pt x="22517" y="604252"/>
                    <a:pt x="0" y="565101"/>
                    <a:pt x="0" y="522756"/>
                  </a:cubicBezTo>
                  <a:lnTo>
                    <a:pt x="0" y="253146"/>
                  </a:lnTo>
                  <a:cubicBezTo>
                    <a:pt x="0" y="210801"/>
                    <a:pt x="22517" y="171650"/>
                    <a:pt x="59118" y="150355"/>
                  </a:cubicBezTo>
                  <a:lnTo>
                    <a:pt x="290132" y="15947"/>
                  </a:lnTo>
                  <a:cubicBezTo>
                    <a:pt x="326677" y="-5315"/>
                    <a:pt x="371823" y="-5315"/>
                    <a:pt x="408368" y="15947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88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135937" y="8020687"/>
            <a:ext cx="746675" cy="868858"/>
            <a:chOff x="0" y="0"/>
            <a:chExt cx="6985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12018"/>
              <a:ext cx="698500" cy="788765"/>
            </a:xfrm>
            <a:custGeom>
              <a:avLst/>
              <a:gdLst/>
              <a:ahLst/>
              <a:cxnLst/>
              <a:rect r="r" b="b" t="t" l="l"/>
              <a:pathLst>
                <a:path h="788765" w="698500">
                  <a:moveTo>
                    <a:pt x="387759" y="10387"/>
                  </a:moveTo>
                  <a:lnTo>
                    <a:pt x="659991" y="168777"/>
                  </a:lnTo>
                  <a:cubicBezTo>
                    <a:pt x="683833" y="182648"/>
                    <a:pt x="698500" y="208151"/>
                    <a:pt x="698500" y="235734"/>
                  </a:cubicBezTo>
                  <a:lnTo>
                    <a:pt x="698500" y="553030"/>
                  </a:lnTo>
                  <a:cubicBezTo>
                    <a:pt x="698500" y="580613"/>
                    <a:pt x="683833" y="606116"/>
                    <a:pt x="659991" y="619987"/>
                  </a:cubicBezTo>
                  <a:lnTo>
                    <a:pt x="387759" y="778377"/>
                  </a:lnTo>
                  <a:cubicBezTo>
                    <a:pt x="363954" y="792227"/>
                    <a:pt x="334546" y="792227"/>
                    <a:pt x="310741" y="778377"/>
                  </a:cubicBezTo>
                  <a:lnTo>
                    <a:pt x="38509" y="619987"/>
                  </a:lnTo>
                  <a:cubicBezTo>
                    <a:pt x="14667" y="606116"/>
                    <a:pt x="0" y="580613"/>
                    <a:pt x="0" y="553030"/>
                  </a:cubicBezTo>
                  <a:lnTo>
                    <a:pt x="0" y="235734"/>
                  </a:lnTo>
                  <a:cubicBezTo>
                    <a:pt x="0" y="208151"/>
                    <a:pt x="14667" y="182648"/>
                    <a:pt x="38509" y="168777"/>
                  </a:cubicBezTo>
                  <a:lnTo>
                    <a:pt x="310741" y="10387"/>
                  </a:lnTo>
                  <a:cubicBezTo>
                    <a:pt x="334546" y="-3463"/>
                    <a:pt x="363954" y="-3463"/>
                    <a:pt x="387759" y="10387"/>
                  </a:cubicBezTo>
                  <a:close/>
                </a:path>
              </a:pathLst>
            </a:custGeom>
            <a:solidFill>
              <a:srgbClr val="AB87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88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5400000">
            <a:off x="5865524" y="8026674"/>
            <a:ext cx="1297887" cy="996237"/>
          </a:xfrm>
          <a:custGeom>
            <a:avLst/>
            <a:gdLst/>
            <a:ahLst/>
            <a:cxnLst/>
            <a:rect r="r" b="b" t="t" l="l"/>
            <a:pathLst>
              <a:path h="996237" w="1297887">
                <a:moveTo>
                  <a:pt x="0" y="0"/>
                </a:moveTo>
                <a:lnTo>
                  <a:pt x="1297887" y="0"/>
                </a:lnTo>
                <a:lnTo>
                  <a:pt x="1297887" y="996238"/>
                </a:lnTo>
                <a:lnTo>
                  <a:pt x="0" y="9962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2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8" id="18"/>
          <p:cNvGrpSpPr/>
          <p:nvPr/>
        </p:nvGrpSpPr>
        <p:grpSpPr>
          <a:xfrm rot="0">
            <a:off x="6004346" y="7889149"/>
            <a:ext cx="972756" cy="1131934"/>
            <a:chOff x="0" y="0"/>
            <a:chExt cx="6985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18449"/>
              <a:ext cx="698500" cy="775902"/>
            </a:xfrm>
            <a:custGeom>
              <a:avLst/>
              <a:gdLst/>
              <a:ahLst/>
              <a:cxnLst/>
              <a:rect r="r" b="b" t="t" l="l"/>
              <a:pathLst>
                <a:path h="775902" w="698500">
                  <a:moveTo>
                    <a:pt x="408368" y="15947"/>
                  </a:moveTo>
                  <a:lnTo>
                    <a:pt x="639382" y="150355"/>
                  </a:lnTo>
                  <a:cubicBezTo>
                    <a:pt x="675983" y="171650"/>
                    <a:pt x="698500" y="210801"/>
                    <a:pt x="698500" y="253146"/>
                  </a:cubicBezTo>
                  <a:lnTo>
                    <a:pt x="698500" y="522756"/>
                  </a:lnTo>
                  <a:cubicBezTo>
                    <a:pt x="698500" y="565101"/>
                    <a:pt x="675983" y="604252"/>
                    <a:pt x="639382" y="625547"/>
                  </a:cubicBezTo>
                  <a:lnTo>
                    <a:pt x="408368" y="759955"/>
                  </a:lnTo>
                  <a:cubicBezTo>
                    <a:pt x="371823" y="781217"/>
                    <a:pt x="326677" y="781217"/>
                    <a:pt x="290132" y="759955"/>
                  </a:cubicBezTo>
                  <a:lnTo>
                    <a:pt x="59118" y="625547"/>
                  </a:lnTo>
                  <a:cubicBezTo>
                    <a:pt x="22517" y="604252"/>
                    <a:pt x="0" y="565101"/>
                    <a:pt x="0" y="522756"/>
                  </a:cubicBezTo>
                  <a:lnTo>
                    <a:pt x="0" y="253146"/>
                  </a:lnTo>
                  <a:cubicBezTo>
                    <a:pt x="0" y="210801"/>
                    <a:pt x="22517" y="171650"/>
                    <a:pt x="59118" y="150355"/>
                  </a:cubicBezTo>
                  <a:lnTo>
                    <a:pt x="290132" y="15947"/>
                  </a:lnTo>
                  <a:cubicBezTo>
                    <a:pt x="326677" y="-5315"/>
                    <a:pt x="371823" y="-5315"/>
                    <a:pt x="408368" y="15947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88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117387" y="8020687"/>
            <a:ext cx="746675" cy="868858"/>
            <a:chOff x="0" y="0"/>
            <a:chExt cx="6985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12018"/>
              <a:ext cx="698500" cy="788765"/>
            </a:xfrm>
            <a:custGeom>
              <a:avLst/>
              <a:gdLst/>
              <a:ahLst/>
              <a:cxnLst/>
              <a:rect r="r" b="b" t="t" l="l"/>
              <a:pathLst>
                <a:path h="788765" w="698500">
                  <a:moveTo>
                    <a:pt x="387759" y="10387"/>
                  </a:moveTo>
                  <a:lnTo>
                    <a:pt x="659991" y="168777"/>
                  </a:lnTo>
                  <a:cubicBezTo>
                    <a:pt x="683833" y="182648"/>
                    <a:pt x="698500" y="208151"/>
                    <a:pt x="698500" y="235734"/>
                  </a:cubicBezTo>
                  <a:lnTo>
                    <a:pt x="698500" y="553030"/>
                  </a:lnTo>
                  <a:cubicBezTo>
                    <a:pt x="698500" y="580613"/>
                    <a:pt x="683833" y="606116"/>
                    <a:pt x="659991" y="619987"/>
                  </a:cubicBezTo>
                  <a:lnTo>
                    <a:pt x="387759" y="778377"/>
                  </a:lnTo>
                  <a:cubicBezTo>
                    <a:pt x="363954" y="792227"/>
                    <a:pt x="334546" y="792227"/>
                    <a:pt x="310741" y="778377"/>
                  </a:cubicBezTo>
                  <a:lnTo>
                    <a:pt x="38509" y="619987"/>
                  </a:lnTo>
                  <a:cubicBezTo>
                    <a:pt x="14667" y="606116"/>
                    <a:pt x="0" y="580613"/>
                    <a:pt x="0" y="553030"/>
                  </a:cubicBezTo>
                  <a:lnTo>
                    <a:pt x="0" y="235734"/>
                  </a:lnTo>
                  <a:cubicBezTo>
                    <a:pt x="0" y="208151"/>
                    <a:pt x="14667" y="182648"/>
                    <a:pt x="38509" y="168777"/>
                  </a:cubicBezTo>
                  <a:lnTo>
                    <a:pt x="310741" y="10387"/>
                  </a:lnTo>
                  <a:cubicBezTo>
                    <a:pt x="334546" y="-3463"/>
                    <a:pt x="363954" y="-3463"/>
                    <a:pt x="387759" y="10387"/>
                  </a:cubicBezTo>
                  <a:close/>
                </a:path>
              </a:pathLst>
            </a:custGeom>
            <a:solidFill>
              <a:srgbClr val="F27EDD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88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5400000">
            <a:off x="14664662" y="8054887"/>
            <a:ext cx="1702866" cy="1052045"/>
          </a:xfrm>
          <a:custGeom>
            <a:avLst/>
            <a:gdLst/>
            <a:ahLst/>
            <a:cxnLst/>
            <a:rect r="r" b="b" t="t" l="l"/>
            <a:pathLst>
              <a:path h="1052045" w="1702866">
                <a:moveTo>
                  <a:pt x="0" y="0"/>
                </a:moveTo>
                <a:lnTo>
                  <a:pt x="1702866" y="0"/>
                </a:lnTo>
                <a:lnTo>
                  <a:pt x="1702866" y="1052044"/>
                </a:lnTo>
                <a:lnTo>
                  <a:pt x="0" y="10520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2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5" id="25"/>
          <p:cNvGrpSpPr/>
          <p:nvPr/>
        </p:nvGrpSpPr>
        <p:grpSpPr>
          <a:xfrm rot="0">
            <a:off x="14987686" y="7889149"/>
            <a:ext cx="972756" cy="1131934"/>
            <a:chOff x="0" y="0"/>
            <a:chExt cx="6985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18449"/>
              <a:ext cx="698500" cy="775902"/>
            </a:xfrm>
            <a:custGeom>
              <a:avLst/>
              <a:gdLst/>
              <a:ahLst/>
              <a:cxnLst/>
              <a:rect r="r" b="b" t="t" l="l"/>
              <a:pathLst>
                <a:path h="775902" w="698500">
                  <a:moveTo>
                    <a:pt x="408368" y="15947"/>
                  </a:moveTo>
                  <a:lnTo>
                    <a:pt x="639382" y="150355"/>
                  </a:lnTo>
                  <a:cubicBezTo>
                    <a:pt x="675983" y="171650"/>
                    <a:pt x="698500" y="210801"/>
                    <a:pt x="698500" y="253146"/>
                  </a:cubicBezTo>
                  <a:lnTo>
                    <a:pt x="698500" y="522756"/>
                  </a:lnTo>
                  <a:cubicBezTo>
                    <a:pt x="698500" y="565101"/>
                    <a:pt x="675983" y="604252"/>
                    <a:pt x="639382" y="625547"/>
                  </a:cubicBezTo>
                  <a:lnTo>
                    <a:pt x="408368" y="759955"/>
                  </a:lnTo>
                  <a:cubicBezTo>
                    <a:pt x="371823" y="781217"/>
                    <a:pt x="326677" y="781217"/>
                    <a:pt x="290132" y="759955"/>
                  </a:cubicBezTo>
                  <a:lnTo>
                    <a:pt x="59118" y="625547"/>
                  </a:lnTo>
                  <a:cubicBezTo>
                    <a:pt x="22517" y="604252"/>
                    <a:pt x="0" y="565101"/>
                    <a:pt x="0" y="522756"/>
                  </a:cubicBezTo>
                  <a:lnTo>
                    <a:pt x="0" y="253146"/>
                  </a:lnTo>
                  <a:cubicBezTo>
                    <a:pt x="0" y="210801"/>
                    <a:pt x="22517" y="171650"/>
                    <a:pt x="59118" y="150355"/>
                  </a:cubicBezTo>
                  <a:lnTo>
                    <a:pt x="290132" y="15947"/>
                  </a:lnTo>
                  <a:cubicBezTo>
                    <a:pt x="326677" y="-5315"/>
                    <a:pt x="371823" y="-5315"/>
                    <a:pt x="408368" y="15947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88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5100727" y="8020687"/>
            <a:ext cx="746675" cy="868858"/>
            <a:chOff x="0" y="0"/>
            <a:chExt cx="6985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12018"/>
              <a:ext cx="698500" cy="788765"/>
            </a:xfrm>
            <a:custGeom>
              <a:avLst/>
              <a:gdLst/>
              <a:ahLst/>
              <a:cxnLst/>
              <a:rect r="r" b="b" t="t" l="l"/>
              <a:pathLst>
                <a:path h="788765" w="698500">
                  <a:moveTo>
                    <a:pt x="387759" y="10387"/>
                  </a:moveTo>
                  <a:lnTo>
                    <a:pt x="659991" y="168777"/>
                  </a:lnTo>
                  <a:cubicBezTo>
                    <a:pt x="683833" y="182648"/>
                    <a:pt x="698500" y="208151"/>
                    <a:pt x="698500" y="235734"/>
                  </a:cubicBezTo>
                  <a:lnTo>
                    <a:pt x="698500" y="553030"/>
                  </a:lnTo>
                  <a:cubicBezTo>
                    <a:pt x="698500" y="580613"/>
                    <a:pt x="683833" y="606116"/>
                    <a:pt x="659991" y="619987"/>
                  </a:cubicBezTo>
                  <a:lnTo>
                    <a:pt x="387759" y="778377"/>
                  </a:lnTo>
                  <a:cubicBezTo>
                    <a:pt x="363954" y="792227"/>
                    <a:pt x="334546" y="792227"/>
                    <a:pt x="310741" y="778377"/>
                  </a:cubicBezTo>
                  <a:lnTo>
                    <a:pt x="38509" y="619987"/>
                  </a:lnTo>
                  <a:cubicBezTo>
                    <a:pt x="14667" y="606116"/>
                    <a:pt x="0" y="580613"/>
                    <a:pt x="0" y="553030"/>
                  </a:cubicBezTo>
                  <a:lnTo>
                    <a:pt x="0" y="235734"/>
                  </a:lnTo>
                  <a:cubicBezTo>
                    <a:pt x="0" y="208151"/>
                    <a:pt x="14667" y="182648"/>
                    <a:pt x="38509" y="168777"/>
                  </a:cubicBezTo>
                  <a:lnTo>
                    <a:pt x="310741" y="10387"/>
                  </a:lnTo>
                  <a:cubicBezTo>
                    <a:pt x="334546" y="-3463"/>
                    <a:pt x="363954" y="-3463"/>
                    <a:pt x="387759" y="10387"/>
                  </a:cubicBezTo>
                  <a:close/>
                </a:path>
              </a:pathLst>
            </a:custGeom>
            <a:solidFill>
              <a:srgbClr val="FFD500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88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5400000">
            <a:off x="12463334" y="4818084"/>
            <a:ext cx="1318603" cy="1454884"/>
          </a:xfrm>
          <a:custGeom>
            <a:avLst/>
            <a:gdLst/>
            <a:ahLst/>
            <a:cxnLst/>
            <a:rect r="r" b="b" t="t" l="l"/>
            <a:pathLst>
              <a:path h="1454884" w="1318603">
                <a:moveTo>
                  <a:pt x="0" y="0"/>
                </a:moveTo>
                <a:lnTo>
                  <a:pt x="1318603" y="0"/>
                </a:lnTo>
                <a:lnTo>
                  <a:pt x="1318603" y="1454884"/>
                </a:lnTo>
                <a:lnTo>
                  <a:pt x="0" y="14548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2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2" id="32"/>
          <p:cNvGrpSpPr/>
          <p:nvPr/>
        </p:nvGrpSpPr>
        <p:grpSpPr>
          <a:xfrm rot="0">
            <a:off x="12722307" y="4976572"/>
            <a:ext cx="972756" cy="1131934"/>
            <a:chOff x="0" y="0"/>
            <a:chExt cx="6985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18449"/>
              <a:ext cx="698500" cy="775902"/>
            </a:xfrm>
            <a:custGeom>
              <a:avLst/>
              <a:gdLst/>
              <a:ahLst/>
              <a:cxnLst/>
              <a:rect r="r" b="b" t="t" l="l"/>
              <a:pathLst>
                <a:path h="775902" w="698500">
                  <a:moveTo>
                    <a:pt x="408368" y="15947"/>
                  </a:moveTo>
                  <a:lnTo>
                    <a:pt x="639382" y="150355"/>
                  </a:lnTo>
                  <a:cubicBezTo>
                    <a:pt x="675983" y="171650"/>
                    <a:pt x="698500" y="210801"/>
                    <a:pt x="698500" y="253146"/>
                  </a:cubicBezTo>
                  <a:lnTo>
                    <a:pt x="698500" y="522756"/>
                  </a:lnTo>
                  <a:cubicBezTo>
                    <a:pt x="698500" y="565101"/>
                    <a:pt x="675983" y="604252"/>
                    <a:pt x="639382" y="625547"/>
                  </a:cubicBezTo>
                  <a:lnTo>
                    <a:pt x="408368" y="759955"/>
                  </a:lnTo>
                  <a:cubicBezTo>
                    <a:pt x="371823" y="781217"/>
                    <a:pt x="326677" y="781217"/>
                    <a:pt x="290132" y="759955"/>
                  </a:cubicBezTo>
                  <a:lnTo>
                    <a:pt x="59118" y="625547"/>
                  </a:lnTo>
                  <a:cubicBezTo>
                    <a:pt x="22517" y="604252"/>
                    <a:pt x="0" y="565101"/>
                    <a:pt x="0" y="522756"/>
                  </a:cubicBezTo>
                  <a:lnTo>
                    <a:pt x="0" y="253146"/>
                  </a:lnTo>
                  <a:cubicBezTo>
                    <a:pt x="0" y="210801"/>
                    <a:pt x="22517" y="171650"/>
                    <a:pt x="59118" y="150355"/>
                  </a:cubicBezTo>
                  <a:lnTo>
                    <a:pt x="290132" y="15947"/>
                  </a:lnTo>
                  <a:cubicBezTo>
                    <a:pt x="326677" y="-5315"/>
                    <a:pt x="371823" y="-5315"/>
                    <a:pt x="408368" y="15947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88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835347" y="5108110"/>
            <a:ext cx="746675" cy="868858"/>
            <a:chOff x="0" y="0"/>
            <a:chExt cx="6985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12018"/>
              <a:ext cx="698500" cy="788765"/>
            </a:xfrm>
            <a:custGeom>
              <a:avLst/>
              <a:gdLst/>
              <a:ahLst/>
              <a:cxnLst/>
              <a:rect r="r" b="b" t="t" l="l"/>
              <a:pathLst>
                <a:path h="788765" w="698500">
                  <a:moveTo>
                    <a:pt x="387759" y="10387"/>
                  </a:moveTo>
                  <a:lnTo>
                    <a:pt x="659991" y="168777"/>
                  </a:lnTo>
                  <a:cubicBezTo>
                    <a:pt x="683833" y="182648"/>
                    <a:pt x="698500" y="208151"/>
                    <a:pt x="698500" y="235734"/>
                  </a:cubicBezTo>
                  <a:lnTo>
                    <a:pt x="698500" y="553030"/>
                  </a:lnTo>
                  <a:cubicBezTo>
                    <a:pt x="698500" y="580613"/>
                    <a:pt x="683833" y="606116"/>
                    <a:pt x="659991" y="619987"/>
                  </a:cubicBezTo>
                  <a:lnTo>
                    <a:pt x="387759" y="778377"/>
                  </a:lnTo>
                  <a:cubicBezTo>
                    <a:pt x="363954" y="792227"/>
                    <a:pt x="334546" y="792227"/>
                    <a:pt x="310741" y="778377"/>
                  </a:cubicBezTo>
                  <a:lnTo>
                    <a:pt x="38509" y="619987"/>
                  </a:lnTo>
                  <a:cubicBezTo>
                    <a:pt x="14667" y="606116"/>
                    <a:pt x="0" y="580613"/>
                    <a:pt x="0" y="553030"/>
                  </a:cubicBezTo>
                  <a:lnTo>
                    <a:pt x="0" y="235734"/>
                  </a:lnTo>
                  <a:cubicBezTo>
                    <a:pt x="0" y="208151"/>
                    <a:pt x="14667" y="182648"/>
                    <a:pt x="38509" y="168777"/>
                  </a:cubicBezTo>
                  <a:lnTo>
                    <a:pt x="310741" y="10387"/>
                  </a:lnTo>
                  <a:cubicBezTo>
                    <a:pt x="334546" y="-3463"/>
                    <a:pt x="363954" y="-3463"/>
                    <a:pt x="387759" y="10387"/>
                  </a:cubicBezTo>
                  <a:close/>
                </a:path>
              </a:pathLst>
            </a:custGeom>
            <a:solidFill>
              <a:srgbClr val="FF94A0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88"/>
                </a:lnSpc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5400000">
            <a:off x="8234046" y="5081457"/>
            <a:ext cx="1052187" cy="1048590"/>
          </a:xfrm>
          <a:custGeom>
            <a:avLst/>
            <a:gdLst/>
            <a:ahLst/>
            <a:cxnLst/>
            <a:rect r="r" b="b" t="t" l="l"/>
            <a:pathLst>
              <a:path h="1048590" w="1052187">
                <a:moveTo>
                  <a:pt x="0" y="0"/>
                </a:moveTo>
                <a:lnTo>
                  <a:pt x="1052188" y="0"/>
                </a:lnTo>
                <a:lnTo>
                  <a:pt x="1052188" y="1048590"/>
                </a:lnTo>
                <a:lnTo>
                  <a:pt x="0" y="10485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2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9" id="39"/>
          <p:cNvGrpSpPr/>
          <p:nvPr/>
        </p:nvGrpSpPr>
        <p:grpSpPr>
          <a:xfrm rot="0">
            <a:off x="8272282" y="4976572"/>
            <a:ext cx="972756" cy="1131934"/>
            <a:chOff x="0" y="0"/>
            <a:chExt cx="6985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18449"/>
              <a:ext cx="698500" cy="775902"/>
            </a:xfrm>
            <a:custGeom>
              <a:avLst/>
              <a:gdLst/>
              <a:ahLst/>
              <a:cxnLst/>
              <a:rect r="r" b="b" t="t" l="l"/>
              <a:pathLst>
                <a:path h="775902" w="698500">
                  <a:moveTo>
                    <a:pt x="408368" y="15947"/>
                  </a:moveTo>
                  <a:lnTo>
                    <a:pt x="639382" y="150355"/>
                  </a:lnTo>
                  <a:cubicBezTo>
                    <a:pt x="675983" y="171650"/>
                    <a:pt x="698500" y="210801"/>
                    <a:pt x="698500" y="253146"/>
                  </a:cubicBezTo>
                  <a:lnTo>
                    <a:pt x="698500" y="522756"/>
                  </a:lnTo>
                  <a:cubicBezTo>
                    <a:pt x="698500" y="565101"/>
                    <a:pt x="675983" y="604252"/>
                    <a:pt x="639382" y="625547"/>
                  </a:cubicBezTo>
                  <a:lnTo>
                    <a:pt x="408368" y="759955"/>
                  </a:lnTo>
                  <a:cubicBezTo>
                    <a:pt x="371823" y="781217"/>
                    <a:pt x="326677" y="781217"/>
                    <a:pt x="290132" y="759955"/>
                  </a:cubicBezTo>
                  <a:lnTo>
                    <a:pt x="59118" y="625547"/>
                  </a:lnTo>
                  <a:cubicBezTo>
                    <a:pt x="22517" y="604252"/>
                    <a:pt x="0" y="565101"/>
                    <a:pt x="0" y="522756"/>
                  </a:cubicBezTo>
                  <a:lnTo>
                    <a:pt x="0" y="253146"/>
                  </a:lnTo>
                  <a:cubicBezTo>
                    <a:pt x="0" y="210801"/>
                    <a:pt x="22517" y="171650"/>
                    <a:pt x="59118" y="150355"/>
                  </a:cubicBezTo>
                  <a:lnTo>
                    <a:pt x="290132" y="15947"/>
                  </a:lnTo>
                  <a:cubicBezTo>
                    <a:pt x="326677" y="-5315"/>
                    <a:pt x="371823" y="-5315"/>
                    <a:pt x="408368" y="15947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88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8385323" y="5108110"/>
            <a:ext cx="746675" cy="868858"/>
            <a:chOff x="0" y="0"/>
            <a:chExt cx="698500" cy="812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12018"/>
              <a:ext cx="698500" cy="788765"/>
            </a:xfrm>
            <a:custGeom>
              <a:avLst/>
              <a:gdLst/>
              <a:ahLst/>
              <a:cxnLst/>
              <a:rect r="r" b="b" t="t" l="l"/>
              <a:pathLst>
                <a:path h="788765" w="698500">
                  <a:moveTo>
                    <a:pt x="387759" y="10387"/>
                  </a:moveTo>
                  <a:lnTo>
                    <a:pt x="659991" y="168777"/>
                  </a:lnTo>
                  <a:cubicBezTo>
                    <a:pt x="683833" y="182648"/>
                    <a:pt x="698500" y="208151"/>
                    <a:pt x="698500" y="235734"/>
                  </a:cubicBezTo>
                  <a:lnTo>
                    <a:pt x="698500" y="553030"/>
                  </a:lnTo>
                  <a:cubicBezTo>
                    <a:pt x="698500" y="580613"/>
                    <a:pt x="683833" y="606116"/>
                    <a:pt x="659991" y="619987"/>
                  </a:cubicBezTo>
                  <a:lnTo>
                    <a:pt x="387759" y="778377"/>
                  </a:lnTo>
                  <a:cubicBezTo>
                    <a:pt x="363954" y="792227"/>
                    <a:pt x="334546" y="792227"/>
                    <a:pt x="310741" y="778377"/>
                  </a:cubicBezTo>
                  <a:lnTo>
                    <a:pt x="38509" y="619987"/>
                  </a:lnTo>
                  <a:cubicBezTo>
                    <a:pt x="14667" y="606116"/>
                    <a:pt x="0" y="580613"/>
                    <a:pt x="0" y="553030"/>
                  </a:cubicBezTo>
                  <a:lnTo>
                    <a:pt x="0" y="235734"/>
                  </a:lnTo>
                  <a:cubicBezTo>
                    <a:pt x="0" y="208151"/>
                    <a:pt x="14667" y="182648"/>
                    <a:pt x="38509" y="168777"/>
                  </a:cubicBezTo>
                  <a:lnTo>
                    <a:pt x="310741" y="10387"/>
                  </a:lnTo>
                  <a:cubicBezTo>
                    <a:pt x="334546" y="-3463"/>
                    <a:pt x="363954" y="-3463"/>
                    <a:pt x="387759" y="10387"/>
                  </a:cubicBezTo>
                  <a:close/>
                </a:path>
              </a:pathLst>
            </a:custGeom>
            <a:solidFill>
              <a:srgbClr val="FFB376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88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4018564" y="7746828"/>
            <a:ext cx="934436" cy="1476953"/>
            <a:chOff x="0" y="0"/>
            <a:chExt cx="1245915" cy="1969271"/>
          </a:xfrm>
        </p:grpSpPr>
        <p:grpSp>
          <p:nvGrpSpPr>
            <p:cNvPr name="Group 46" id="46"/>
            <p:cNvGrpSpPr/>
            <p:nvPr/>
          </p:nvGrpSpPr>
          <p:grpSpPr>
            <a:xfrm rot="2700000">
              <a:off x="-41282" y="427997"/>
              <a:ext cx="1359301" cy="359099"/>
              <a:chOff x="0" y="0"/>
              <a:chExt cx="286410" cy="75663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286410" cy="75663"/>
              </a:xfrm>
              <a:custGeom>
                <a:avLst/>
                <a:gdLst/>
                <a:ahLst/>
                <a:cxnLst/>
                <a:rect r="r" b="b" t="t" l="l"/>
                <a:pathLst>
                  <a:path h="75663" w="286410">
                    <a:moveTo>
                      <a:pt x="37832" y="0"/>
                    </a:moveTo>
                    <a:lnTo>
                      <a:pt x="248578" y="0"/>
                    </a:lnTo>
                    <a:cubicBezTo>
                      <a:pt x="269472" y="0"/>
                      <a:pt x="286410" y="16938"/>
                      <a:pt x="286410" y="37832"/>
                    </a:cubicBezTo>
                    <a:lnTo>
                      <a:pt x="286410" y="37832"/>
                    </a:lnTo>
                    <a:cubicBezTo>
                      <a:pt x="286410" y="47865"/>
                      <a:pt x="282424" y="57488"/>
                      <a:pt x="275329" y="64583"/>
                    </a:cubicBezTo>
                    <a:cubicBezTo>
                      <a:pt x="268234" y="71678"/>
                      <a:pt x="258612" y="75663"/>
                      <a:pt x="248578" y="75663"/>
                    </a:cubicBezTo>
                    <a:lnTo>
                      <a:pt x="37832" y="75663"/>
                    </a:lnTo>
                    <a:cubicBezTo>
                      <a:pt x="16938" y="75663"/>
                      <a:pt x="0" y="58726"/>
                      <a:pt x="0" y="37832"/>
                    </a:cubicBezTo>
                    <a:lnTo>
                      <a:pt x="0" y="37832"/>
                    </a:lnTo>
                    <a:cubicBezTo>
                      <a:pt x="0" y="16938"/>
                      <a:pt x="16938" y="0"/>
                      <a:pt x="37832" y="0"/>
                    </a:cubicBezTo>
                    <a:close/>
                  </a:path>
                </a:pathLst>
              </a:custGeom>
              <a:solidFill>
                <a:srgbClr val="6BB3FF"/>
              </a:solid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28575"/>
                <a:ext cx="286410" cy="1042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240"/>
                  </a:lnSpc>
                </a:pPr>
              </a:p>
            </p:txBody>
          </p:sp>
        </p:grpSp>
        <p:grpSp>
          <p:nvGrpSpPr>
            <p:cNvPr name="Group 49" id="49"/>
            <p:cNvGrpSpPr/>
            <p:nvPr/>
          </p:nvGrpSpPr>
          <p:grpSpPr>
            <a:xfrm rot="-2700000">
              <a:off x="-78488" y="1166764"/>
              <a:ext cx="1402891" cy="359099"/>
              <a:chOff x="0" y="0"/>
              <a:chExt cx="295594" cy="75663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295594" cy="75663"/>
              </a:xfrm>
              <a:custGeom>
                <a:avLst/>
                <a:gdLst/>
                <a:ahLst/>
                <a:cxnLst/>
                <a:rect r="r" b="b" t="t" l="l"/>
                <a:pathLst>
                  <a:path h="75663" w="295594">
                    <a:moveTo>
                      <a:pt x="37832" y="0"/>
                    </a:moveTo>
                    <a:lnTo>
                      <a:pt x="257763" y="0"/>
                    </a:lnTo>
                    <a:cubicBezTo>
                      <a:pt x="267796" y="0"/>
                      <a:pt x="277419" y="3986"/>
                      <a:pt x="284514" y="11081"/>
                    </a:cubicBezTo>
                    <a:cubicBezTo>
                      <a:pt x="291609" y="18175"/>
                      <a:pt x="295594" y="27798"/>
                      <a:pt x="295594" y="37832"/>
                    </a:cubicBezTo>
                    <a:lnTo>
                      <a:pt x="295594" y="37832"/>
                    </a:lnTo>
                    <a:cubicBezTo>
                      <a:pt x="295594" y="58726"/>
                      <a:pt x="278657" y="75663"/>
                      <a:pt x="257763" y="75663"/>
                    </a:cubicBezTo>
                    <a:lnTo>
                      <a:pt x="37832" y="75663"/>
                    </a:lnTo>
                    <a:cubicBezTo>
                      <a:pt x="16938" y="75663"/>
                      <a:pt x="0" y="58726"/>
                      <a:pt x="0" y="37832"/>
                    </a:cubicBezTo>
                    <a:lnTo>
                      <a:pt x="0" y="37832"/>
                    </a:lnTo>
                    <a:cubicBezTo>
                      <a:pt x="0" y="16938"/>
                      <a:pt x="16938" y="0"/>
                      <a:pt x="37832" y="0"/>
                    </a:cubicBezTo>
                    <a:close/>
                  </a:path>
                </a:pathLst>
              </a:custGeom>
              <a:solidFill>
                <a:srgbClr val="6BB3FF"/>
              </a:solid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28575"/>
                <a:ext cx="295594" cy="1042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240"/>
                  </a:lnSpc>
                </a:pPr>
              </a:p>
            </p:txBody>
          </p:sp>
        </p:grpSp>
      </p:grpSp>
      <p:sp>
        <p:nvSpPr>
          <p:cNvPr name="Freeform 52" id="52"/>
          <p:cNvSpPr/>
          <p:nvPr/>
        </p:nvSpPr>
        <p:spPr>
          <a:xfrm flipH="false" flipV="false" rot="0">
            <a:off x="2339055" y="8294349"/>
            <a:ext cx="347060" cy="309278"/>
          </a:xfrm>
          <a:custGeom>
            <a:avLst/>
            <a:gdLst/>
            <a:ahLst/>
            <a:cxnLst/>
            <a:rect r="r" b="b" t="t" l="l"/>
            <a:pathLst>
              <a:path h="309278" w="347060">
                <a:moveTo>
                  <a:pt x="0" y="0"/>
                </a:moveTo>
                <a:lnTo>
                  <a:pt x="347060" y="0"/>
                </a:lnTo>
                <a:lnTo>
                  <a:pt x="347060" y="309278"/>
                </a:lnTo>
                <a:lnTo>
                  <a:pt x="0" y="30927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12970273" y="5304359"/>
            <a:ext cx="440655" cy="412146"/>
          </a:xfrm>
          <a:custGeom>
            <a:avLst/>
            <a:gdLst/>
            <a:ahLst/>
            <a:cxnLst/>
            <a:rect r="r" b="b" t="t" l="l"/>
            <a:pathLst>
              <a:path h="412146" w="440655">
                <a:moveTo>
                  <a:pt x="0" y="0"/>
                </a:moveTo>
                <a:lnTo>
                  <a:pt x="440655" y="0"/>
                </a:lnTo>
                <a:lnTo>
                  <a:pt x="440655" y="412146"/>
                </a:lnTo>
                <a:lnTo>
                  <a:pt x="0" y="41214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8553987" y="5335384"/>
            <a:ext cx="409062" cy="412673"/>
          </a:xfrm>
          <a:custGeom>
            <a:avLst/>
            <a:gdLst/>
            <a:ahLst/>
            <a:cxnLst/>
            <a:rect r="r" b="b" t="t" l="l"/>
            <a:pathLst>
              <a:path h="412673" w="409062">
                <a:moveTo>
                  <a:pt x="0" y="0"/>
                </a:moveTo>
                <a:lnTo>
                  <a:pt x="409063" y="0"/>
                </a:lnTo>
                <a:lnTo>
                  <a:pt x="409063" y="412673"/>
                </a:lnTo>
                <a:lnTo>
                  <a:pt x="0" y="41267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15254480" y="8113562"/>
            <a:ext cx="438150" cy="631584"/>
          </a:xfrm>
          <a:custGeom>
            <a:avLst/>
            <a:gdLst/>
            <a:ahLst/>
            <a:cxnLst/>
            <a:rect r="r" b="b" t="t" l="l"/>
            <a:pathLst>
              <a:path h="631584" w="438150">
                <a:moveTo>
                  <a:pt x="0" y="0"/>
                </a:moveTo>
                <a:lnTo>
                  <a:pt x="438150" y="0"/>
                </a:lnTo>
                <a:lnTo>
                  <a:pt x="438150" y="631584"/>
                </a:lnTo>
                <a:lnTo>
                  <a:pt x="0" y="63158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6280403" y="8242225"/>
            <a:ext cx="421483" cy="425529"/>
          </a:xfrm>
          <a:custGeom>
            <a:avLst/>
            <a:gdLst/>
            <a:ahLst/>
            <a:cxnLst/>
            <a:rect r="r" b="b" t="t" l="l"/>
            <a:pathLst>
              <a:path h="425529" w="421483">
                <a:moveTo>
                  <a:pt x="0" y="0"/>
                </a:moveTo>
                <a:lnTo>
                  <a:pt x="421483" y="0"/>
                </a:lnTo>
                <a:lnTo>
                  <a:pt x="421483" y="425529"/>
                </a:lnTo>
                <a:lnTo>
                  <a:pt x="0" y="42552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57" id="57"/>
          <p:cNvSpPr txBox="true"/>
          <p:nvPr/>
        </p:nvSpPr>
        <p:spPr>
          <a:xfrm rot="0">
            <a:off x="4974245" y="6417816"/>
            <a:ext cx="3032958" cy="297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</a:pPr>
            <a:r>
              <a:rPr lang="en-US" b="true" sz="17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Stack Tecnológico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3957585" y="6417816"/>
            <a:ext cx="3032958" cy="297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</a:pPr>
            <a:r>
              <a:rPr lang="en-US" b="true" sz="17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Sprint Goal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4974245" y="6828931"/>
            <a:ext cx="3032958" cy="816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8"/>
              </a:lnSpc>
            </a:pPr>
            <a:r>
              <a:rPr lang="en-US" sz="15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Laravel 12 · PHP 8.2 · PostgreSQL · Docker Sail · Alpine.js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3957585" y="6828931"/>
            <a:ext cx="3032958" cy="540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8"/>
              </a:lnSpc>
            </a:pPr>
            <a:r>
              <a:rPr lang="en-US" sz="15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Completar Fase 1 y Flujo 2 del sistema de gestión.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6022476" y="3655638"/>
            <a:ext cx="3014272" cy="297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</a:pPr>
            <a:r>
              <a:rPr lang="en-US" b="true" sz="17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Duración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2932815" y="3655638"/>
            <a:ext cx="3009837" cy="297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</a:pPr>
            <a:r>
              <a:rPr lang="en-US" b="true" sz="17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Capacidad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6022476" y="4066753"/>
            <a:ext cx="3014272" cy="540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8"/>
              </a:lnSpc>
            </a:pPr>
            <a:r>
              <a:rPr lang="en-US" sz="15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 semanas · 10 días hábiles · 4 desarrolladores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2932815" y="4066753"/>
            <a:ext cx="3009837" cy="540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8"/>
              </a:lnSpc>
            </a:pPr>
            <a:r>
              <a:rPr lang="en-US" sz="15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40 Story Points totales — 4 devs × 10 SP c/u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999984" y="6417816"/>
            <a:ext cx="3018580" cy="297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</a:pPr>
            <a:r>
              <a:rPr lang="en-US" b="true" sz="17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Equipo de Desarrollo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999984" y="6828931"/>
            <a:ext cx="3018580" cy="540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8"/>
              </a:lnSpc>
            </a:pPr>
            <a:r>
              <a:rPr lang="en-US" sz="15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Equipo de Desarrollo · Universidad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591178" y="628650"/>
            <a:ext cx="12033998" cy="828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91"/>
              </a:lnSpc>
            </a:pPr>
            <a:r>
              <a:rPr lang="en-US" b="true" sz="5596">
                <a:solidFill>
                  <a:srgbClr val="14057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 Planning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591178" y="1636828"/>
            <a:ext cx="12451704" cy="356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7"/>
              </a:lnSpc>
            </a:pPr>
            <a:r>
              <a:rPr lang="en-US" sz="20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Ajoolnaj · Sistema de Gestión Institucional (Albergue) - David - Maximiliano - Salomon - Alexander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2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970352" y="609600"/>
            <a:ext cx="11925062" cy="9114609"/>
            <a:chOff x="0" y="0"/>
            <a:chExt cx="995524" cy="7609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95524" cy="760903"/>
            </a:xfrm>
            <a:custGeom>
              <a:avLst/>
              <a:gdLst/>
              <a:ahLst/>
              <a:cxnLst/>
              <a:rect r="r" b="b" t="t" l="l"/>
              <a:pathLst>
                <a:path h="760903" w="995524">
                  <a:moveTo>
                    <a:pt x="995524" y="380451"/>
                  </a:moveTo>
                  <a:lnTo>
                    <a:pt x="589124" y="0"/>
                  </a:lnTo>
                  <a:lnTo>
                    <a:pt x="589124" y="203200"/>
                  </a:lnTo>
                  <a:lnTo>
                    <a:pt x="0" y="203200"/>
                  </a:lnTo>
                  <a:lnTo>
                    <a:pt x="0" y="557703"/>
                  </a:lnTo>
                  <a:lnTo>
                    <a:pt x="589124" y="557703"/>
                  </a:lnTo>
                  <a:lnTo>
                    <a:pt x="589124" y="760903"/>
                  </a:lnTo>
                  <a:lnTo>
                    <a:pt x="995524" y="380451"/>
                  </a:lnTo>
                  <a:close/>
                </a:path>
              </a:pathLst>
            </a:custGeom>
            <a:solidFill>
              <a:srgbClr val="CADBE8">
                <a:alpha val="24706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74625"/>
              <a:ext cx="893924" cy="383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270663" y="609600"/>
            <a:ext cx="7052746" cy="1808068"/>
          </a:xfrm>
          <a:custGeom>
            <a:avLst/>
            <a:gdLst/>
            <a:ahLst/>
            <a:cxnLst/>
            <a:rect r="r" b="b" t="t" l="l"/>
            <a:pathLst>
              <a:path h="1808068" w="7052746">
                <a:moveTo>
                  <a:pt x="0" y="0"/>
                </a:moveTo>
                <a:lnTo>
                  <a:pt x="7052746" y="0"/>
                </a:lnTo>
                <a:lnTo>
                  <a:pt x="7052746" y="1808068"/>
                </a:lnTo>
                <a:lnTo>
                  <a:pt x="0" y="18080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3710084" y="830783"/>
            <a:ext cx="3989834" cy="1022848"/>
          </a:xfrm>
          <a:custGeom>
            <a:avLst/>
            <a:gdLst/>
            <a:ahLst/>
            <a:cxnLst/>
            <a:rect r="r" b="b" t="t" l="l"/>
            <a:pathLst>
              <a:path h="1022848" w="3989834">
                <a:moveTo>
                  <a:pt x="0" y="0"/>
                </a:moveTo>
                <a:lnTo>
                  <a:pt x="3989834" y="0"/>
                </a:lnTo>
                <a:lnTo>
                  <a:pt x="3989834" y="1022848"/>
                </a:lnTo>
                <a:lnTo>
                  <a:pt x="0" y="10228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270663" y="8280050"/>
            <a:ext cx="7052746" cy="1808068"/>
          </a:xfrm>
          <a:custGeom>
            <a:avLst/>
            <a:gdLst/>
            <a:ahLst/>
            <a:cxnLst/>
            <a:rect r="r" b="b" t="t" l="l"/>
            <a:pathLst>
              <a:path h="1808068" w="7052746">
                <a:moveTo>
                  <a:pt x="0" y="0"/>
                </a:moveTo>
                <a:lnTo>
                  <a:pt x="7052746" y="0"/>
                </a:lnTo>
                <a:lnTo>
                  <a:pt x="7052746" y="1808068"/>
                </a:lnTo>
                <a:lnTo>
                  <a:pt x="0" y="18080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3710084" y="8501233"/>
            <a:ext cx="3989834" cy="1022848"/>
          </a:xfrm>
          <a:custGeom>
            <a:avLst/>
            <a:gdLst/>
            <a:ahLst/>
            <a:cxnLst/>
            <a:rect r="r" b="b" t="t" l="l"/>
            <a:pathLst>
              <a:path h="1022848" w="3989834">
                <a:moveTo>
                  <a:pt x="0" y="0"/>
                </a:moveTo>
                <a:lnTo>
                  <a:pt x="3989834" y="0"/>
                </a:lnTo>
                <a:lnTo>
                  <a:pt x="3989834" y="1022848"/>
                </a:lnTo>
                <a:lnTo>
                  <a:pt x="0" y="10228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836257" y="2524247"/>
            <a:ext cx="7052746" cy="1808068"/>
          </a:xfrm>
          <a:custGeom>
            <a:avLst/>
            <a:gdLst/>
            <a:ahLst/>
            <a:cxnLst/>
            <a:rect r="r" b="b" t="t" l="l"/>
            <a:pathLst>
              <a:path h="1808068" w="7052746">
                <a:moveTo>
                  <a:pt x="0" y="0"/>
                </a:moveTo>
                <a:lnTo>
                  <a:pt x="7052746" y="0"/>
                </a:lnTo>
                <a:lnTo>
                  <a:pt x="7052746" y="1808067"/>
                </a:lnTo>
                <a:lnTo>
                  <a:pt x="0" y="18080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6275678" y="2745430"/>
            <a:ext cx="3989834" cy="1022848"/>
          </a:xfrm>
          <a:custGeom>
            <a:avLst/>
            <a:gdLst/>
            <a:ahLst/>
            <a:cxnLst/>
            <a:rect r="r" b="b" t="t" l="l"/>
            <a:pathLst>
              <a:path h="1022848" w="3989834">
                <a:moveTo>
                  <a:pt x="0" y="0"/>
                </a:moveTo>
                <a:lnTo>
                  <a:pt x="3989833" y="0"/>
                </a:lnTo>
                <a:lnTo>
                  <a:pt x="3989833" y="1022848"/>
                </a:lnTo>
                <a:lnTo>
                  <a:pt x="0" y="102284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836257" y="6356674"/>
            <a:ext cx="7052746" cy="1808068"/>
          </a:xfrm>
          <a:custGeom>
            <a:avLst/>
            <a:gdLst/>
            <a:ahLst/>
            <a:cxnLst/>
            <a:rect r="r" b="b" t="t" l="l"/>
            <a:pathLst>
              <a:path h="1808068" w="7052746">
                <a:moveTo>
                  <a:pt x="0" y="0"/>
                </a:moveTo>
                <a:lnTo>
                  <a:pt x="7052746" y="0"/>
                </a:lnTo>
                <a:lnTo>
                  <a:pt x="7052746" y="1808067"/>
                </a:lnTo>
                <a:lnTo>
                  <a:pt x="0" y="18080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6275678" y="6577857"/>
            <a:ext cx="3989834" cy="1022848"/>
          </a:xfrm>
          <a:custGeom>
            <a:avLst/>
            <a:gdLst/>
            <a:ahLst/>
            <a:cxnLst/>
            <a:rect r="r" b="b" t="t" l="l"/>
            <a:pathLst>
              <a:path h="1022848" w="3989834">
                <a:moveTo>
                  <a:pt x="0" y="0"/>
                </a:moveTo>
                <a:lnTo>
                  <a:pt x="3989833" y="0"/>
                </a:lnTo>
                <a:lnTo>
                  <a:pt x="3989833" y="1022848"/>
                </a:lnTo>
                <a:lnTo>
                  <a:pt x="0" y="10228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033151" y="4438893"/>
            <a:ext cx="7052746" cy="1808068"/>
          </a:xfrm>
          <a:custGeom>
            <a:avLst/>
            <a:gdLst/>
            <a:ahLst/>
            <a:cxnLst/>
            <a:rect r="r" b="b" t="t" l="l"/>
            <a:pathLst>
              <a:path h="1808068" w="7052746">
                <a:moveTo>
                  <a:pt x="0" y="0"/>
                </a:moveTo>
                <a:lnTo>
                  <a:pt x="7052746" y="0"/>
                </a:lnTo>
                <a:lnTo>
                  <a:pt x="7052746" y="1808068"/>
                </a:lnTo>
                <a:lnTo>
                  <a:pt x="0" y="18080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8472572" y="4660076"/>
            <a:ext cx="3989834" cy="1022848"/>
          </a:xfrm>
          <a:custGeom>
            <a:avLst/>
            <a:gdLst/>
            <a:ahLst/>
            <a:cxnLst/>
            <a:rect r="r" b="b" t="t" l="l"/>
            <a:pathLst>
              <a:path h="1022848" w="3989834">
                <a:moveTo>
                  <a:pt x="0" y="0"/>
                </a:moveTo>
                <a:lnTo>
                  <a:pt x="3989833" y="0"/>
                </a:lnTo>
                <a:lnTo>
                  <a:pt x="3989833" y="1022848"/>
                </a:lnTo>
                <a:lnTo>
                  <a:pt x="0" y="102284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3972318" y="1086208"/>
            <a:ext cx="513189" cy="438543"/>
          </a:xfrm>
          <a:custGeom>
            <a:avLst/>
            <a:gdLst/>
            <a:ahLst/>
            <a:cxnLst/>
            <a:rect r="r" b="b" t="t" l="l"/>
            <a:pathLst>
              <a:path h="438543" w="513189">
                <a:moveTo>
                  <a:pt x="0" y="0"/>
                </a:moveTo>
                <a:lnTo>
                  <a:pt x="513189" y="0"/>
                </a:lnTo>
                <a:lnTo>
                  <a:pt x="513189" y="438543"/>
                </a:lnTo>
                <a:lnTo>
                  <a:pt x="0" y="43854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4038733" y="8800093"/>
            <a:ext cx="522845" cy="416425"/>
          </a:xfrm>
          <a:custGeom>
            <a:avLst/>
            <a:gdLst/>
            <a:ahLst/>
            <a:cxnLst/>
            <a:rect r="r" b="b" t="t" l="l"/>
            <a:pathLst>
              <a:path h="416425" w="522845">
                <a:moveTo>
                  <a:pt x="0" y="0"/>
                </a:moveTo>
                <a:lnTo>
                  <a:pt x="522845" y="0"/>
                </a:lnTo>
                <a:lnTo>
                  <a:pt x="522845" y="416425"/>
                </a:lnTo>
                <a:lnTo>
                  <a:pt x="0" y="4164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634201" y="3106241"/>
            <a:ext cx="346639" cy="299619"/>
          </a:xfrm>
          <a:custGeom>
            <a:avLst/>
            <a:gdLst/>
            <a:ahLst/>
            <a:cxnLst/>
            <a:rect r="r" b="b" t="t" l="l"/>
            <a:pathLst>
              <a:path h="299619" w="346639">
                <a:moveTo>
                  <a:pt x="0" y="0"/>
                </a:moveTo>
                <a:lnTo>
                  <a:pt x="346639" y="0"/>
                </a:lnTo>
                <a:lnTo>
                  <a:pt x="346639" y="299619"/>
                </a:lnTo>
                <a:lnTo>
                  <a:pt x="0" y="29961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769699" y="4937346"/>
            <a:ext cx="458936" cy="459726"/>
          </a:xfrm>
          <a:custGeom>
            <a:avLst/>
            <a:gdLst/>
            <a:ahLst/>
            <a:cxnLst/>
            <a:rect r="r" b="b" t="t" l="l"/>
            <a:pathLst>
              <a:path h="459726" w="458936">
                <a:moveTo>
                  <a:pt x="0" y="0"/>
                </a:moveTo>
                <a:lnTo>
                  <a:pt x="458936" y="0"/>
                </a:lnTo>
                <a:lnTo>
                  <a:pt x="458936" y="459727"/>
                </a:lnTo>
                <a:lnTo>
                  <a:pt x="0" y="45972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587864" y="6872992"/>
            <a:ext cx="438623" cy="438623"/>
          </a:xfrm>
          <a:custGeom>
            <a:avLst/>
            <a:gdLst/>
            <a:ahLst/>
            <a:cxnLst/>
            <a:rect r="r" b="b" t="t" l="l"/>
            <a:pathLst>
              <a:path h="438623" w="438623">
                <a:moveTo>
                  <a:pt x="0" y="0"/>
                </a:moveTo>
                <a:lnTo>
                  <a:pt x="438623" y="0"/>
                </a:lnTo>
                <a:lnTo>
                  <a:pt x="438623" y="438623"/>
                </a:lnTo>
                <a:lnTo>
                  <a:pt x="0" y="43862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4781550" y="1180706"/>
            <a:ext cx="2744635" cy="274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14"/>
              </a:lnSpc>
            </a:pPr>
            <a:r>
              <a:rPr lang="en-US" b="true" sz="158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Presentación del Proyecto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368371" y="3100733"/>
            <a:ext cx="2744635" cy="274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14"/>
              </a:lnSpc>
            </a:pPr>
            <a:r>
              <a:rPr lang="en-US" b="true" sz="158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Product Backlog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073570" y="1087986"/>
            <a:ext cx="4971908" cy="478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8"/>
              </a:lnSpc>
            </a:pPr>
            <a:r>
              <a:rPr lang="en-US" sz="14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Contexto del proyecto Ajoolnaj, objetivos del albergue y estado actual del desarrollo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660391" y="3008013"/>
            <a:ext cx="4971908" cy="478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8"/>
              </a:lnSpc>
            </a:pPr>
            <a:r>
              <a:rPr lang="en-US" sz="14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10 funcionalidades priorizadas por valor de negocio y dependencias técnicas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574511" y="5020760"/>
            <a:ext cx="2744635" cy="274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14"/>
              </a:lnSpc>
            </a:pPr>
            <a:r>
              <a:rPr lang="en-US" b="true" sz="158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Planificación del Sprint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368371" y="6927770"/>
            <a:ext cx="2744635" cy="274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14"/>
              </a:lnSpc>
            </a:pPr>
            <a:r>
              <a:rPr lang="en-US" b="true" sz="158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Story Points — Justificación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781550" y="8856537"/>
            <a:ext cx="2744635" cy="274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14"/>
              </a:lnSpc>
            </a:pPr>
            <a:r>
              <a:rPr lang="en-US" b="true" sz="158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Estrategia Git y Conflictos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866531" y="4928040"/>
            <a:ext cx="4811869" cy="478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8"/>
              </a:lnSpc>
            </a:pPr>
            <a:r>
              <a:rPr lang="en-US" sz="14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Definición del Sprint 1, selección de ítems del backlog y asignación de responsables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660391" y="6835050"/>
            <a:ext cx="4971908" cy="478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8"/>
              </a:lnSpc>
            </a:pPr>
            <a:r>
              <a:rPr lang="en-US" sz="14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Estimación técnica con criterios de complejidad, riesgo, trabajo e incertidumbre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073570" y="8763817"/>
            <a:ext cx="4971908" cy="478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8"/>
              </a:lnSpc>
            </a:pPr>
            <a:r>
              <a:rPr lang="en-US" sz="14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Flujo GitFlow, ramas por desarrollador, convenciones y manejo de conflictos de merge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09600" y="3730180"/>
            <a:ext cx="5791200" cy="1240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3"/>
              </a:lnSpc>
            </a:pPr>
            <a:r>
              <a:rPr lang="en-US" b="true" sz="4218">
                <a:solidFill>
                  <a:srgbClr val="14057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Agenda del Sprint Planning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59074" y="5935790"/>
            <a:ext cx="5436926" cy="550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14"/>
              </a:lnSpc>
            </a:pPr>
            <a:r>
              <a:rPr lang="en-US" sz="158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Sesión de planificación del proyecto Ajoolnaj · Sistema de Gestión Institucional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8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00000">
            <a:off x="1669288" y="3430661"/>
            <a:ext cx="2907799" cy="5949462"/>
          </a:xfrm>
          <a:custGeom>
            <a:avLst/>
            <a:gdLst/>
            <a:ahLst/>
            <a:cxnLst/>
            <a:rect r="r" b="b" t="t" l="l"/>
            <a:pathLst>
              <a:path h="5949462" w="2907799">
                <a:moveTo>
                  <a:pt x="0" y="0"/>
                </a:moveTo>
                <a:lnTo>
                  <a:pt x="2907799" y="0"/>
                </a:lnTo>
                <a:lnTo>
                  <a:pt x="2907799" y="5949462"/>
                </a:lnTo>
                <a:lnTo>
                  <a:pt x="0" y="59494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99999">
            <a:off x="5698338" y="2852373"/>
            <a:ext cx="2906621" cy="5657656"/>
          </a:xfrm>
          <a:custGeom>
            <a:avLst/>
            <a:gdLst/>
            <a:ahLst/>
            <a:cxnLst/>
            <a:rect r="r" b="b" t="t" l="l"/>
            <a:pathLst>
              <a:path h="5657656" w="2906621">
                <a:moveTo>
                  <a:pt x="0" y="0"/>
                </a:moveTo>
                <a:lnTo>
                  <a:pt x="2906621" y="0"/>
                </a:lnTo>
                <a:lnTo>
                  <a:pt x="2906621" y="5657655"/>
                </a:lnTo>
                <a:lnTo>
                  <a:pt x="0" y="56576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99999">
            <a:off x="6727186" y="3637401"/>
            <a:ext cx="469711" cy="740081"/>
          </a:xfrm>
          <a:custGeom>
            <a:avLst/>
            <a:gdLst/>
            <a:ahLst/>
            <a:cxnLst/>
            <a:rect r="r" b="b" t="t" l="l"/>
            <a:pathLst>
              <a:path h="740081" w="469711">
                <a:moveTo>
                  <a:pt x="0" y="0"/>
                </a:moveTo>
                <a:lnTo>
                  <a:pt x="469710" y="0"/>
                </a:lnTo>
                <a:lnTo>
                  <a:pt x="469710" y="740081"/>
                </a:lnTo>
                <a:lnTo>
                  <a:pt x="0" y="7400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99999">
            <a:off x="9689687" y="3117295"/>
            <a:ext cx="2903411" cy="5122845"/>
          </a:xfrm>
          <a:custGeom>
            <a:avLst/>
            <a:gdLst/>
            <a:ahLst/>
            <a:cxnLst/>
            <a:rect r="r" b="b" t="t" l="l"/>
            <a:pathLst>
              <a:path h="5122845" w="2903411">
                <a:moveTo>
                  <a:pt x="0" y="0"/>
                </a:moveTo>
                <a:lnTo>
                  <a:pt x="2903411" y="0"/>
                </a:lnTo>
                <a:lnTo>
                  <a:pt x="2903411" y="5122845"/>
                </a:lnTo>
                <a:lnTo>
                  <a:pt x="0" y="51228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299999">
            <a:off x="10909521" y="3811791"/>
            <a:ext cx="539724" cy="391300"/>
          </a:xfrm>
          <a:custGeom>
            <a:avLst/>
            <a:gdLst/>
            <a:ahLst/>
            <a:cxnLst/>
            <a:rect r="r" b="b" t="t" l="l"/>
            <a:pathLst>
              <a:path h="391300" w="539724">
                <a:moveTo>
                  <a:pt x="0" y="0"/>
                </a:moveTo>
                <a:lnTo>
                  <a:pt x="539724" y="0"/>
                </a:lnTo>
                <a:lnTo>
                  <a:pt x="539724" y="391300"/>
                </a:lnTo>
                <a:lnTo>
                  <a:pt x="0" y="3913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600000">
            <a:off x="13714825" y="3549996"/>
            <a:ext cx="2905892" cy="5725896"/>
          </a:xfrm>
          <a:custGeom>
            <a:avLst/>
            <a:gdLst/>
            <a:ahLst/>
            <a:cxnLst/>
            <a:rect r="r" b="b" t="t" l="l"/>
            <a:pathLst>
              <a:path h="5725896" w="2905892">
                <a:moveTo>
                  <a:pt x="0" y="0"/>
                </a:moveTo>
                <a:lnTo>
                  <a:pt x="2905893" y="0"/>
                </a:lnTo>
                <a:lnTo>
                  <a:pt x="2905893" y="5725896"/>
                </a:lnTo>
                <a:lnTo>
                  <a:pt x="0" y="57258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600000">
            <a:off x="15314813" y="4426212"/>
            <a:ext cx="385072" cy="495484"/>
          </a:xfrm>
          <a:custGeom>
            <a:avLst/>
            <a:gdLst/>
            <a:ahLst/>
            <a:cxnLst/>
            <a:rect r="r" b="b" t="t" l="l"/>
            <a:pathLst>
              <a:path h="495484" w="385072">
                <a:moveTo>
                  <a:pt x="0" y="0"/>
                </a:moveTo>
                <a:lnTo>
                  <a:pt x="385073" y="0"/>
                </a:lnTo>
                <a:lnTo>
                  <a:pt x="385073" y="495484"/>
                </a:lnTo>
                <a:lnTo>
                  <a:pt x="0" y="49548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600000">
            <a:off x="2566470" y="4280846"/>
            <a:ext cx="440274" cy="397898"/>
          </a:xfrm>
          <a:custGeom>
            <a:avLst/>
            <a:gdLst/>
            <a:ahLst/>
            <a:cxnLst/>
            <a:rect r="r" b="b" t="t" l="l"/>
            <a:pathLst>
              <a:path h="397898" w="440274">
                <a:moveTo>
                  <a:pt x="0" y="0"/>
                </a:moveTo>
                <a:lnTo>
                  <a:pt x="440274" y="0"/>
                </a:lnTo>
                <a:lnTo>
                  <a:pt x="440274" y="397897"/>
                </a:lnTo>
                <a:lnTo>
                  <a:pt x="0" y="39789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053602" y="619125"/>
            <a:ext cx="12033998" cy="680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01"/>
              </a:lnSpc>
            </a:pPr>
            <a:r>
              <a:rPr lang="en-US" b="true" sz="4570">
                <a:solidFill>
                  <a:srgbClr val="14057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Ajoolnaj — ¿Qué estamos construyendo?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053602" y="1636828"/>
            <a:ext cx="12033998" cy="356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</a:pPr>
            <a:r>
              <a:rPr lang="en-US" sz="20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Contexto del proyecto, objetivos y stack tecnológico del Sistema de Gestión Institucional</a:t>
            </a:r>
          </a:p>
        </p:txBody>
      </p:sp>
      <p:sp>
        <p:nvSpPr>
          <p:cNvPr name="TextBox 13" id="13"/>
          <p:cNvSpPr txBox="true"/>
          <p:nvPr/>
        </p:nvSpPr>
        <p:spPr>
          <a:xfrm rot="-600000">
            <a:off x="1784618" y="5536427"/>
            <a:ext cx="2501696" cy="297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</a:pPr>
            <a:r>
              <a:rPr lang="en-US" b="true" sz="17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Problema</a:t>
            </a:r>
          </a:p>
        </p:txBody>
      </p:sp>
      <p:sp>
        <p:nvSpPr>
          <p:cNvPr name="TextBox 14" id="14"/>
          <p:cNvSpPr txBox="true"/>
          <p:nvPr/>
        </p:nvSpPr>
        <p:spPr>
          <a:xfrm rot="-600000">
            <a:off x="1984605" y="6134673"/>
            <a:ext cx="2501696" cy="136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8"/>
              </a:lnSpc>
            </a:pPr>
            <a:r>
              <a:rPr lang="en-US" sz="15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Gestión manual y descentralizada de albergues: registros en papel, sin trazabilidad ni reportes centralizados.</a:t>
            </a:r>
          </a:p>
        </p:txBody>
      </p:sp>
      <p:sp>
        <p:nvSpPr>
          <p:cNvPr name="TextBox 15" id="15"/>
          <p:cNvSpPr txBox="true"/>
          <p:nvPr/>
        </p:nvSpPr>
        <p:spPr>
          <a:xfrm rot="-299999">
            <a:off x="5875785" y="4793934"/>
            <a:ext cx="2501696" cy="297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</a:pPr>
            <a:r>
              <a:rPr lang="en-US" b="true" sz="17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Solución</a:t>
            </a:r>
          </a:p>
        </p:txBody>
      </p:sp>
      <p:sp>
        <p:nvSpPr>
          <p:cNvPr name="TextBox 16" id="16"/>
          <p:cNvSpPr txBox="true"/>
          <p:nvPr/>
        </p:nvSpPr>
        <p:spPr>
          <a:xfrm rot="-299999">
            <a:off x="5976161" y="5405294"/>
            <a:ext cx="2501696" cy="136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8"/>
              </a:lnSpc>
            </a:pPr>
            <a:r>
              <a:rPr lang="en-US" sz="15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Plataforma web integral que unifica procesos, centraliza datos y automatiza reportes institucionales.</a:t>
            </a:r>
          </a:p>
        </p:txBody>
      </p:sp>
      <p:sp>
        <p:nvSpPr>
          <p:cNvPr name="TextBox 17" id="17"/>
          <p:cNvSpPr txBox="true"/>
          <p:nvPr/>
        </p:nvSpPr>
        <p:spPr>
          <a:xfrm rot="299999">
            <a:off x="9929780" y="4795619"/>
            <a:ext cx="2501696" cy="297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</a:pPr>
            <a:r>
              <a:rPr lang="en-US" b="true" sz="17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Usuario Objetivo</a:t>
            </a:r>
          </a:p>
        </p:txBody>
      </p:sp>
      <p:sp>
        <p:nvSpPr>
          <p:cNvPr name="TextBox 18" id="18"/>
          <p:cNvSpPr txBox="true"/>
          <p:nvPr/>
        </p:nvSpPr>
        <p:spPr>
          <a:xfrm rot="299999">
            <a:off x="9829404" y="5406979"/>
            <a:ext cx="2501696" cy="136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8"/>
              </a:lnSpc>
            </a:pPr>
            <a:r>
              <a:rPr lang="en-US" sz="15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Personal del albergue: Trabajo Social, Psicología, Enfermería, Administración y Dirección.</a:t>
            </a:r>
          </a:p>
        </p:txBody>
      </p:sp>
      <p:sp>
        <p:nvSpPr>
          <p:cNvPr name="TextBox 19" id="19"/>
          <p:cNvSpPr txBox="true"/>
          <p:nvPr/>
        </p:nvSpPr>
        <p:spPr>
          <a:xfrm rot="600000">
            <a:off x="14026351" y="5541337"/>
            <a:ext cx="2501696" cy="297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</a:pPr>
            <a:r>
              <a:rPr lang="en-US" b="true" sz="17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Stack Tecnológico</a:t>
            </a:r>
          </a:p>
        </p:txBody>
      </p:sp>
      <p:sp>
        <p:nvSpPr>
          <p:cNvPr name="TextBox 20" id="20"/>
          <p:cNvSpPr txBox="true"/>
          <p:nvPr/>
        </p:nvSpPr>
        <p:spPr>
          <a:xfrm rot="600000">
            <a:off x="13874330" y="6143779"/>
            <a:ext cx="2501696" cy="816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8"/>
              </a:lnSpc>
            </a:pPr>
            <a:r>
              <a:rPr lang="en-US" sz="15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Laravel 12, PHP 8.2, PostgreSQL 12, Alpine.js, Tailwind CSS, Docker Sail.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8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02719" y="4536738"/>
            <a:ext cx="1073674" cy="107367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95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30336" lIns="30336" bIns="30336" rIns="30336"/>
            <a:lstStyle/>
            <a:p>
              <a:pPr algn="ctr" marL="0" indent="0" lvl="0">
                <a:lnSpc>
                  <a:spcPts val="22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15446" y="5402835"/>
            <a:ext cx="848221" cy="677310"/>
            <a:chOff x="0" y="0"/>
            <a:chExt cx="642126" cy="51274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42126" cy="512741"/>
            </a:xfrm>
            <a:custGeom>
              <a:avLst/>
              <a:gdLst/>
              <a:ahLst/>
              <a:cxnLst/>
              <a:rect r="r" b="b" t="t" l="l"/>
              <a:pathLst>
                <a:path h="512741" w="642126">
                  <a:moveTo>
                    <a:pt x="321063" y="512741"/>
                  </a:moveTo>
                  <a:lnTo>
                    <a:pt x="642126" y="0"/>
                  </a:lnTo>
                  <a:lnTo>
                    <a:pt x="0" y="0"/>
                  </a:lnTo>
                  <a:lnTo>
                    <a:pt x="321063" y="512741"/>
                  </a:lnTo>
                  <a:close/>
                </a:path>
              </a:pathLst>
            </a:custGeom>
            <a:solidFill>
              <a:srgbClr val="3895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00332" y="8049"/>
              <a:ext cx="441461" cy="266633"/>
            </a:xfrm>
            <a:prstGeom prst="rect">
              <a:avLst/>
            </a:prstGeom>
          </p:spPr>
          <p:txBody>
            <a:bodyPr anchor="ctr" rtlCol="false" tIns="30336" lIns="30336" bIns="30336" rIns="30336"/>
            <a:lstStyle/>
            <a:p>
              <a:pPr algn="ctr" marL="0" indent="0" lvl="0">
                <a:lnSpc>
                  <a:spcPts val="224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15446" y="4649465"/>
            <a:ext cx="848221" cy="84822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30336" lIns="30336" bIns="30336" rIns="30336"/>
            <a:lstStyle/>
            <a:p>
              <a:pPr algn="ctr" marL="0" indent="0" lvl="0">
                <a:lnSpc>
                  <a:spcPts val="224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17452" y="3395174"/>
            <a:ext cx="4261103" cy="238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98"/>
              </a:lnSpc>
            </a:pPr>
            <a:r>
              <a:rPr lang="en-US" b="true" sz="14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Fase 1 — Núcleo, Autenticación y Capa RBAC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7452" y="3731530"/>
            <a:ext cx="4241453" cy="690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18"/>
              </a:lnSpc>
            </a:pPr>
            <a:r>
              <a:rPr lang="en-US" sz="12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Dejar lista la base lógica del sistema: convención de modularidad, a</a:t>
            </a:r>
            <a:r>
              <a:rPr lang="en-US" sz="12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utenticación (Breeze ya instalado) restringida, y la capa de Roles y Permisos propia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504990" y="4490631"/>
            <a:ext cx="1073674" cy="1073674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7ED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30336" lIns="30336" bIns="30336" rIns="30336"/>
            <a:lstStyle/>
            <a:p>
              <a:pPr algn="ctr" marL="0" indent="0" lvl="0">
                <a:lnSpc>
                  <a:spcPts val="224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617717" y="5356728"/>
            <a:ext cx="848221" cy="677310"/>
            <a:chOff x="0" y="0"/>
            <a:chExt cx="642126" cy="51274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42126" cy="512741"/>
            </a:xfrm>
            <a:custGeom>
              <a:avLst/>
              <a:gdLst/>
              <a:ahLst/>
              <a:cxnLst/>
              <a:rect r="r" b="b" t="t" l="l"/>
              <a:pathLst>
                <a:path h="512741" w="642126">
                  <a:moveTo>
                    <a:pt x="321063" y="512741"/>
                  </a:moveTo>
                  <a:lnTo>
                    <a:pt x="642126" y="0"/>
                  </a:lnTo>
                  <a:lnTo>
                    <a:pt x="0" y="0"/>
                  </a:lnTo>
                  <a:lnTo>
                    <a:pt x="321063" y="512741"/>
                  </a:lnTo>
                  <a:close/>
                </a:path>
              </a:pathLst>
            </a:custGeom>
            <a:solidFill>
              <a:srgbClr val="F27ED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00332" y="8049"/>
              <a:ext cx="441461" cy="266633"/>
            </a:xfrm>
            <a:prstGeom prst="rect">
              <a:avLst/>
            </a:prstGeom>
          </p:spPr>
          <p:txBody>
            <a:bodyPr anchor="ctr" rtlCol="false" tIns="30336" lIns="30336" bIns="30336" rIns="30336"/>
            <a:lstStyle/>
            <a:p>
              <a:pPr algn="ctr" marL="0" indent="0" lvl="0">
                <a:lnSpc>
                  <a:spcPts val="224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617717" y="4603358"/>
            <a:ext cx="848221" cy="848221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30336" lIns="30336" bIns="30336" rIns="30336"/>
            <a:lstStyle/>
            <a:p>
              <a:pPr algn="ctr" marL="0" indent="0" lvl="0">
                <a:lnSpc>
                  <a:spcPts val="224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-10800000">
            <a:off x="1711167" y="6715712"/>
            <a:ext cx="1073674" cy="1073674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B87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30336" lIns="30336" bIns="30336" rIns="30336"/>
            <a:lstStyle/>
            <a:p>
              <a:pPr algn="ctr" marL="0" indent="0" lvl="0">
                <a:lnSpc>
                  <a:spcPts val="224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-10800000">
            <a:off x="1823893" y="6245979"/>
            <a:ext cx="848221" cy="677310"/>
            <a:chOff x="0" y="0"/>
            <a:chExt cx="642126" cy="51274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42126" cy="512741"/>
            </a:xfrm>
            <a:custGeom>
              <a:avLst/>
              <a:gdLst/>
              <a:ahLst/>
              <a:cxnLst/>
              <a:rect r="r" b="b" t="t" l="l"/>
              <a:pathLst>
                <a:path h="512741" w="642126">
                  <a:moveTo>
                    <a:pt x="321063" y="512741"/>
                  </a:moveTo>
                  <a:lnTo>
                    <a:pt x="642126" y="0"/>
                  </a:lnTo>
                  <a:lnTo>
                    <a:pt x="0" y="0"/>
                  </a:lnTo>
                  <a:lnTo>
                    <a:pt x="321063" y="512741"/>
                  </a:lnTo>
                  <a:close/>
                </a:path>
              </a:pathLst>
            </a:custGeom>
            <a:solidFill>
              <a:srgbClr val="AB87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100332" y="8049"/>
              <a:ext cx="441461" cy="266633"/>
            </a:xfrm>
            <a:prstGeom prst="rect">
              <a:avLst/>
            </a:prstGeom>
          </p:spPr>
          <p:txBody>
            <a:bodyPr anchor="ctr" rtlCol="false" tIns="30336" lIns="30336" bIns="30336" rIns="30336"/>
            <a:lstStyle/>
            <a:p>
              <a:pPr algn="ctr" marL="0" indent="0" lvl="0">
                <a:lnSpc>
                  <a:spcPts val="224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-10800000">
            <a:off x="1823893" y="6828438"/>
            <a:ext cx="848221" cy="848221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30336" lIns="30336" bIns="30336" rIns="30336"/>
            <a:lstStyle/>
            <a:p>
              <a:pPr algn="ctr" marL="0" indent="0" lvl="0">
                <a:lnSpc>
                  <a:spcPts val="2240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552554" y="8151336"/>
            <a:ext cx="3390900" cy="495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98"/>
              </a:lnSpc>
            </a:pPr>
            <a:r>
              <a:rPr lang="en-US" b="true" sz="14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Fase 5 — Estancias, Camas, Permanencia y Bitácora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21133" y="8722868"/>
            <a:ext cx="4396959" cy="919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18"/>
              </a:lnSpc>
            </a:pPr>
            <a:r>
              <a:rPr lang="en-US" sz="12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Objetivo: Mod</a:t>
            </a:r>
            <a:r>
              <a:rPr lang="en-US" sz="12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elar el ciclo de estancia (ingreso → cama → permanencia) y la bitácora diaria de atención/servicios. Incorpora nuevos requerimientos de operación del albergue:</a:t>
            </a:r>
          </a:p>
        </p:txBody>
      </p:sp>
      <p:grpSp>
        <p:nvGrpSpPr>
          <p:cNvPr name="Group 34" id="34"/>
          <p:cNvGrpSpPr/>
          <p:nvPr/>
        </p:nvGrpSpPr>
        <p:grpSpPr>
          <a:xfrm rot="-10800000">
            <a:off x="11299379" y="6549877"/>
            <a:ext cx="1073674" cy="1073674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4A0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30336" lIns="30336" bIns="30336" rIns="30336"/>
            <a:lstStyle/>
            <a:p>
              <a:pPr algn="ctr" marL="0" indent="0" lvl="0">
                <a:lnSpc>
                  <a:spcPts val="2240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-10800000">
            <a:off x="11412105" y="6080145"/>
            <a:ext cx="848221" cy="677310"/>
            <a:chOff x="0" y="0"/>
            <a:chExt cx="642126" cy="51274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42126" cy="512741"/>
            </a:xfrm>
            <a:custGeom>
              <a:avLst/>
              <a:gdLst/>
              <a:ahLst/>
              <a:cxnLst/>
              <a:rect r="r" b="b" t="t" l="l"/>
              <a:pathLst>
                <a:path h="512741" w="642126">
                  <a:moveTo>
                    <a:pt x="321063" y="512741"/>
                  </a:moveTo>
                  <a:lnTo>
                    <a:pt x="642126" y="0"/>
                  </a:lnTo>
                  <a:lnTo>
                    <a:pt x="0" y="0"/>
                  </a:lnTo>
                  <a:lnTo>
                    <a:pt x="321063" y="512741"/>
                  </a:lnTo>
                  <a:close/>
                </a:path>
              </a:pathLst>
            </a:custGeom>
            <a:solidFill>
              <a:srgbClr val="FF94A0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100332" y="8049"/>
              <a:ext cx="441461" cy="266633"/>
            </a:xfrm>
            <a:prstGeom prst="rect">
              <a:avLst/>
            </a:prstGeom>
          </p:spPr>
          <p:txBody>
            <a:bodyPr anchor="ctr" rtlCol="false" tIns="30336" lIns="30336" bIns="30336" rIns="30336"/>
            <a:lstStyle/>
            <a:p>
              <a:pPr algn="ctr" marL="0" indent="0" lvl="0">
                <a:lnSpc>
                  <a:spcPts val="2240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-10800000">
            <a:off x="11412105" y="6662604"/>
            <a:ext cx="848221" cy="848221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30336" lIns="30336" bIns="30336" rIns="30336"/>
            <a:lstStyle/>
            <a:p>
              <a:pPr algn="ctr" marL="0" indent="0" lvl="0">
                <a:lnSpc>
                  <a:spcPts val="2240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0140766" y="7756902"/>
            <a:ext cx="3390900" cy="495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98"/>
              </a:lnSpc>
            </a:pPr>
            <a:r>
              <a:rPr lang="en-US" b="true" sz="14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Fase 7 — Evaluaciones, Alertas de Permanencia y Egreso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977836" y="8324320"/>
            <a:ext cx="4032279" cy="1376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18"/>
              </a:lnSpc>
            </a:pPr>
            <a:r>
              <a:rPr lang="en-US" sz="12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Objetivo: </a:t>
            </a:r>
            <a:r>
              <a:rPr lang="en-US" sz="12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Cerrar el Flujo 1: evaluación periódica de continuidad con dictamen de las 3 áreas, alertas persistentes antes del fin de periodo, y el egreso (acta + informe + cierre). Incorpora nuevos requerimientos: La ficha de egreso sigue siendo exclusiva de Trabajo Social (trabajo_social).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5674112" y="4536738"/>
            <a:ext cx="1073674" cy="1073674"/>
            <a:chOff x="0" y="0"/>
            <a:chExt cx="812800" cy="812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376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30336" lIns="30336" bIns="30336" rIns="30336"/>
            <a:lstStyle/>
            <a:p>
              <a:pPr algn="ctr" marL="0" indent="0" lvl="0">
                <a:lnSpc>
                  <a:spcPts val="2240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5786839" y="5402835"/>
            <a:ext cx="848221" cy="677310"/>
            <a:chOff x="0" y="0"/>
            <a:chExt cx="642126" cy="51274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42126" cy="512741"/>
            </a:xfrm>
            <a:custGeom>
              <a:avLst/>
              <a:gdLst/>
              <a:ahLst/>
              <a:cxnLst/>
              <a:rect r="r" b="b" t="t" l="l"/>
              <a:pathLst>
                <a:path h="512741" w="642126">
                  <a:moveTo>
                    <a:pt x="321063" y="512741"/>
                  </a:moveTo>
                  <a:lnTo>
                    <a:pt x="642126" y="0"/>
                  </a:lnTo>
                  <a:lnTo>
                    <a:pt x="0" y="0"/>
                  </a:lnTo>
                  <a:lnTo>
                    <a:pt x="321063" y="512741"/>
                  </a:lnTo>
                  <a:close/>
                </a:path>
              </a:pathLst>
            </a:custGeom>
            <a:solidFill>
              <a:srgbClr val="FFB376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100332" y="8049"/>
              <a:ext cx="441461" cy="266633"/>
            </a:xfrm>
            <a:prstGeom prst="rect">
              <a:avLst/>
            </a:prstGeom>
          </p:spPr>
          <p:txBody>
            <a:bodyPr anchor="ctr" rtlCol="false" tIns="30336" lIns="30336" bIns="30336" rIns="30336"/>
            <a:lstStyle/>
            <a:p>
              <a:pPr algn="ctr" marL="0" indent="0" lvl="0">
                <a:lnSpc>
                  <a:spcPts val="2240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5786839" y="4649465"/>
            <a:ext cx="848221" cy="848221"/>
            <a:chOff x="0" y="0"/>
            <a:chExt cx="812800" cy="812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30336" lIns="30336" bIns="30336" rIns="30336"/>
            <a:lstStyle/>
            <a:p>
              <a:pPr algn="ctr" marL="0" indent="0" lvl="0">
                <a:lnSpc>
                  <a:spcPts val="2240"/>
                </a:lnSpc>
              </a:pPr>
            </a:p>
          </p:txBody>
        </p:sp>
      </p:grpSp>
      <p:sp>
        <p:nvSpPr>
          <p:cNvPr name="AutoShape 54" id="54"/>
          <p:cNvSpPr/>
          <p:nvPr/>
        </p:nvSpPr>
        <p:spPr>
          <a:xfrm>
            <a:off x="-342616" y="6107202"/>
            <a:ext cx="18973232" cy="0"/>
          </a:xfrm>
          <a:prstGeom prst="line">
            <a:avLst/>
          </a:prstGeom>
          <a:ln cap="flat" w="66675">
            <a:solidFill>
              <a:srgbClr val="CADBE8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TextBox 55" id="55"/>
          <p:cNvSpPr txBox="true"/>
          <p:nvPr/>
        </p:nvSpPr>
        <p:spPr>
          <a:xfrm rot="0">
            <a:off x="3053602" y="628650"/>
            <a:ext cx="12033998" cy="828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91"/>
              </a:lnSpc>
            </a:pPr>
            <a:r>
              <a:rPr lang="en-US" b="true" sz="5596">
                <a:solidFill>
                  <a:srgbClr val="14057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Estado Actual del Desarrollo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3053602" y="1636828"/>
            <a:ext cx="12033998" cy="356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</a:pPr>
            <a:r>
              <a:rPr lang="en-US" sz="20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Avance general del proyecto · 9 fases identificadas</a:t>
            </a:r>
          </a:p>
        </p:txBody>
      </p:sp>
      <p:sp>
        <p:nvSpPr>
          <p:cNvPr name="Freeform 57" id="57"/>
          <p:cNvSpPr/>
          <p:nvPr/>
        </p:nvSpPr>
        <p:spPr>
          <a:xfrm flipH="false" flipV="false" rot="0">
            <a:off x="1980989" y="4854415"/>
            <a:ext cx="438623" cy="437851"/>
          </a:xfrm>
          <a:custGeom>
            <a:avLst/>
            <a:gdLst/>
            <a:ahLst/>
            <a:cxnLst/>
            <a:rect r="r" b="b" t="t" l="l"/>
            <a:pathLst>
              <a:path h="437851" w="438623">
                <a:moveTo>
                  <a:pt x="0" y="0"/>
                </a:moveTo>
                <a:lnTo>
                  <a:pt x="438623" y="0"/>
                </a:lnTo>
                <a:lnTo>
                  <a:pt x="438623" y="437850"/>
                </a:lnTo>
                <a:lnTo>
                  <a:pt x="0" y="4378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15997413" y="4814317"/>
            <a:ext cx="427072" cy="426303"/>
          </a:xfrm>
          <a:custGeom>
            <a:avLst/>
            <a:gdLst/>
            <a:ahLst/>
            <a:cxnLst/>
            <a:rect r="r" b="b" t="t" l="l"/>
            <a:pathLst>
              <a:path h="426303" w="427072">
                <a:moveTo>
                  <a:pt x="0" y="0"/>
                </a:moveTo>
                <a:lnTo>
                  <a:pt x="427073" y="0"/>
                </a:lnTo>
                <a:lnTo>
                  <a:pt x="427073" y="426303"/>
                </a:lnTo>
                <a:lnTo>
                  <a:pt x="0" y="4263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1999522" y="6985178"/>
            <a:ext cx="503939" cy="439086"/>
          </a:xfrm>
          <a:custGeom>
            <a:avLst/>
            <a:gdLst/>
            <a:ahLst/>
            <a:cxnLst/>
            <a:rect r="r" b="b" t="t" l="l"/>
            <a:pathLst>
              <a:path h="439086" w="503939">
                <a:moveTo>
                  <a:pt x="0" y="0"/>
                </a:moveTo>
                <a:lnTo>
                  <a:pt x="503938" y="0"/>
                </a:lnTo>
                <a:lnTo>
                  <a:pt x="503938" y="439086"/>
                </a:lnTo>
                <a:lnTo>
                  <a:pt x="0" y="4390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11613397" y="6911569"/>
            <a:ext cx="438623" cy="438623"/>
          </a:xfrm>
          <a:custGeom>
            <a:avLst/>
            <a:gdLst/>
            <a:ahLst/>
            <a:cxnLst/>
            <a:rect r="r" b="b" t="t" l="l"/>
            <a:pathLst>
              <a:path h="438623" w="438623">
                <a:moveTo>
                  <a:pt x="0" y="0"/>
                </a:moveTo>
                <a:lnTo>
                  <a:pt x="438623" y="0"/>
                </a:lnTo>
                <a:lnTo>
                  <a:pt x="438623" y="438623"/>
                </a:lnTo>
                <a:lnTo>
                  <a:pt x="0" y="4386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6836919" y="4822149"/>
            <a:ext cx="409987" cy="409987"/>
          </a:xfrm>
          <a:custGeom>
            <a:avLst/>
            <a:gdLst/>
            <a:ahLst/>
            <a:cxnLst/>
            <a:rect r="r" b="b" t="t" l="l"/>
            <a:pathLst>
              <a:path h="409987" w="409987">
                <a:moveTo>
                  <a:pt x="0" y="0"/>
                </a:moveTo>
                <a:lnTo>
                  <a:pt x="409987" y="0"/>
                </a:lnTo>
                <a:lnTo>
                  <a:pt x="409987" y="409987"/>
                </a:lnTo>
                <a:lnTo>
                  <a:pt x="0" y="4099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62" id="62"/>
          <p:cNvGrpSpPr/>
          <p:nvPr/>
        </p:nvGrpSpPr>
        <p:grpSpPr>
          <a:xfrm rot="0">
            <a:off x="11162929" y="4433748"/>
            <a:ext cx="1073674" cy="1073674"/>
            <a:chOff x="0" y="0"/>
            <a:chExt cx="812800" cy="8128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7EDD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30336" lIns="30336" bIns="30336" rIns="30336"/>
            <a:lstStyle/>
            <a:p>
              <a:pPr algn="ctr" marL="0" indent="0" lvl="0">
                <a:lnSpc>
                  <a:spcPts val="2240"/>
                </a:lnSpc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1275656" y="5299845"/>
            <a:ext cx="848221" cy="677310"/>
            <a:chOff x="0" y="0"/>
            <a:chExt cx="642126" cy="51274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42126" cy="512741"/>
            </a:xfrm>
            <a:custGeom>
              <a:avLst/>
              <a:gdLst/>
              <a:ahLst/>
              <a:cxnLst/>
              <a:rect r="r" b="b" t="t" l="l"/>
              <a:pathLst>
                <a:path h="512741" w="642126">
                  <a:moveTo>
                    <a:pt x="321063" y="512741"/>
                  </a:moveTo>
                  <a:lnTo>
                    <a:pt x="642126" y="0"/>
                  </a:lnTo>
                  <a:lnTo>
                    <a:pt x="0" y="0"/>
                  </a:lnTo>
                  <a:lnTo>
                    <a:pt x="321063" y="512741"/>
                  </a:lnTo>
                  <a:close/>
                </a:path>
              </a:pathLst>
            </a:custGeom>
            <a:solidFill>
              <a:srgbClr val="F27EDD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100332" y="8049"/>
              <a:ext cx="441461" cy="266633"/>
            </a:xfrm>
            <a:prstGeom prst="rect">
              <a:avLst/>
            </a:prstGeom>
          </p:spPr>
          <p:txBody>
            <a:bodyPr anchor="ctr" rtlCol="false" tIns="30336" lIns="30336" bIns="30336" rIns="30336"/>
            <a:lstStyle/>
            <a:p>
              <a:pPr algn="ctr" marL="0" indent="0" lvl="0">
                <a:lnSpc>
                  <a:spcPts val="2240"/>
                </a:lnSpc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1275656" y="4546475"/>
            <a:ext cx="848221" cy="848221"/>
            <a:chOff x="0" y="0"/>
            <a:chExt cx="812800" cy="8128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0" id="7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30336" lIns="30336" bIns="30336" rIns="30336"/>
            <a:lstStyle/>
            <a:p>
              <a:pPr algn="ctr" marL="0" indent="0" lvl="0">
                <a:lnSpc>
                  <a:spcPts val="2240"/>
                </a:lnSpc>
              </a:pPr>
            </a:p>
          </p:txBody>
        </p:sp>
      </p:grpSp>
      <p:sp>
        <p:nvSpPr>
          <p:cNvPr name="Freeform 71" id="71"/>
          <p:cNvSpPr/>
          <p:nvPr/>
        </p:nvSpPr>
        <p:spPr>
          <a:xfrm flipH="false" flipV="false" rot="0">
            <a:off x="11494859" y="4765266"/>
            <a:ext cx="409987" cy="409987"/>
          </a:xfrm>
          <a:custGeom>
            <a:avLst/>
            <a:gdLst/>
            <a:ahLst/>
            <a:cxnLst/>
            <a:rect r="r" b="b" t="t" l="l"/>
            <a:pathLst>
              <a:path h="409987" w="409987">
                <a:moveTo>
                  <a:pt x="0" y="0"/>
                </a:moveTo>
                <a:lnTo>
                  <a:pt x="409987" y="0"/>
                </a:lnTo>
                <a:lnTo>
                  <a:pt x="409987" y="409987"/>
                </a:lnTo>
                <a:lnTo>
                  <a:pt x="0" y="4099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2" id="72"/>
          <p:cNvSpPr txBox="true"/>
          <p:nvPr/>
        </p:nvSpPr>
        <p:spPr>
          <a:xfrm rot="0">
            <a:off x="4911275" y="2881574"/>
            <a:ext cx="4261103" cy="238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98"/>
              </a:lnSpc>
            </a:pPr>
            <a:r>
              <a:rPr lang="en-US" b="true" sz="14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Fase 2 — Catálogos y Datos Maestros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4911275" y="3217930"/>
            <a:ext cx="4241453" cy="1148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18"/>
              </a:lnSpc>
            </a:pPr>
            <a:r>
              <a:rPr lang="en-US" sz="12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Poblar y exponer todos los catálogos de los que dependen los módulos operativos. Sin catálogos consistentes, ningún formulario de expedien</a:t>
            </a:r>
            <a:r>
              <a:rPr lang="en-US" sz="12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te/clínico/inventario funciona. Es la segunda capa de la base lógica.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9569300" y="3210511"/>
            <a:ext cx="4261103" cy="238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98"/>
              </a:lnSpc>
            </a:pPr>
            <a:r>
              <a:rPr lang="en-US" b="true" sz="14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Fase 3 — Empleados y Usuarios del Sistema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9569300" y="3546867"/>
            <a:ext cx="4241453" cy="690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18"/>
              </a:lnSpc>
            </a:pPr>
            <a:r>
              <a:rPr lang="en-US" sz="12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Objetivo: Permitir que el Superadmin (admin) dé de al</a:t>
            </a:r>
            <a:r>
              <a:rPr lang="en-US" sz="12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ta empleados y les genere una cuenta de acceso (users) con su rol. 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4080398" y="3100680"/>
            <a:ext cx="4261103" cy="495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98"/>
              </a:lnSpc>
            </a:pPr>
            <a:r>
              <a:rPr lang="en-US" b="true" sz="14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Fase 4 — Personas Usuarias, Expedientes y Admisión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4100048" y="3656421"/>
            <a:ext cx="4241453" cy="690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18"/>
              </a:lnSpc>
            </a:pPr>
            <a:r>
              <a:rPr lang="en-US" sz="12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Objetivo: Implementar el Flujo 1 (inicio): apertura de expediente por cualquier</a:t>
            </a:r>
            <a:r>
              <a:rPr lang="en-US" sz="12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empleado, captura de datos personales y admisión.</a:t>
            </a:r>
          </a:p>
        </p:txBody>
      </p:sp>
      <p:grpSp>
        <p:nvGrpSpPr>
          <p:cNvPr name="Group 78" id="78"/>
          <p:cNvGrpSpPr/>
          <p:nvPr/>
        </p:nvGrpSpPr>
        <p:grpSpPr>
          <a:xfrm rot="-10800000">
            <a:off x="6662375" y="6713320"/>
            <a:ext cx="1073674" cy="1073674"/>
            <a:chOff x="0" y="0"/>
            <a:chExt cx="812800" cy="8128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B87FF"/>
            </a:solidFill>
          </p:spPr>
        </p:sp>
        <p:sp>
          <p:nvSpPr>
            <p:cNvPr name="TextBox 80" id="8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30336" lIns="30336" bIns="30336" rIns="30336"/>
            <a:lstStyle/>
            <a:p>
              <a:pPr algn="ctr" marL="0" indent="0" lvl="0">
                <a:lnSpc>
                  <a:spcPts val="2240"/>
                </a:lnSpc>
              </a:pPr>
            </a:p>
          </p:txBody>
        </p:sp>
      </p:grpSp>
      <p:grpSp>
        <p:nvGrpSpPr>
          <p:cNvPr name="Group 81" id="81"/>
          <p:cNvGrpSpPr/>
          <p:nvPr/>
        </p:nvGrpSpPr>
        <p:grpSpPr>
          <a:xfrm rot="-10800000">
            <a:off x="6775102" y="6243588"/>
            <a:ext cx="848221" cy="677310"/>
            <a:chOff x="0" y="0"/>
            <a:chExt cx="642126" cy="512741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642126" cy="512741"/>
            </a:xfrm>
            <a:custGeom>
              <a:avLst/>
              <a:gdLst/>
              <a:ahLst/>
              <a:cxnLst/>
              <a:rect r="r" b="b" t="t" l="l"/>
              <a:pathLst>
                <a:path h="512741" w="642126">
                  <a:moveTo>
                    <a:pt x="321063" y="512741"/>
                  </a:moveTo>
                  <a:lnTo>
                    <a:pt x="642126" y="0"/>
                  </a:lnTo>
                  <a:lnTo>
                    <a:pt x="0" y="0"/>
                  </a:lnTo>
                  <a:lnTo>
                    <a:pt x="321063" y="512741"/>
                  </a:lnTo>
                  <a:close/>
                </a:path>
              </a:pathLst>
            </a:custGeom>
            <a:solidFill>
              <a:srgbClr val="AB87FF"/>
            </a:solidFill>
          </p:spPr>
        </p:sp>
        <p:sp>
          <p:nvSpPr>
            <p:cNvPr name="TextBox 83" id="83"/>
            <p:cNvSpPr txBox="true"/>
            <p:nvPr/>
          </p:nvSpPr>
          <p:spPr>
            <a:xfrm>
              <a:off x="100332" y="8049"/>
              <a:ext cx="441461" cy="266633"/>
            </a:xfrm>
            <a:prstGeom prst="rect">
              <a:avLst/>
            </a:prstGeom>
          </p:spPr>
          <p:txBody>
            <a:bodyPr anchor="ctr" rtlCol="false" tIns="30336" lIns="30336" bIns="30336" rIns="30336"/>
            <a:lstStyle/>
            <a:p>
              <a:pPr algn="ctr" marL="0" indent="0" lvl="0">
                <a:lnSpc>
                  <a:spcPts val="2240"/>
                </a:lnSpc>
              </a:pPr>
            </a:p>
          </p:txBody>
        </p:sp>
      </p:grpSp>
      <p:grpSp>
        <p:nvGrpSpPr>
          <p:cNvPr name="Group 84" id="84"/>
          <p:cNvGrpSpPr/>
          <p:nvPr/>
        </p:nvGrpSpPr>
        <p:grpSpPr>
          <a:xfrm rot="-10800000">
            <a:off x="6775102" y="6826047"/>
            <a:ext cx="848221" cy="848221"/>
            <a:chOff x="0" y="0"/>
            <a:chExt cx="812800" cy="8128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6" id="8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30336" lIns="30336" bIns="30336" rIns="30336"/>
            <a:lstStyle/>
            <a:p>
              <a:pPr algn="ctr" marL="0" indent="0" lvl="0">
                <a:lnSpc>
                  <a:spcPts val="2240"/>
                </a:lnSpc>
              </a:pPr>
            </a:p>
          </p:txBody>
        </p:sp>
      </p:grpSp>
      <p:sp>
        <p:nvSpPr>
          <p:cNvPr name="TextBox 87" id="87"/>
          <p:cNvSpPr txBox="true"/>
          <p:nvPr/>
        </p:nvSpPr>
        <p:spPr>
          <a:xfrm rot="0">
            <a:off x="5503762" y="8148945"/>
            <a:ext cx="3390900" cy="495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98"/>
              </a:lnSpc>
            </a:pPr>
            <a:r>
              <a:rPr lang="en-US" b="true" sz="14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Fase 6 — Módulo Clínico y Diagnóstico Multidisciplinario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5172341" y="8720476"/>
            <a:ext cx="4396959" cy="1148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18"/>
              </a:lnSpc>
            </a:pPr>
            <a:r>
              <a:rPr lang="en-US" sz="12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Objetivo: Implem</a:t>
            </a:r>
            <a:r>
              <a:rPr lang="en-US" sz="12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entar el Diagnóstico Multidisciplinario del Flujo 1: las áreas de Psicología, Trabajo Social y Enfermería acceden a la estancia para redactar diagnósticos, valoraciones, planes y notas. Es el módulo con autorización más fina (por área).</a:t>
            </a:r>
          </a:p>
        </p:txBody>
      </p:sp>
      <p:sp>
        <p:nvSpPr>
          <p:cNvPr name="Freeform 89" id="89"/>
          <p:cNvSpPr/>
          <p:nvPr/>
        </p:nvSpPr>
        <p:spPr>
          <a:xfrm flipH="false" flipV="false" rot="0">
            <a:off x="6950730" y="6982787"/>
            <a:ext cx="503939" cy="439086"/>
          </a:xfrm>
          <a:custGeom>
            <a:avLst/>
            <a:gdLst/>
            <a:ahLst/>
            <a:cxnLst/>
            <a:rect r="r" b="b" t="t" l="l"/>
            <a:pathLst>
              <a:path h="439086" w="503939">
                <a:moveTo>
                  <a:pt x="0" y="0"/>
                </a:moveTo>
                <a:lnTo>
                  <a:pt x="503939" y="0"/>
                </a:lnTo>
                <a:lnTo>
                  <a:pt x="503939" y="439086"/>
                </a:lnTo>
                <a:lnTo>
                  <a:pt x="0" y="4390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90" id="90"/>
          <p:cNvGrpSpPr/>
          <p:nvPr/>
        </p:nvGrpSpPr>
        <p:grpSpPr>
          <a:xfrm rot="-10800000">
            <a:off x="15577263" y="6576934"/>
            <a:ext cx="1073674" cy="1073674"/>
            <a:chOff x="0" y="0"/>
            <a:chExt cx="812800" cy="8128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4A0"/>
            </a:solidFill>
          </p:spPr>
        </p:sp>
        <p:sp>
          <p:nvSpPr>
            <p:cNvPr name="TextBox 92" id="9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30336" lIns="30336" bIns="30336" rIns="30336"/>
            <a:lstStyle/>
            <a:p>
              <a:pPr algn="ctr" marL="0" indent="0" lvl="0">
                <a:lnSpc>
                  <a:spcPts val="2240"/>
                </a:lnSpc>
              </a:pPr>
            </a:p>
          </p:txBody>
        </p:sp>
      </p:grpSp>
      <p:grpSp>
        <p:nvGrpSpPr>
          <p:cNvPr name="Group 93" id="93"/>
          <p:cNvGrpSpPr/>
          <p:nvPr/>
        </p:nvGrpSpPr>
        <p:grpSpPr>
          <a:xfrm rot="-10800000">
            <a:off x="15689990" y="6107202"/>
            <a:ext cx="848221" cy="677310"/>
            <a:chOff x="0" y="0"/>
            <a:chExt cx="642126" cy="512741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642126" cy="512741"/>
            </a:xfrm>
            <a:custGeom>
              <a:avLst/>
              <a:gdLst/>
              <a:ahLst/>
              <a:cxnLst/>
              <a:rect r="r" b="b" t="t" l="l"/>
              <a:pathLst>
                <a:path h="512741" w="642126">
                  <a:moveTo>
                    <a:pt x="321063" y="512741"/>
                  </a:moveTo>
                  <a:lnTo>
                    <a:pt x="642126" y="0"/>
                  </a:lnTo>
                  <a:lnTo>
                    <a:pt x="0" y="0"/>
                  </a:lnTo>
                  <a:lnTo>
                    <a:pt x="321063" y="512741"/>
                  </a:lnTo>
                  <a:close/>
                </a:path>
              </a:pathLst>
            </a:custGeom>
            <a:solidFill>
              <a:srgbClr val="FF94A0"/>
            </a:solidFill>
          </p:spPr>
        </p:sp>
        <p:sp>
          <p:nvSpPr>
            <p:cNvPr name="TextBox 95" id="95"/>
            <p:cNvSpPr txBox="true"/>
            <p:nvPr/>
          </p:nvSpPr>
          <p:spPr>
            <a:xfrm>
              <a:off x="100332" y="8049"/>
              <a:ext cx="441461" cy="266633"/>
            </a:xfrm>
            <a:prstGeom prst="rect">
              <a:avLst/>
            </a:prstGeom>
          </p:spPr>
          <p:txBody>
            <a:bodyPr anchor="ctr" rtlCol="false" tIns="30336" lIns="30336" bIns="30336" rIns="30336"/>
            <a:lstStyle/>
            <a:p>
              <a:pPr algn="ctr" marL="0" indent="0" lvl="0">
                <a:lnSpc>
                  <a:spcPts val="2240"/>
                </a:lnSpc>
              </a:pPr>
            </a:p>
          </p:txBody>
        </p:sp>
      </p:grpSp>
      <p:grpSp>
        <p:nvGrpSpPr>
          <p:cNvPr name="Group 96" id="96"/>
          <p:cNvGrpSpPr/>
          <p:nvPr/>
        </p:nvGrpSpPr>
        <p:grpSpPr>
          <a:xfrm rot="-10800000">
            <a:off x="15689990" y="6689661"/>
            <a:ext cx="848221" cy="848221"/>
            <a:chOff x="0" y="0"/>
            <a:chExt cx="812800" cy="8128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8" id="9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30336" lIns="30336" bIns="30336" rIns="30336"/>
            <a:lstStyle/>
            <a:p>
              <a:pPr algn="ctr" marL="0" indent="0" lvl="0">
                <a:lnSpc>
                  <a:spcPts val="2240"/>
                </a:lnSpc>
              </a:pPr>
            </a:p>
          </p:txBody>
        </p:sp>
      </p:grpSp>
      <p:sp>
        <p:nvSpPr>
          <p:cNvPr name="TextBox 99" id="99"/>
          <p:cNvSpPr txBox="true"/>
          <p:nvPr/>
        </p:nvSpPr>
        <p:spPr>
          <a:xfrm rot="0">
            <a:off x="14418651" y="7783959"/>
            <a:ext cx="3390900" cy="495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98"/>
              </a:lnSpc>
            </a:pPr>
            <a:r>
              <a:rPr lang="en-US" b="true" sz="14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Fase 8 — Gestión Interna: Inventarios, Operación y Sistema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4255721" y="8351377"/>
            <a:ext cx="4032279" cy="1148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18"/>
              </a:lnSpc>
            </a:pPr>
            <a:r>
              <a:rPr lang="en-US" sz="12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Objetivo: Impl</a:t>
            </a:r>
            <a:r>
              <a:rPr lang="en-US" sz="12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ementar el Flujo 2 (Gestión Interna): medicamentos, insumos, papelería/limpieza (inventarios con lotes y movimientos), checklists/inspecciones, y la capa transversal de auditoría, documentos y notificaciones. </a:t>
            </a:r>
          </a:p>
        </p:txBody>
      </p:sp>
      <p:sp>
        <p:nvSpPr>
          <p:cNvPr name="Freeform 101" id="101"/>
          <p:cNvSpPr/>
          <p:nvPr/>
        </p:nvSpPr>
        <p:spPr>
          <a:xfrm flipH="false" flipV="false" rot="0">
            <a:off x="15891282" y="6938626"/>
            <a:ext cx="438623" cy="438623"/>
          </a:xfrm>
          <a:custGeom>
            <a:avLst/>
            <a:gdLst/>
            <a:ahLst/>
            <a:cxnLst/>
            <a:rect r="r" b="b" t="t" l="l"/>
            <a:pathLst>
              <a:path h="438623" w="438623">
                <a:moveTo>
                  <a:pt x="0" y="0"/>
                </a:moveTo>
                <a:lnTo>
                  <a:pt x="438623" y="0"/>
                </a:lnTo>
                <a:lnTo>
                  <a:pt x="438623" y="438623"/>
                </a:lnTo>
                <a:lnTo>
                  <a:pt x="0" y="4386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8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200400" y="3406500"/>
            <a:ext cx="11887200" cy="5185791"/>
          </a:xfrm>
          <a:custGeom>
            <a:avLst/>
            <a:gdLst/>
            <a:ahLst/>
            <a:cxnLst/>
            <a:rect r="r" b="b" t="t" l="l"/>
            <a:pathLst>
              <a:path h="5185791" w="11887200">
                <a:moveTo>
                  <a:pt x="0" y="0"/>
                </a:moveTo>
                <a:lnTo>
                  <a:pt x="11887200" y="0"/>
                </a:lnTo>
                <a:lnTo>
                  <a:pt x="11887200" y="5185791"/>
                </a:lnTo>
                <a:lnTo>
                  <a:pt x="0" y="51857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084983" y="4170706"/>
            <a:ext cx="4151058" cy="4143511"/>
          </a:xfrm>
          <a:custGeom>
            <a:avLst/>
            <a:gdLst/>
            <a:ahLst/>
            <a:cxnLst/>
            <a:rect r="r" b="b" t="t" l="l"/>
            <a:pathLst>
              <a:path h="4143511" w="4151058">
                <a:moveTo>
                  <a:pt x="0" y="0"/>
                </a:moveTo>
                <a:lnTo>
                  <a:pt x="4151058" y="0"/>
                </a:lnTo>
                <a:lnTo>
                  <a:pt x="4151058" y="4143511"/>
                </a:lnTo>
                <a:lnTo>
                  <a:pt x="0" y="41435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9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435871" y="4246764"/>
            <a:ext cx="3449281" cy="344928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88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120135" y="3916579"/>
            <a:ext cx="1756179" cy="314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6"/>
              </a:lnSpc>
            </a:pPr>
            <a:r>
              <a:rPr lang="en-US" b="true" sz="186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Rutas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528488" y="3901238"/>
            <a:ext cx="1613023" cy="314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6"/>
              </a:lnSpc>
            </a:pPr>
            <a:r>
              <a:rPr lang="en-US" b="true" sz="186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</a:t>
            </a:r>
            <a:r>
              <a:rPr lang="en-US" b="true" sz="186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oles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025948" y="7567533"/>
            <a:ext cx="1626750" cy="638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6"/>
              </a:lnSpc>
            </a:pPr>
            <a:r>
              <a:rPr lang="en-US" b="true" sz="186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Domain /Models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671447" y="7567533"/>
            <a:ext cx="1739353" cy="638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6"/>
              </a:lnSpc>
            </a:pPr>
            <a:r>
              <a:rPr lang="en-US" b="true" sz="186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Domain /Services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585208" y="5823018"/>
            <a:ext cx="1465888" cy="314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6"/>
              </a:lnSpc>
            </a:pPr>
            <a:r>
              <a:rPr lang="en-US" b="true" sz="186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Controllers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133651" y="5661093"/>
            <a:ext cx="1570985" cy="638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6"/>
              </a:lnSpc>
            </a:pPr>
            <a:r>
              <a:rPr lang="en-US" b="true" sz="186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Policies Gates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46898" y="5590313"/>
            <a:ext cx="2333625" cy="789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54"/>
              </a:lnSpc>
            </a:pPr>
            <a:r>
              <a:rPr lang="en-US" sz="153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Lógica de presentación y validación. Orquesta servicios de dominio.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249525" y="5456963"/>
            <a:ext cx="2333625" cy="1056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54"/>
              </a:lnSpc>
            </a:pPr>
            <a:r>
              <a:rPr lang="en-US" sz="153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Gates y Policies por recurso. Control granular de acceso por rol.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46833" y="7363402"/>
            <a:ext cx="2333625" cy="1056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54"/>
              </a:lnSpc>
            </a:pPr>
            <a:r>
              <a:rPr lang="en-US" sz="153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Entidades del dominio. Relaciones Eloquent ORM sobre PostgreSQL 12.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666422" y="7363402"/>
            <a:ext cx="2333625" cy="1056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54"/>
              </a:lnSpc>
            </a:pPr>
            <a:r>
              <a:rPr lang="en-US" sz="153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Lógica de negocio desacoplada. Servicios reutilizables entre módulos.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46833" y="3417173"/>
            <a:ext cx="2333625" cy="132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54"/>
              </a:lnSpc>
            </a:pPr>
            <a:r>
              <a:rPr lang="en-US" sz="153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Enrutamiento HTTP por módulo funcional. Middleware de autenticación y permisos.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666422" y="3550523"/>
            <a:ext cx="2333625" cy="1056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54"/>
              </a:lnSpc>
            </a:pPr>
            <a:r>
              <a:rPr lang="en-US" sz="153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Roles: Admin, Trabajo Social, Psicología, Médico, Cocina, Seguridad, Dirección.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053602" y="628650"/>
            <a:ext cx="12033998" cy="73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11"/>
              </a:lnSpc>
            </a:pPr>
            <a:r>
              <a:rPr lang="en-US" b="true" sz="5009">
                <a:solidFill>
                  <a:srgbClr val="14057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Arquitectura — Domain-Driven Design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053602" y="1646353"/>
            <a:ext cx="12033998" cy="273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76"/>
              </a:lnSpc>
            </a:pPr>
            <a:r>
              <a:rPr lang="en-US" sz="16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Estructura en capas del sistema Ajoolnaj · Sistema de Gestión Institucional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999417" y="4808750"/>
            <a:ext cx="2325310" cy="2325310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95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88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8798830" y="5641041"/>
            <a:ext cx="756110" cy="727616"/>
          </a:xfrm>
          <a:custGeom>
            <a:avLst/>
            <a:gdLst/>
            <a:ahLst/>
            <a:cxnLst/>
            <a:rect r="r" b="b" t="t" l="l"/>
            <a:pathLst>
              <a:path h="727616" w="756110">
                <a:moveTo>
                  <a:pt x="0" y="0"/>
                </a:moveTo>
                <a:lnTo>
                  <a:pt x="756109" y="0"/>
                </a:lnTo>
                <a:lnTo>
                  <a:pt x="756109" y="727616"/>
                </a:lnTo>
                <a:lnTo>
                  <a:pt x="0" y="7276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5775809" y="3807783"/>
            <a:ext cx="600546" cy="570347"/>
          </a:xfrm>
          <a:custGeom>
            <a:avLst/>
            <a:gdLst/>
            <a:ahLst/>
            <a:cxnLst/>
            <a:rect r="r" b="b" t="t" l="l"/>
            <a:pathLst>
              <a:path h="570347" w="600546">
                <a:moveTo>
                  <a:pt x="0" y="0"/>
                </a:moveTo>
                <a:lnTo>
                  <a:pt x="600546" y="0"/>
                </a:lnTo>
                <a:lnTo>
                  <a:pt x="600546" y="570346"/>
                </a:lnTo>
                <a:lnTo>
                  <a:pt x="0" y="5703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1850590" y="3690097"/>
            <a:ext cx="593115" cy="775036"/>
          </a:xfrm>
          <a:custGeom>
            <a:avLst/>
            <a:gdLst/>
            <a:ahLst/>
            <a:cxnLst/>
            <a:rect r="r" b="b" t="t" l="l"/>
            <a:pathLst>
              <a:path h="775036" w="593115">
                <a:moveTo>
                  <a:pt x="0" y="0"/>
                </a:moveTo>
                <a:lnTo>
                  <a:pt x="593115" y="0"/>
                </a:lnTo>
                <a:lnTo>
                  <a:pt x="593115" y="775036"/>
                </a:lnTo>
                <a:lnTo>
                  <a:pt x="0" y="77503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1986759" y="7605633"/>
            <a:ext cx="600983" cy="600983"/>
          </a:xfrm>
          <a:custGeom>
            <a:avLst/>
            <a:gdLst/>
            <a:ahLst/>
            <a:cxnLst/>
            <a:rect r="r" b="b" t="t" l="l"/>
            <a:pathLst>
              <a:path h="600983" w="600983">
                <a:moveTo>
                  <a:pt x="0" y="0"/>
                </a:moveTo>
                <a:lnTo>
                  <a:pt x="600982" y="0"/>
                </a:lnTo>
                <a:lnTo>
                  <a:pt x="600982" y="600983"/>
                </a:lnTo>
                <a:lnTo>
                  <a:pt x="0" y="60098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5322956" y="5704822"/>
            <a:ext cx="600983" cy="607454"/>
          </a:xfrm>
          <a:custGeom>
            <a:avLst/>
            <a:gdLst/>
            <a:ahLst/>
            <a:cxnLst/>
            <a:rect r="r" b="b" t="t" l="l"/>
            <a:pathLst>
              <a:path h="607454" w="600983">
                <a:moveTo>
                  <a:pt x="0" y="0"/>
                </a:moveTo>
                <a:lnTo>
                  <a:pt x="600983" y="0"/>
                </a:lnTo>
                <a:lnTo>
                  <a:pt x="600983" y="607454"/>
                </a:lnTo>
                <a:lnTo>
                  <a:pt x="0" y="60745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5799408" y="7622035"/>
            <a:ext cx="569830" cy="596681"/>
          </a:xfrm>
          <a:custGeom>
            <a:avLst/>
            <a:gdLst/>
            <a:ahLst/>
            <a:cxnLst/>
            <a:rect r="r" b="b" t="t" l="l"/>
            <a:pathLst>
              <a:path h="596681" w="569830">
                <a:moveTo>
                  <a:pt x="0" y="0"/>
                </a:moveTo>
                <a:lnTo>
                  <a:pt x="569830" y="0"/>
                </a:lnTo>
                <a:lnTo>
                  <a:pt x="569830" y="596680"/>
                </a:lnTo>
                <a:lnTo>
                  <a:pt x="0" y="59668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2458308" y="5718788"/>
            <a:ext cx="613002" cy="602967"/>
          </a:xfrm>
          <a:custGeom>
            <a:avLst/>
            <a:gdLst/>
            <a:ahLst/>
            <a:cxnLst/>
            <a:rect r="r" b="b" t="t" l="l"/>
            <a:pathLst>
              <a:path h="602967" w="613002">
                <a:moveTo>
                  <a:pt x="0" y="0"/>
                </a:moveTo>
                <a:lnTo>
                  <a:pt x="613002" y="0"/>
                </a:lnTo>
                <a:lnTo>
                  <a:pt x="613002" y="602967"/>
                </a:lnTo>
                <a:lnTo>
                  <a:pt x="0" y="60296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8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52600" y="4485906"/>
            <a:ext cx="14782800" cy="3011995"/>
          </a:xfrm>
          <a:custGeom>
            <a:avLst/>
            <a:gdLst/>
            <a:ahLst/>
            <a:cxnLst/>
            <a:rect r="r" b="b" t="t" l="l"/>
            <a:pathLst>
              <a:path h="3011995" w="14782800">
                <a:moveTo>
                  <a:pt x="0" y="0"/>
                </a:moveTo>
                <a:lnTo>
                  <a:pt x="14782800" y="0"/>
                </a:lnTo>
                <a:lnTo>
                  <a:pt x="14782800" y="3011995"/>
                </a:lnTo>
                <a:lnTo>
                  <a:pt x="0" y="30119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41656" y="7469326"/>
            <a:ext cx="3200400" cy="297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</a:pPr>
            <a:r>
              <a:rPr lang="en-US" b="true" sz="17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Alexander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467600" y="7469326"/>
            <a:ext cx="3276600" cy="297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</a:pPr>
            <a:r>
              <a:rPr lang="en-US" b="true" sz="17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Max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435603" y="7469326"/>
            <a:ext cx="3208744" cy="297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</a:pPr>
            <a:r>
              <a:rPr lang="en-US" b="true" sz="17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Integración (DEV)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631637" y="3258182"/>
            <a:ext cx="3124200" cy="297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</a:pPr>
            <a:r>
              <a:rPr lang="en-US" b="true" sz="17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David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533781" y="3258182"/>
            <a:ext cx="3124200" cy="297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</a:pPr>
            <a:r>
              <a:rPr lang="en-US" b="true" sz="17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Salomón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41656" y="7889966"/>
            <a:ext cx="3200400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80"/>
              </a:lnSpc>
            </a:pP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Branch: feature/alexander</a:t>
            </a:r>
          </a:p>
          <a:p>
            <a:pPr algn="ctr" marL="0" indent="0" lvl="0">
              <a:lnSpc>
                <a:spcPts val="1680"/>
              </a:lnSpc>
            </a:pP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Rol: QA / Testing / Frontend</a:t>
            </a:r>
          </a:p>
          <a:p>
            <a:pPr algn="ctr" marL="0" indent="0" lvl="0">
              <a:lnSpc>
                <a:spcPts val="1680"/>
              </a:lnSpc>
            </a:pP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Realiza pruebas al sistema para detectar errores, validar funcionalidades y asegurar la calidad del software.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467600" y="7889966"/>
            <a:ext cx="3276600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80"/>
              </a:lnSpc>
            </a:pP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Branch: feature/max</a:t>
            </a:r>
          </a:p>
          <a:p>
            <a:pPr algn="ctr" marL="0" indent="0" lvl="0">
              <a:lnSpc>
                <a:spcPts val="1680"/>
              </a:lnSpc>
            </a:pP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Rol: Backend Dev</a:t>
            </a:r>
          </a:p>
          <a:p>
            <a:pPr algn="ctr" marL="0" indent="0" lvl="0">
              <a:lnSpc>
                <a:spcPts val="1680"/>
              </a:lnSpc>
            </a:pP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Desarrolla la lógica interna del sistema, manejo de servidores, APIs, autenticación y comunicación con la base de datos.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435603" y="7889966"/>
            <a:ext cx="3208744" cy="826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80"/>
              </a:lnSpc>
            </a:pP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Branch: DEV</a:t>
            </a:r>
          </a:p>
          <a:p>
            <a:pPr algn="ctr" marL="0" indent="0" lvl="0">
              <a:lnSpc>
                <a:spcPts val="1680"/>
              </a:lnSpc>
            </a:pP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Rol: Tech Lead</a:t>
            </a:r>
          </a:p>
          <a:p>
            <a:pPr algn="ctr" marL="0" indent="0" lvl="0">
              <a:lnSpc>
                <a:spcPts val="1680"/>
              </a:lnSpc>
            </a:pP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Integración continua, revisión de PRs y merge final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631637" y="3678821"/>
            <a:ext cx="3124200" cy="1245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80"/>
              </a:lnSpc>
            </a:pP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Branch: feature/david</a:t>
            </a:r>
          </a:p>
          <a:p>
            <a:pPr algn="ctr" marL="0" indent="0" lvl="0">
              <a:lnSpc>
                <a:spcPts val="1680"/>
              </a:lnSpc>
            </a:pP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Rol:  Product Owner / Analista / Backend</a:t>
            </a:r>
          </a:p>
          <a:p>
            <a:pPr algn="ctr" marL="0" indent="0" lvl="0">
              <a:lnSpc>
                <a:spcPts val="1680"/>
              </a:lnSpc>
            </a:pP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Define los requisitos y necesidades del sistema, organiza funcionalidades y sirve como enlace entre el cliente y el equipo de desarrollo.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533781" y="3678821"/>
            <a:ext cx="3124200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80"/>
              </a:lnSpc>
            </a:pP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Branch: feature/salomon</a:t>
            </a:r>
          </a:p>
          <a:p>
            <a:pPr algn="ctr" marL="0" indent="0" lvl="0">
              <a:lnSpc>
                <a:spcPts val="1680"/>
              </a:lnSpc>
            </a:pP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Rol: UI/UX Designer / Frontend</a:t>
            </a:r>
          </a:p>
          <a:p>
            <a:pPr algn="ctr" marL="0" indent="0" lvl="0">
              <a:lnSpc>
                <a:spcPts val="1680"/>
              </a:lnSpc>
            </a:pP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Desarrolla la parte visual e interactiva del sistema que utiliza el usuario, conectando el diseño con las funcionalidades.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053602" y="628650"/>
            <a:ext cx="12033998" cy="828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91"/>
              </a:lnSpc>
            </a:pPr>
            <a:r>
              <a:rPr lang="en-US" b="true" sz="5596">
                <a:solidFill>
                  <a:srgbClr val="14057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Equipo de Desarrollo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053602" y="1636828"/>
            <a:ext cx="12033998" cy="274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04"/>
              </a:lnSpc>
            </a:pPr>
            <a:r>
              <a:rPr lang="en-US" sz="157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Ajoolnaj · Sistema de Gestión Institucional — Roles, ramas Git y responsabilidades del equipo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2433100" y="5213193"/>
            <a:ext cx="1617511" cy="1614570"/>
          </a:xfrm>
          <a:custGeom>
            <a:avLst/>
            <a:gdLst/>
            <a:ahLst/>
            <a:cxnLst/>
            <a:rect r="r" b="b" t="t" l="l"/>
            <a:pathLst>
              <a:path h="1614570" w="1617511">
                <a:moveTo>
                  <a:pt x="0" y="0"/>
                </a:moveTo>
                <a:lnTo>
                  <a:pt x="1617512" y="0"/>
                </a:lnTo>
                <a:lnTo>
                  <a:pt x="1617512" y="1614571"/>
                </a:lnTo>
                <a:lnTo>
                  <a:pt x="0" y="16145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5384981" y="5213193"/>
            <a:ext cx="1617511" cy="1614570"/>
          </a:xfrm>
          <a:custGeom>
            <a:avLst/>
            <a:gdLst/>
            <a:ahLst/>
            <a:cxnLst/>
            <a:rect r="r" b="b" t="t" l="l"/>
            <a:pathLst>
              <a:path h="1614570" w="1617511">
                <a:moveTo>
                  <a:pt x="0" y="0"/>
                </a:moveTo>
                <a:lnTo>
                  <a:pt x="1617511" y="0"/>
                </a:lnTo>
                <a:lnTo>
                  <a:pt x="1617511" y="1614571"/>
                </a:lnTo>
                <a:lnTo>
                  <a:pt x="0" y="16145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335244" y="5213193"/>
            <a:ext cx="1617511" cy="1614570"/>
          </a:xfrm>
          <a:custGeom>
            <a:avLst/>
            <a:gdLst/>
            <a:ahLst/>
            <a:cxnLst/>
            <a:rect r="r" b="b" t="t" l="l"/>
            <a:pathLst>
              <a:path h="1614570" w="1617511">
                <a:moveTo>
                  <a:pt x="0" y="0"/>
                </a:moveTo>
                <a:lnTo>
                  <a:pt x="1617512" y="0"/>
                </a:lnTo>
                <a:lnTo>
                  <a:pt x="1617512" y="1614571"/>
                </a:lnTo>
                <a:lnTo>
                  <a:pt x="0" y="16145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287125" y="5213193"/>
            <a:ext cx="1617511" cy="1614570"/>
          </a:xfrm>
          <a:custGeom>
            <a:avLst/>
            <a:gdLst/>
            <a:ahLst/>
            <a:cxnLst/>
            <a:rect r="r" b="b" t="t" l="l"/>
            <a:pathLst>
              <a:path h="1614570" w="1617511">
                <a:moveTo>
                  <a:pt x="0" y="0"/>
                </a:moveTo>
                <a:lnTo>
                  <a:pt x="1617511" y="0"/>
                </a:lnTo>
                <a:lnTo>
                  <a:pt x="1617511" y="1614571"/>
                </a:lnTo>
                <a:lnTo>
                  <a:pt x="0" y="16145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231219" y="5213193"/>
            <a:ext cx="1617511" cy="1614570"/>
          </a:xfrm>
          <a:custGeom>
            <a:avLst/>
            <a:gdLst/>
            <a:ahLst/>
            <a:cxnLst/>
            <a:rect r="r" b="b" t="t" l="l"/>
            <a:pathLst>
              <a:path h="1614570" w="1617511">
                <a:moveTo>
                  <a:pt x="0" y="0"/>
                </a:moveTo>
                <a:lnTo>
                  <a:pt x="1617512" y="0"/>
                </a:lnTo>
                <a:lnTo>
                  <a:pt x="1617512" y="1614571"/>
                </a:lnTo>
                <a:lnTo>
                  <a:pt x="0" y="16145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2569828" y="5242830"/>
            <a:ext cx="1344055" cy="1344055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88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521709" y="5242830"/>
            <a:ext cx="1344055" cy="1344055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88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471972" y="5242830"/>
            <a:ext cx="1344055" cy="1344055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88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423853" y="5242830"/>
            <a:ext cx="1344055" cy="1344055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88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4367947" y="5242830"/>
            <a:ext cx="1344055" cy="1344055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88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8511588" y="5279348"/>
            <a:ext cx="1267466" cy="1269593"/>
          </a:xfrm>
          <a:custGeom>
            <a:avLst/>
            <a:gdLst/>
            <a:ahLst/>
            <a:cxnLst/>
            <a:rect r="r" b="b" t="t" l="l"/>
            <a:pathLst>
              <a:path h="1269593" w="1267466">
                <a:moveTo>
                  <a:pt x="0" y="0"/>
                </a:moveTo>
                <a:lnTo>
                  <a:pt x="1267467" y="0"/>
                </a:lnTo>
                <a:lnTo>
                  <a:pt x="1267467" y="1269593"/>
                </a:lnTo>
                <a:lnTo>
                  <a:pt x="0" y="12695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2869307" y="5469818"/>
            <a:ext cx="757900" cy="759363"/>
          </a:xfrm>
          <a:custGeom>
            <a:avLst/>
            <a:gdLst/>
            <a:ahLst/>
            <a:cxnLst/>
            <a:rect r="r" b="b" t="t" l="l"/>
            <a:pathLst>
              <a:path h="759363" w="757900">
                <a:moveTo>
                  <a:pt x="0" y="0"/>
                </a:moveTo>
                <a:lnTo>
                  <a:pt x="757900" y="0"/>
                </a:lnTo>
                <a:lnTo>
                  <a:pt x="757900" y="759363"/>
                </a:lnTo>
                <a:lnTo>
                  <a:pt x="0" y="7593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5794987" y="5370411"/>
            <a:ext cx="801792" cy="767913"/>
          </a:xfrm>
          <a:custGeom>
            <a:avLst/>
            <a:gdLst/>
            <a:ahLst/>
            <a:cxnLst/>
            <a:rect r="r" b="b" t="t" l="l"/>
            <a:pathLst>
              <a:path h="767913" w="801792">
                <a:moveTo>
                  <a:pt x="0" y="0"/>
                </a:moveTo>
                <a:lnTo>
                  <a:pt x="801791" y="0"/>
                </a:lnTo>
                <a:lnTo>
                  <a:pt x="801791" y="767913"/>
                </a:lnTo>
                <a:lnTo>
                  <a:pt x="0" y="76791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1695453" y="5437036"/>
            <a:ext cx="823477" cy="831630"/>
          </a:xfrm>
          <a:custGeom>
            <a:avLst/>
            <a:gdLst/>
            <a:ahLst/>
            <a:cxnLst/>
            <a:rect r="r" b="b" t="t" l="l"/>
            <a:pathLst>
              <a:path h="831630" w="823477">
                <a:moveTo>
                  <a:pt x="0" y="0"/>
                </a:moveTo>
                <a:lnTo>
                  <a:pt x="823477" y="0"/>
                </a:lnTo>
                <a:lnTo>
                  <a:pt x="823477" y="831630"/>
                </a:lnTo>
                <a:lnTo>
                  <a:pt x="0" y="8316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4573802" y="5361575"/>
            <a:ext cx="930288" cy="921738"/>
          </a:xfrm>
          <a:custGeom>
            <a:avLst/>
            <a:gdLst/>
            <a:ahLst/>
            <a:cxnLst/>
            <a:rect r="r" b="b" t="t" l="l"/>
            <a:pathLst>
              <a:path h="921738" w="930288">
                <a:moveTo>
                  <a:pt x="0" y="0"/>
                </a:moveTo>
                <a:lnTo>
                  <a:pt x="930289" y="0"/>
                </a:lnTo>
                <a:lnTo>
                  <a:pt x="930289" y="921738"/>
                </a:lnTo>
                <a:lnTo>
                  <a:pt x="0" y="92173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822170">
            <a:off x="3000908" y="-2500263"/>
            <a:ext cx="6315455" cy="12888683"/>
          </a:xfrm>
          <a:custGeom>
            <a:avLst/>
            <a:gdLst/>
            <a:ahLst/>
            <a:cxnLst/>
            <a:rect r="r" b="b" t="t" l="l"/>
            <a:pathLst>
              <a:path h="12888683" w="6315455">
                <a:moveTo>
                  <a:pt x="0" y="0"/>
                </a:moveTo>
                <a:lnTo>
                  <a:pt x="6315455" y="0"/>
                </a:lnTo>
                <a:lnTo>
                  <a:pt x="6315455" y="12888684"/>
                </a:lnTo>
                <a:lnTo>
                  <a:pt x="0" y="128886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19692" y="8005672"/>
            <a:ext cx="2857500" cy="23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14"/>
              </a:lnSpc>
            </a:pPr>
            <a:r>
              <a:rPr lang="en-US" b="true" sz="143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#1 — Alta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19692" y="8494168"/>
            <a:ext cx="2857500" cy="726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8"/>
              </a:lnSpc>
            </a:pPr>
            <a:r>
              <a:rPr lang="en-US" sz="14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CRUD Inventarios</a:t>
            </a:r>
          </a:p>
          <a:p>
            <a:pPr algn="l" marL="0" indent="0" lvl="0">
              <a:lnSpc>
                <a:spcPts val="1968"/>
              </a:lnSpc>
            </a:pPr>
            <a:r>
              <a:rPr lang="en-US" sz="14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Depende: Modelos base, roles.</a:t>
            </a:r>
          </a:p>
          <a:p>
            <a:pPr algn="l" marL="0" indent="0" lvl="0">
              <a:lnSpc>
                <a:spcPts val="1968"/>
              </a:lnSpc>
            </a:pPr>
            <a:r>
              <a:rPr lang="en-US" sz="14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Alta Prioridad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704669" y="7053172"/>
            <a:ext cx="2857500" cy="23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14"/>
              </a:lnSpc>
            </a:pPr>
            <a:r>
              <a:rPr lang="en-US" b="true" sz="143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#2 — Alta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989646" y="6100672"/>
            <a:ext cx="2857500" cy="23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14"/>
              </a:lnSpc>
            </a:pPr>
            <a:r>
              <a:rPr lang="en-US" b="true" sz="143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#3 — Media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274623" y="5148172"/>
            <a:ext cx="2857500" cy="23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14"/>
              </a:lnSpc>
            </a:pPr>
            <a:r>
              <a:rPr lang="en-US" b="true" sz="143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#4 — Baja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2724485" y="7878080"/>
            <a:ext cx="780715" cy="779739"/>
          </a:xfrm>
          <a:custGeom>
            <a:avLst/>
            <a:gdLst/>
            <a:ahLst/>
            <a:cxnLst/>
            <a:rect r="r" b="b" t="t" l="l"/>
            <a:pathLst>
              <a:path h="779739" w="780715">
                <a:moveTo>
                  <a:pt x="0" y="0"/>
                </a:moveTo>
                <a:lnTo>
                  <a:pt x="780715" y="0"/>
                </a:lnTo>
                <a:lnTo>
                  <a:pt x="780715" y="779739"/>
                </a:lnTo>
                <a:lnTo>
                  <a:pt x="0" y="7797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138802" y="5850738"/>
            <a:ext cx="559187" cy="557020"/>
          </a:xfrm>
          <a:custGeom>
            <a:avLst/>
            <a:gdLst/>
            <a:ahLst/>
            <a:cxnLst/>
            <a:rect r="r" b="b" t="t" l="l"/>
            <a:pathLst>
              <a:path h="557020" w="559187">
                <a:moveTo>
                  <a:pt x="0" y="0"/>
                </a:moveTo>
                <a:lnTo>
                  <a:pt x="559187" y="0"/>
                </a:lnTo>
                <a:lnTo>
                  <a:pt x="559187" y="557019"/>
                </a:lnTo>
                <a:lnTo>
                  <a:pt x="0" y="5570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192000" y="4935347"/>
            <a:ext cx="719470" cy="720371"/>
          </a:xfrm>
          <a:custGeom>
            <a:avLst/>
            <a:gdLst/>
            <a:ahLst/>
            <a:cxnLst/>
            <a:rect r="r" b="b" t="t" l="l"/>
            <a:pathLst>
              <a:path h="720371" w="719470">
                <a:moveTo>
                  <a:pt x="0" y="0"/>
                </a:moveTo>
                <a:lnTo>
                  <a:pt x="719470" y="0"/>
                </a:lnTo>
                <a:lnTo>
                  <a:pt x="719470" y="720371"/>
                </a:lnTo>
                <a:lnTo>
                  <a:pt x="0" y="7203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976979" y="6734256"/>
            <a:ext cx="780086" cy="693112"/>
          </a:xfrm>
          <a:custGeom>
            <a:avLst/>
            <a:gdLst/>
            <a:ahLst/>
            <a:cxnLst/>
            <a:rect r="r" b="b" t="t" l="l"/>
            <a:pathLst>
              <a:path h="693112" w="780086">
                <a:moveTo>
                  <a:pt x="0" y="0"/>
                </a:moveTo>
                <a:lnTo>
                  <a:pt x="780086" y="0"/>
                </a:lnTo>
                <a:lnTo>
                  <a:pt x="780086" y="693112"/>
                </a:lnTo>
                <a:lnTo>
                  <a:pt x="0" y="6931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704669" y="7541668"/>
            <a:ext cx="2857500" cy="726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8"/>
              </a:lnSpc>
            </a:pPr>
            <a:r>
              <a:rPr lang="en-US" sz="14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Requisiciones en campo de texto</a:t>
            </a:r>
          </a:p>
          <a:p>
            <a:pPr algn="l" marL="0" indent="0" lvl="0">
              <a:lnSpc>
                <a:spcPts val="1968"/>
              </a:lnSpc>
            </a:pPr>
            <a:r>
              <a:rPr lang="en-US" sz="14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Depende: Inventarios</a:t>
            </a:r>
          </a:p>
          <a:p>
            <a:pPr algn="l" marL="0" indent="0" lvl="0">
              <a:lnSpc>
                <a:spcPts val="1968"/>
              </a:lnSpc>
            </a:pPr>
            <a:r>
              <a:rPr lang="en-US" sz="14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Alta Prioridad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989646" y="6589168"/>
            <a:ext cx="2857500" cy="726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8"/>
              </a:lnSpc>
            </a:pPr>
            <a:r>
              <a:rPr lang="en-US" sz="14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Inspecciones por Turno</a:t>
            </a:r>
          </a:p>
          <a:p>
            <a:pPr algn="l" marL="0" indent="0" lvl="0">
              <a:lnSpc>
                <a:spcPts val="1968"/>
              </a:lnSpc>
            </a:pPr>
            <a:r>
              <a:rPr lang="en-US" sz="14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Depende: Usuarios, Roles</a:t>
            </a:r>
          </a:p>
          <a:p>
            <a:pPr algn="l" marL="0" indent="0" lvl="0">
              <a:lnSpc>
                <a:spcPts val="1968"/>
              </a:lnSpc>
            </a:pPr>
            <a:r>
              <a:rPr lang="en-US" sz="14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Media Prioridad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274623" y="5636668"/>
            <a:ext cx="2857500" cy="726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8"/>
              </a:lnSpc>
            </a:pPr>
            <a:r>
              <a:rPr lang="en-US" sz="14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Vista Móvil Responsiva</a:t>
            </a:r>
          </a:p>
          <a:p>
            <a:pPr algn="l" marL="0" indent="0" lvl="0">
              <a:lnSpc>
                <a:spcPts val="1968"/>
              </a:lnSpc>
            </a:pPr>
            <a:r>
              <a:rPr lang="en-US" sz="14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Depende: Vistas base</a:t>
            </a:r>
          </a:p>
          <a:p>
            <a:pPr algn="l" marL="0" indent="0" lvl="0">
              <a:lnSpc>
                <a:spcPts val="1968"/>
              </a:lnSpc>
            </a:pPr>
            <a:r>
              <a:rPr lang="en-US" sz="14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Baja Prioridad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772900" y="7877424"/>
            <a:ext cx="5486400" cy="759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32"/>
              </a:lnSpc>
            </a:pPr>
            <a:r>
              <a:rPr lang="en-US" b="true" sz="5200">
                <a:solidFill>
                  <a:srgbClr val="14057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Product Backlog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192000" y="8608690"/>
            <a:ext cx="5067300" cy="23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14"/>
              </a:lnSpc>
            </a:pPr>
            <a:r>
              <a:rPr lang="en-US" sz="143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Priorizadas por valor de negocio y dependencias técnicas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99999">
            <a:off x="5698077" y="3033399"/>
            <a:ext cx="2904915" cy="5293694"/>
          </a:xfrm>
          <a:custGeom>
            <a:avLst/>
            <a:gdLst/>
            <a:ahLst/>
            <a:cxnLst/>
            <a:rect r="r" b="b" t="t" l="l"/>
            <a:pathLst>
              <a:path h="5293694" w="2904915">
                <a:moveTo>
                  <a:pt x="0" y="0"/>
                </a:moveTo>
                <a:lnTo>
                  <a:pt x="2904915" y="0"/>
                </a:lnTo>
                <a:lnTo>
                  <a:pt x="2904915" y="5293694"/>
                </a:lnTo>
                <a:lnTo>
                  <a:pt x="0" y="5293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8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053602" y="638175"/>
            <a:ext cx="12033998" cy="77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185"/>
              </a:lnSpc>
            </a:pPr>
            <a:r>
              <a:rPr lang="en-US" b="true" sz="5332">
                <a:solidFill>
                  <a:srgbClr val="14057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Justificación Técnica de Prioridades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053602" y="1636828"/>
            <a:ext cx="12033998" cy="356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</a:pPr>
            <a:r>
              <a:rPr lang="en-US" sz="20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Criterios técnicos y de negocio que determinan el orden de implementación del backlog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600000">
            <a:off x="1669405" y="3445053"/>
            <a:ext cx="2907775" cy="5919399"/>
          </a:xfrm>
          <a:custGeom>
            <a:avLst/>
            <a:gdLst/>
            <a:ahLst/>
            <a:cxnLst/>
            <a:rect r="r" b="b" t="t" l="l"/>
            <a:pathLst>
              <a:path h="5919399" w="2907775">
                <a:moveTo>
                  <a:pt x="0" y="0"/>
                </a:moveTo>
                <a:lnTo>
                  <a:pt x="2907775" y="0"/>
                </a:lnTo>
                <a:lnTo>
                  <a:pt x="2907775" y="5919399"/>
                </a:lnTo>
                <a:lnTo>
                  <a:pt x="0" y="59193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-600000">
            <a:off x="1784618" y="5536427"/>
            <a:ext cx="2501696" cy="297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</a:pPr>
            <a:r>
              <a:rPr lang="en-US" b="true" sz="1798">
                <a:solidFill>
                  <a:srgbClr val="FCFDF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Alta Prioridad</a:t>
            </a:r>
          </a:p>
        </p:txBody>
      </p:sp>
      <p:sp>
        <p:nvSpPr>
          <p:cNvPr name="TextBox 8" id="8"/>
          <p:cNvSpPr txBox="true"/>
          <p:nvPr/>
        </p:nvSpPr>
        <p:spPr>
          <a:xfrm rot="-600000">
            <a:off x="1984605" y="6134673"/>
            <a:ext cx="2501696" cy="136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8"/>
              </a:lnSpc>
            </a:pPr>
            <a:r>
              <a:rPr lang="en-US" sz="1598">
                <a:solidFill>
                  <a:srgbClr val="FCFDFE"/>
                </a:solidFill>
                <a:latin typeface="Canva Sans"/>
                <a:ea typeface="Canva Sans"/>
                <a:cs typeface="Canva Sans"/>
                <a:sym typeface="Canva Sans"/>
              </a:rPr>
              <a:t>Dependencias en cadena que bloquean otras funcionalidades. Impacto operativo directo en el flujo diario del albergue.</a:t>
            </a:r>
          </a:p>
        </p:txBody>
      </p:sp>
      <p:sp>
        <p:nvSpPr>
          <p:cNvPr name="TextBox 9" id="9"/>
          <p:cNvSpPr txBox="true"/>
          <p:nvPr/>
        </p:nvSpPr>
        <p:spPr>
          <a:xfrm rot="-299999">
            <a:off x="5875785" y="4793934"/>
            <a:ext cx="2501696" cy="297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</a:pPr>
            <a:r>
              <a:rPr lang="en-US" b="true" sz="17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Media Prioridad</a:t>
            </a:r>
          </a:p>
        </p:txBody>
      </p:sp>
      <p:sp>
        <p:nvSpPr>
          <p:cNvPr name="TextBox 10" id="10"/>
          <p:cNvSpPr txBox="true"/>
          <p:nvPr/>
        </p:nvSpPr>
        <p:spPr>
          <a:xfrm rot="-299999">
            <a:off x="5988198" y="5404768"/>
            <a:ext cx="2501696" cy="1645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8"/>
              </a:lnSpc>
            </a:pPr>
            <a:r>
              <a:rPr lang="en-US" sz="15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Valor añadido significativo y reducción de deuda técnica. No bloquean el flujo principal pero mejoran la eficiencia.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-299999">
            <a:off x="6735893" y="3893979"/>
            <a:ext cx="631275" cy="589994"/>
          </a:xfrm>
          <a:custGeom>
            <a:avLst/>
            <a:gdLst/>
            <a:ahLst/>
            <a:cxnLst/>
            <a:rect r="r" b="b" t="t" l="l"/>
            <a:pathLst>
              <a:path h="589994" w="631275">
                <a:moveTo>
                  <a:pt x="0" y="0"/>
                </a:moveTo>
                <a:lnTo>
                  <a:pt x="631275" y="0"/>
                </a:lnTo>
                <a:lnTo>
                  <a:pt x="631275" y="589994"/>
                </a:lnTo>
                <a:lnTo>
                  <a:pt x="0" y="5899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170" r="0" b="-317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299999">
            <a:off x="9690503" y="3314327"/>
            <a:ext cx="2901162" cy="4728826"/>
          </a:xfrm>
          <a:custGeom>
            <a:avLst/>
            <a:gdLst/>
            <a:ahLst/>
            <a:cxnLst/>
            <a:rect r="r" b="b" t="t" l="l"/>
            <a:pathLst>
              <a:path h="4728826" w="2901162">
                <a:moveTo>
                  <a:pt x="0" y="0"/>
                </a:moveTo>
                <a:lnTo>
                  <a:pt x="2901162" y="0"/>
                </a:lnTo>
                <a:lnTo>
                  <a:pt x="2901162" y="4728826"/>
                </a:lnTo>
                <a:lnTo>
                  <a:pt x="0" y="47288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299999">
            <a:off x="9929780" y="4795619"/>
            <a:ext cx="2501696" cy="297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</a:pPr>
            <a:r>
              <a:rPr lang="en-US" b="true" sz="17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Baja Prioridad</a:t>
            </a:r>
          </a:p>
        </p:txBody>
      </p:sp>
      <p:sp>
        <p:nvSpPr>
          <p:cNvPr name="TextBox 14" id="14"/>
          <p:cNvSpPr txBox="true"/>
          <p:nvPr/>
        </p:nvSpPr>
        <p:spPr>
          <a:xfrm rot="299999">
            <a:off x="9829404" y="5406979"/>
            <a:ext cx="2501696" cy="136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8"/>
              </a:lnSpc>
            </a:pPr>
            <a:r>
              <a:rPr lang="en-US" sz="15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Mejoras independientes orientadas a UX. Sin dependencias críticas, pueden implementarse en sprints posteriores.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299999">
            <a:off x="10993837" y="3938773"/>
            <a:ext cx="608409" cy="619090"/>
          </a:xfrm>
          <a:custGeom>
            <a:avLst/>
            <a:gdLst/>
            <a:ahLst/>
            <a:cxnLst/>
            <a:rect r="r" b="b" t="t" l="l"/>
            <a:pathLst>
              <a:path h="619090" w="608409">
                <a:moveTo>
                  <a:pt x="0" y="0"/>
                </a:moveTo>
                <a:lnTo>
                  <a:pt x="608409" y="0"/>
                </a:lnTo>
                <a:lnTo>
                  <a:pt x="608409" y="619089"/>
                </a:lnTo>
                <a:lnTo>
                  <a:pt x="0" y="61908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1755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600000">
            <a:off x="13715733" y="4031984"/>
            <a:ext cx="2901623" cy="4747032"/>
          </a:xfrm>
          <a:custGeom>
            <a:avLst/>
            <a:gdLst/>
            <a:ahLst/>
            <a:cxnLst/>
            <a:rect r="r" b="b" t="t" l="l"/>
            <a:pathLst>
              <a:path h="4747032" w="2901623">
                <a:moveTo>
                  <a:pt x="0" y="0"/>
                </a:moveTo>
                <a:lnTo>
                  <a:pt x="2901623" y="0"/>
                </a:lnTo>
                <a:lnTo>
                  <a:pt x="2901623" y="4747032"/>
                </a:lnTo>
                <a:lnTo>
                  <a:pt x="0" y="47470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600000">
            <a:off x="14026351" y="5384175"/>
            <a:ext cx="2501696" cy="611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</a:pPr>
            <a:r>
              <a:rPr lang="en-US" b="true" sz="17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Criterios de</a:t>
            </a:r>
          </a:p>
          <a:p>
            <a:pPr algn="ctr" marL="0" indent="0" lvl="0">
              <a:lnSpc>
                <a:spcPts val="2518"/>
              </a:lnSpc>
            </a:pPr>
            <a:r>
              <a:rPr lang="en-US" b="true" sz="17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Evaluación</a:t>
            </a:r>
          </a:p>
        </p:txBody>
      </p:sp>
      <p:sp>
        <p:nvSpPr>
          <p:cNvPr name="TextBox 18" id="18"/>
          <p:cNvSpPr txBox="true"/>
          <p:nvPr/>
        </p:nvSpPr>
        <p:spPr>
          <a:xfrm rot="600000">
            <a:off x="13826364" y="6139583"/>
            <a:ext cx="2501696" cy="136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8"/>
              </a:lnSpc>
            </a:pPr>
            <a:r>
              <a:rPr lang="en-US" sz="15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Complejidad técnica, riesgo de integración, valor de negocio y dependencias entre módulos del sistema.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600000">
            <a:off x="15227219" y="4490201"/>
            <a:ext cx="455608" cy="618439"/>
          </a:xfrm>
          <a:custGeom>
            <a:avLst/>
            <a:gdLst/>
            <a:ahLst/>
            <a:cxnLst/>
            <a:rect r="r" b="b" t="t" l="l"/>
            <a:pathLst>
              <a:path h="618439" w="455608">
                <a:moveTo>
                  <a:pt x="0" y="0"/>
                </a:moveTo>
                <a:lnTo>
                  <a:pt x="455608" y="0"/>
                </a:lnTo>
                <a:lnTo>
                  <a:pt x="455608" y="618439"/>
                </a:lnTo>
                <a:lnTo>
                  <a:pt x="0" y="6184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600000">
            <a:off x="2426241" y="4260811"/>
            <a:ext cx="645977" cy="644774"/>
          </a:xfrm>
          <a:custGeom>
            <a:avLst/>
            <a:gdLst/>
            <a:ahLst/>
            <a:cxnLst/>
            <a:rect r="r" b="b" t="t" l="l"/>
            <a:pathLst>
              <a:path h="644774" w="645977">
                <a:moveTo>
                  <a:pt x="0" y="0"/>
                </a:moveTo>
                <a:lnTo>
                  <a:pt x="645976" y="0"/>
                </a:lnTo>
                <a:lnTo>
                  <a:pt x="645976" y="644773"/>
                </a:lnTo>
                <a:lnTo>
                  <a:pt x="0" y="64477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8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60010" y="3230874"/>
            <a:ext cx="3860115" cy="422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"/>
              </a:lnSpc>
            </a:pPr>
            <a:r>
              <a:rPr lang="en-US" b="true" sz="24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Duración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62635" y="3389960"/>
            <a:ext cx="3857625" cy="422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97"/>
              </a:lnSpc>
            </a:pPr>
            <a:r>
              <a:rPr lang="en-US" b="true" sz="24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Equipo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511419" y="5916205"/>
            <a:ext cx="3860115" cy="422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"/>
              </a:lnSpc>
            </a:pPr>
            <a:r>
              <a:rPr lang="en-US" b="true" sz="24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Capacidad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70979" y="5916205"/>
            <a:ext cx="3857625" cy="422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97"/>
              </a:lnSpc>
            </a:pPr>
            <a:r>
              <a:rPr lang="en-US" b="true" sz="24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Sprint Goal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60010" y="3719369"/>
            <a:ext cx="3860115" cy="763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8"/>
              </a:lnSpc>
            </a:pPr>
            <a:r>
              <a:rPr lang="en-US" sz="21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 semanas</a:t>
            </a:r>
          </a:p>
          <a:p>
            <a:pPr algn="l" marL="0" indent="0" lvl="0">
              <a:lnSpc>
                <a:spcPts val="3078"/>
              </a:lnSpc>
            </a:pPr>
            <a:r>
              <a:rPr lang="en-US" sz="21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(10 días hábiles)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62635" y="3878456"/>
            <a:ext cx="3857625" cy="763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78"/>
              </a:lnSpc>
            </a:pPr>
            <a:r>
              <a:rPr lang="en-US" sz="21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 desarrolladores</a:t>
            </a:r>
          </a:p>
          <a:p>
            <a:pPr algn="r" marL="0" indent="0" lvl="0">
              <a:lnSpc>
                <a:spcPts val="3078"/>
              </a:lnSpc>
            </a:pPr>
            <a:r>
              <a:rPr lang="en-US" sz="21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asignados al sprint master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11419" y="6404700"/>
            <a:ext cx="3860115" cy="763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8"/>
              </a:lnSpc>
            </a:pPr>
            <a:r>
              <a:rPr lang="en-US" sz="21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40 SP totales</a:t>
            </a:r>
          </a:p>
          <a:p>
            <a:pPr algn="l" marL="0" indent="0" lvl="0">
              <a:lnSpc>
                <a:spcPts val="3078"/>
              </a:lnSpc>
            </a:pPr>
            <a:r>
              <a:rPr lang="en-US" sz="21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(4 devs × 10 SP c/u)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70979" y="6404700"/>
            <a:ext cx="3857625" cy="763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78"/>
              </a:lnSpc>
            </a:pPr>
            <a:r>
              <a:rPr lang="en-US" sz="21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Fase 1 operativa</a:t>
            </a:r>
          </a:p>
          <a:p>
            <a:pPr algn="r" marL="0" indent="0" lvl="0">
              <a:lnSpc>
                <a:spcPts val="3078"/>
              </a:lnSpc>
            </a:pPr>
            <a:r>
              <a:rPr lang="en-US" sz="21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Flujo 2 completado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053602" y="628650"/>
            <a:ext cx="12033998" cy="828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91"/>
              </a:lnSpc>
            </a:pPr>
            <a:r>
              <a:rPr lang="en-US" b="true" sz="5596">
                <a:solidFill>
                  <a:srgbClr val="14057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 1 — Objetivo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053602" y="1636828"/>
            <a:ext cx="12033998" cy="356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</a:pPr>
            <a:r>
              <a:rPr lang="en-US" sz="20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Sistema de Gestión Institucional Ajoolnaj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3545636" y="3261238"/>
            <a:ext cx="908561" cy="1010908"/>
          </a:xfrm>
          <a:custGeom>
            <a:avLst/>
            <a:gdLst/>
            <a:ahLst/>
            <a:cxnLst/>
            <a:rect r="r" b="b" t="t" l="l"/>
            <a:pathLst>
              <a:path h="1010908" w="908561">
                <a:moveTo>
                  <a:pt x="0" y="0"/>
                </a:moveTo>
                <a:lnTo>
                  <a:pt x="908561" y="0"/>
                </a:lnTo>
                <a:lnTo>
                  <a:pt x="908561" y="1010908"/>
                </a:lnTo>
                <a:lnTo>
                  <a:pt x="0" y="10109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760796" y="5963830"/>
            <a:ext cx="932977" cy="931317"/>
          </a:xfrm>
          <a:custGeom>
            <a:avLst/>
            <a:gdLst/>
            <a:ahLst/>
            <a:cxnLst/>
            <a:rect r="r" b="b" t="t" l="l"/>
            <a:pathLst>
              <a:path h="931317" w="932977">
                <a:moveTo>
                  <a:pt x="0" y="0"/>
                </a:moveTo>
                <a:lnTo>
                  <a:pt x="932977" y="0"/>
                </a:lnTo>
                <a:lnTo>
                  <a:pt x="932977" y="931316"/>
                </a:lnTo>
                <a:lnTo>
                  <a:pt x="0" y="9313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495518" y="3492368"/>
            <a:ext cx="1246846" cy="1029354"/>
          </a:xfrm>
          <a:custGeom>
            <a:avLst/>
            <a:gdLst/>
            <a:ahLst/>
            <a:cxnLst/>
            <a:rect r="r" b="b" t="t" l="l"/>
            <a:pathLst>
              <a:path h="1029354" w="1246846">
                <a:moveTo>
                  <a:pt x="0" y="0"/>
                </a:moveTo>
                <a:lnTo>
                  <a:pt x="1246846" y="0"/>
                </a:lnTo>
                <a:lnTo>
                  <a:pt x="1246846" y="1029354"/>
                </a:lnTo>
                <a:lnTo>
                  <a:pt x="0" y="10293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3594227" y="5963830"/>
            <a:ext cx="811379" cy="805552"/>
          </a:xfrm>
          <a:custGeom>
            <a:avLst/>
            <a:gdLst/>
            <a:ahLst/>
            <a:cxnLst/>
            <a:rect r="r" b="b" t="t" l="l"/>
            <a:pathLst>
              <a:path h="805552" w="811379">
                <a:moveTo>
                  <a:pt x="0" y="0"/>
                </a:moveTo>
                <a:lnTo>
                  <a:pt x="811379" y="0"/>
                </a:lnTo>
                <a:lnTo>
                  <a:pt x="811379" y="805552"/>
                </a:lnTo>
                <a:lnTo>
                  <a:pt x="0" y="8055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2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970352" y="609600"/>
            <a:ext cx="11925062" cy="9114609"/>
            <a:chOff x="0" y="0"/>
            <a:chExt cx="995524" cy="7609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95524" cy="760903"/>
            </a:xfrm>
            <a:custGeom>
              <a:avLst/>
              <a:gdLst/>
              <a:ahLst/>
              <a:cxnLst/>
              <a:rect r="r" b="b" t="t" l="l"/>
              <a:pathLst>
                <a:path h="760903" w="995524">
                  <a:moveTo>
                    <a:pt x="995524" y="380451"/>
                  </a:moveTo>
                  <a:lnTo>
                    <a:pt x="589124" y="0"/>
                  </a:lnTo>
                  <a:lnTo>
                    <a:pt x="589124" y="203200"/>
                  </a:lnTo>
                  <a:lnTo>
                    <a:pt x="0" y="203200"/>
                  </a:lnTo>
                  <a:lnTo>
                    <a:pt x="0" y="557703"/>
                  </a:lnTo>
                  <a:lnTo>
                    <a:pt x="589124" y="557703"/>
                  </a:lnTo>
                  <a:lnTo>
                    <a:pt x="589124" y="760903"/>
                  </a:lnTo>
                  <a:lnTo>
                    <a:pt x="995524" y="380451"/>
                  </a:lnTo>
                  <a:close/>
                </a:path>
              </a:pathLst>
            </a:custGeom>
            <a:solidFill>
              <a:srgbClr val="CADBE8">
                <a:alpha val="24706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74625"/>
              <a:ext cx="893924" cy="383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781550" y="954172"/>
            <a:ext cx="1799946" cy="727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67"/>
              </a:lnSpc>
            </a:pPr>
            <a:r>
              <a:rPr lang="en-US" b="true" sz="211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CRUD Inventarios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368371" y="2874199"/>
            <a:ext cx="2744635" cy="727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67"/>
              </a:lnSpc>
            </a:pPr>
            <a:r>
              <a:rPr lang="en-US" b="true" sz="211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Requisiciones Multirenglón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020119" y="1054033"/>
            <a:ext cx="4971908" cy="594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34"/>
              </a:lnSpc>
            </a:pPr>
            <a:r>
              <a:rPr lang="en-US" sz="173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Responsable: Alexander · Story Points: 8 SP · Estado: Pendiente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00557" y="2954028"/>
            <a:ext cx="4971908" cy="594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34"/>
              </a:lnSpc>
            </a:pPr>
            <a:r>
              <a:rPr lang="en-US" sz="173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Responsable: David · Story Points: 5 SP · Estado: Pendiente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74511" y="4794226"/>
            <a:ext cx="2417516" cy="727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67"/>
              </a:lnSpc>
            </a:pPr>
            <a:r>
              <a:rPr lang="en-US" b="true" sz="211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Inspecciones por Turno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368371" y="6701236"/>
            <a:ext cx="2137702" cy="727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67"/>
              </a:lnSpc>
            </a:pPr>
            <a:r>
              <a:rPr lang="en-US" b="true" sz="211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Gestión de Usuarios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328934" y="8719882"/>
            <a:ext cx="1839097" cy="727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67"/>
              </a:lnSpc>
            </a:pPr>
            <a:r>
              <a:rPr lang="en-US" b="true" sz="211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Reportes Básicos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192000" y="4894087"/>
            <a:ext cx="4811869" cy="594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34"/>
              </a:lnSpc>
            </a:pPr>
            <a:r>
              <a:rPr lang="en-US" sz="173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Responsable: Max · Story Points: 5 SP · Estado: Pendiente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06046" y="6801097"/>
            <a:ext cx="4971908" cy="594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34"/>
              </a:lnSpc>
            </a:pPr>
            <a:r>
              <a:rPr lang="en-US" sz="173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Responsable: Salomón · Story Points: 5 SP · Estado: Pendiente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368371" y="8761148"/>
            <a:ext cx="4971908" cy="898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34"/>
              </a:lnSpc>
            </a:pPr>
            <a:r>
              <a:rPr lang="en-US" sz="173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Responsable: Alexander · Story Points: 4 SP · Estado:  Pendiente · Total Sprint: 27 SP — Capacidad: 67.5%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09600" y="3730180"/>
            <a:ext cx="5791200" cy="73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99"/>
              </a:lnSpc>
            </a:pPr>
            <a:r>
              <a:rPr lang="en-US" b="true" sz="4999">
                <a:solidFill>
                  <a:srgbClr val="14057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 Backlog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23850" y="4507039"/>
            <a:ext cx="5436926" cy="611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1"/>
              </a:lnSpc>
            </a:pPr>
            <a:r>
              <a:rPr lang="en-US" sz="179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Funcionalidades Seleccionadas · Total: 27 SP · 67.5% capacidad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3790909" y="910325"/>
            <a:ext cx="857291" cy="853004"/>
          </a:xfrm>
          <a:custGeom>
            <a:avLst/>
            <a:gdLst/>
            <a:ahLst/>
            <a:cxnLst/>
            <a:rect r="r" b="b" t="t" l="l"/>
            <a:pathLst>
              <a:path h="853004" w="857291">
                <a:moveTo>
                  <a:pt x="0" y="0"/>
                </a:moveTo>
                <a:lnTo>
                  <a:pt x="857291" y="0"/>
                </a:lnTo>
                <a:lnTo>
                  <a:pt x="857291" y="853004"/>
                </a:lnTo>
                <a:lnTo>
                  <a:pt x="0" y="8530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450345" y="8688255"/>
            <a:ext cx="828563" cy="828563"/>
          </a:xfrm>
          <a:custGeom>
            <a:avLst/>
            <a:gdLst/>
            <a:ahLst/>
            <a:cxnLst/>
            <a:rect r="r" b="b" t="t" l="l"/>
            <a:pathLst>
              <a:path h="828563" w="828563">
                <a:moveTo>
                  <a:pt x="0" y="0"/>
                </a:moveTo>
                <a:lnTo>
                  <a:pt x="828563" y="0"/>
                </a:lnTo>
                <a:lnTo>
                  <a:pt x="828563" y="828563"/>
                </a:lnTo>
                <a:lnTo>
                  <a:pt x="0" y="8285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334092" y="2788504"/>
            <a:ext cx="954982" cy="953635"/>
          </a:xfrm>
          <a:custGeom>
            <a:avLst/>
            <a:gdLst/>
            <a:ahLst/>
            <a:cxnLst/>
            <a:rect r="r" b="b" t="t" l="l"/>
            <a:pathLst>
              <a:path h="953635" w="954982">
                <a:moveTo>
                  <a:pt x="0" y="0"/>
                </a:moveTo>
                <a:lnTo>
                  <a:pt x="954982" y="0"/>
                </a:lnTo>
                <a:lnTo>
                  <a:pt x="954982" y="953635"/>
                </a:lnTo>
                <a:lnTo>
                  <a:pt x="0" y="9536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248855" y="4574393"/>
            <a:ext cx="1257218" cy="1261975"/>
          </a:xfrm>
          <a:custGeom>
            <a:avLst/>
            <a:gdLst/>
            <a:ahLst/>
            <a:cxnLst/>
            <a:rect r="r" b="b" t="t" l="l"/>
            <a:pathLst>
              <a:path h="1261975" w="1257218">
                <a:moveTo>
                  <a:pt x="0" y="0"/>
                </a:moveTo>
                <a:lnTo>
                  <a:pt x="1257218" y="0"/>
                </a:lnTo>
                <a:lnTo>
                  <a:pt x="1257218" y="1261974"/>
                </a:lnTo>
                <a:lnTo>
                  <a:pt x="0" y="12619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6326770" y="6602738"/>
            <a:ext cx="962304" cy="962304"/>
          </a:xfrm>
          <a:custGeom>
            <a:avLst/>
            <a:gdLst/>
            <a:ahLst/>
            <a:cxnLst/>
            <a:rect r="r" b="b" t="t" l="l"/>
            <a:pathLst>
              <a:path h="962304" w="962304">
                <a:moveTo>
                  <a:pt x="0" y="0"/>
                </a:moveTo>
                <a:lnTo>
                  <a:pt x="962304" y="0"/>
                </a:lnTo>
                <a:lnTo>
                  <a:pt x="962304" y="962304"/>
                </a:lnTo>
                <a:lnTo>
                  <a:pt x="0" y="9623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2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519372" y="2704588"/>
            <a:ext cx="4877824" cy="487782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66700" cap="sq">
              <a:solidFill>
                <a:srgbClr val="CADBE8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874388" y="4233881"/>
            <a:ext cx="2159778" cy="2165424"/>
          </a:xfrm>
          <a:custGeom>
            <a:avLst/>
            <a:gdLst/>
            <a:ahLst/>
            <a:cxnLst/>
            <a:rect r="r" b="b" t="t" l="l"/>
            <a:pathLst>
              <a:path h="2165424" w="2159778">
                <a:moveTo>
                  <a:pt x="0" y="0"/>
                </a:moveTo>
                <a:lnTo>
                  <a:pt x="2159778" y="0"/>
                </a:lnTo>
                <a:lnTo>
                  <a:pt x="2159778" y="2165425"/>
                </a:lnTo>
                <a:lnTo>
                  <a:pt x="0" y="21654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1000"/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024500" y="4382810"/>
            <a:ext cx="1867567" cy="1867567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95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4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09600" y="2705983"/>
            <a:ext cx="5436926" cy="3285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91"/>
              </a:lnSpc>
            </a:pPr>
            <a:r>
              <a:rPr lang="en-US" b="true" sz="5596">
                <a:solidFill>
                  <a:srgbClr val="14057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Justificación</a:t>
            </a:r>
          </a:p>
          <a:p>
            <a:pPr algn="l" marL="0" indent="0" lvl="0">
              <a:lnSpc>
                <a:spcPts val="6491"/>
              </a:lnSpc>
            </a:pPr>
            <a:r>
              <a:rPr lang="en-US" b="true" sz="5596">
                <a:solidFill>
                  <a:srgbClr val="14057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CRUD Inventarios</a:t>
            </a:r>
          </a:p>
          <a:p>
            <a:pPr algn="l" marL="0" indent="0" lvl="0">
              <a:lnSpc>
                <a:spcPts val="6491"/>
              </a:lnSpc>
            </a:pPr>
            <a:r>
              <a:rPr lang="en-US" b="true" sz="5596">
                <a:solidFill>
                  <a:srgbClr val="14057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(8 SP)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09600" y="6053227"/>
            <a:ext cx="5436926" cy="638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24"/>
              </a:lnSpc>
            </a:pPr>
            <a:r>
              <a:rPr lang="en-US" sz="187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Análisis técnico de complejidad y estimación de esfuerzo basado en criterios ágiles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34500" y="619125"/>
            <a:ext cx="3000375" cy="372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8"/>
              </a:lnSpc>
            </a:pPr>
            <a:r>
              <a:rPr lang="en-US" b="true" sz="21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COMPLEJIDAD — 8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34500" y="1021896"/>
            <a:ext cx="4324350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9"/>
              </a:lnSpc>
            </a:pPr>
            <a:r>
              <a:rPr lang="en-US" sz="1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Relaciones entre 6 tablas (inventario, categoría, ubicación, movimiento, usuario, albergue). Lógica de validación de stock mínimo y máximo con triggers en PostgreSQL.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801170" y="8426554"/>
            <a:ext cx="3000375" cy="372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8"/>
              </a:lnSpc>
            </a:pPr>
            <a:r>
              <a:rPr lang="en-US" b="true" sz="21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TRABAJO — 8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78947" y="8829324"/>
            <a:ext cx="4324350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9"/>
              </a:lnSpc>
            </a:pPr>
            <a:r>
              <a:rPr lang="en-US" sz="1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8 endpoints, 4 vistas Blade con tail, migraciones, seeders, policies, FormRequests, Resource Controllers y pruebas unitarias básicas.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230100" y="2638380"/>
            <a:ext cx="3000375" cy="372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8"/>
              </a:lnSpc>
            </a:pPr>
            <a:r>
              <a:rPr lang="en-US" b="true" sz="21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RIESGO — 6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230100" y="3041151"/>
            <a:ext cx="430530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9"/>
              </a:lnSpc>
            </a:pPr>
            <a:r>
              <a:rPr lang="en-US" sz="1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Integridad referencial crítica en el stock. Requiere políticas RBAC específicas por rol de usuario.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374880" y="6676890"/>
            <a:ext cx="3000375" cy="372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8"/>
              </a:lnSpc>
            </a:pPr>
            <a:r>
              <a:rPr lang="en-US" b="true" sz="21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Total Story Points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230100" y="7079661"/>
            <a:ext cx="43053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9"/>
              </a:lnSpc>
            </a:pPr>
            <a:r>
              <a:rPr lang="en-US" sz="1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27 SP asignados en Sprint 1 · Capacidad del equipo: 40 SP · Utilización: 67.5%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335000" y="4657635"/>
            <a:ext cx="3000375" cy="372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8"/>
              </a:lnSpc>
            </a:pPr>
            <a:r>
              <a:rPr lang="en-US" b="true" sz="21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INCERTIDUMBRE — 5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344525" y="5060406"/>
            <a:ext cx="434340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9"/>
              </a:lnSpc>
            </a:pPr>
            <a:r>
              <a:rPr lang="en-US" sz="1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Reglas de negocio del albergue aún en validación con el cliente. Posibles cambios en flujo de requisiciones que afectan el modelo.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8640611" y="4990073"/>
            <a:ext cx="627331" cy="776935"/>
          </a:xfrm>
          <a:custGeom>
            <a:avLst/>
            <a:gdLst/>
            <a:ahLst/>
            <a:cxnLst/>
            <a:rect r="r" b="b" t="t" l="l"/>
            <a:pathLst>
              <a:path h="776935" w="627331">
                <a:moveTo>
                  <a:pt x="0" y="0"/>
                </a:moveTo>
                <a:lnTo>
                  <a:pt x="627331" y="0"/>
                </a:lnTo>
                <a:lnTo>
                  <a:pt x="627331" y="776935"/>
                </a:lnTo>
                <a:lnTo>
                  <a:pt x="0" y="77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8289105" y="699913"/>
            <a:ext cx="888895" cy="892553"/>
          </a:xfrm>
          <a:custGeom>
            <a:avLst/>
            <a:gdLst/>
            <a:ahLst/>
            <a:cxnLst/>
            <a:rect r="r" b="b" t="t" l="l"/>
            <a:pathLst>
              <a:path h="892553" w="888895">
                <a:moveTo>
                  <a:pt x="0" y="0"/>
                </a:moveTo>
                <a:lnTo>
                  <a:pt x="888895" y="0"/>
                </a:lnTo>
                <a:lnTo>
                  <a:pt x="888895" y="892552"/>
                </a:lnTo>
                <a:lnTo>
                  <a:pt x="0" y="8925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1153265" y="2622270"/>
            <a:ext cx="992187" cy="875862"/>
          </a:xfrm>
          <a:custGeom>
            <a:avLst/>
            <a:gdLst/>
            <a:ahLst/>
            <a:cxnLst/>
            <a:rect r="r" b="b" t="t" l="l"/>
            <a:pathLst>
              <a:path h="875862" w="992187">
                <a:moveTo>
                  <a:pt x="0" y="0"/>
                </a:moveTo>
                <a:lnTo>
                  <a:pt x="992187" y="0"/>
                </a:lnTo>
                <a:lnTo>
                  <a:pt x="992187" y="875862"/>
                </a:lnTo>
                <a:lnTo>
                  <a:pt x="0" y="8758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8733552" y="8430137"/>
            <a:ext cx="888895" cy="1016407"/>
          </a:xfrm>
          <a:custGeom>
            <a:avLst/>
            <a:gdLst/>
            <a:ahLst/>
            <a:cxnLst/>
            <a:rect r="r" b="b" t="t" l="l"/>
            <a:pathLst>
              <a:path h="1016407" w="888895">
                <a:moveTo>
                  <a:pt x="0" y="0"/>
                </a:moveTo>
                <a:lnTo>
                  <a:pt x="888895" y="0"/>
                </a:lnTo>
                <a:lnTo>
                  <a:pt x="888895" y="1016407"/>
                </a:lnTo>
                <a:lnTo>
                  <a:pt x="0" y="101640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1263189" y="6712540"/>
            <a:ext cx="772341" cy="772341"/>
          </a:xfrm>
          <a:custGeom>
            <a:avLst/>
            <a:gdLst/>
            <a:ahLst/>
            <a:cxnLst/>
            <a:rect r="r" b="b" t="t" l="l"/>
            <a:pathLst>
              <a:path h="772341" w="772341">
                <a:moveTo>
                  <a:pt x="0" y="0"/>
                </a:moveTo>
                <a:lnTo>
                  <a:pt x="772340" y="0"/>
                </a:lnTo>
                <a:lnTo>
                  <a:pt x="772340" y="772341"/>
                </a:lnTo>
                <a:lnTo>
                  <a:pt x="0" y="77234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2230100" y="4695735"/>
            <a:ext cx="981891" cy="981891"/>
          </a:xfrm>
          <a:custGeom>
            <a:avLst/>
            <a:gdLst/>
            <a:ahLst/>
            <a:cxnLst/>
            <a:rect r="r" b="b" t="t" l="l"/>
            <a:pathLst>
              <a:path h="981891" w="981891">
                <a:moveTo>
                  <a:pt x="0" y="0"/>
                </a:moveTo>
                <a:lnTo>
                  <a:pt x="981891" y="0"/>
                </a:lnTo>
                <a:lnTo>
                  <a:pt x="981891" y="981891"/>
                </a:lnTo>
                <a:lnTo>
                  <a:pt x="0" y="98189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2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519372" y="2704588"/>
            <a:ext cx="4877824" cy="487782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66700" cap="sq">
              <a:solidFill>
                <a:srgbClr val="CADBE8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839946" y="4201276"/>
            <a:ext cx="2236676" cy="2232609"/>
          </a:xfrm>
          <a:custGeom>
            <a:avLst/>
            <a:gdLst/>
            <a:ahLst/>
            <a:cxnLst/>
            <a:rect r="r" b="b" t="t" l="l"/>
            <a:pathLst>
              <a:path h="2232609" w="2236676">
                <a:moveTo>
                  <a:pt x="0" y="0"/>
                </a:moveTo>
                <a:lnTo>
                  <a:pt x="2236676" y="0"/>
                </a:lnTo>
                <a:lnTo>
                  <a:pt x="2236676" y="2232609"/>
                </a:lnTo>
                <a:lnTo>
                  <a:pt x="0" y="22326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1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6302106" y="2474734"/>
            <a:ext cx="5312355" cy="5337532"/>
          </a:xfrm>
          <a:custGeom>
            <a:avLst/>
            <a:gdLst/>
            <a:ahLst/>
            <a:cxnLst/>
            <a:rect r="r" b="b" t="t" l="l"/>
            <a:pathLst>
              <a:path h="5337532" w="5312355">
                <a:moveTo>
                  <a:pt x="0" y="0"/>
                </a:moveTo>
                <a:lnTo>
                  <a:pt x="5312356" y="0"/>
                </a:lnTo>
                <a:lnTo>
                  <a:pt x="5312356" y="5337532"/>
                </a:lnTo>
                <a:lnTo>
                  <a:pt x="0" y="53375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09600" y="2705983"/>
            <a:ext cx="5436926" cy="3285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91"/>
              </a:lnSpc>
            </a:pPr>
            <a:r>
              <a:rPr lang="en-US" b="true" sz="5596">
                <a:solidFill>
                  <a:srgbClr val="14057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Justificación — Requisiciones TEXT-AREA (5 SP)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9600" y="6053227"/>
            <a:ext cx="5436926" cy="550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04"/>
              </a:lnSpc>
            </a:pPr>
            <a:r>
              <a:rPr lang="en-US" sz="157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Análisis de puntos de historia basado en cuatro dimensiones de estimación ágil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34500" y="609600"/>
            <a:ext cx="2857500" cy="389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8"/>
              </a:lnSpc>
            </a:pPr>
            <a:r>
              <a:rPr lang="en-US" b="true" sz="22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COMPLEJIDAD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34500" y="1021896"/>
            <a:ext cx="4324350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9"/>
              </a:lnSpc>
            </a:pPr>
            <a:r>
              <a:rPr lang="en-US" sz="1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Nivel 5 — Lógica de múltiples TEXTAREA con validaciones encadenadas por ID y cálculo dinámico de totales por categoría presupuestal.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34500" y="8686620"/>
            <a:ext cx="2857500" cy="389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8"/>
              </a:lnSpc>
            </a:pPr>
            <a:r>
              <a:rPr lang="en-US" b="true" sz="22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INCERTIDUMBRE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34500" y="9098916"/>
            <a:ext cx="4324350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9"/>
              </a:lnSpc>
            </a:pPr>
            <a:r>
              <a:rPr lang="en-US" sz="1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Nivel 3 — Requisitos funcionales bien definidos por el Product Owner, aunque la integración con el módulo de inventarios introduce variabilidad menor.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664493" y="2589894"/>
            <a:ext cx="2857500" cy="389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8"/>
              </a:lnSpc>
            </a:pPr>
            <a:r>
              <a:rPr lang="en-US" b="true" sz="22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RIESGO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64493" y="3002190"/>
            <a:ext cx="4305300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9"/>
              </a:lnSpc>
            </a:pPr>
            <a:r>
              <a:rPr lang="en-US" sz="1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Nivel 3 — Riesgo controlado. Dependencia directa con CRUD de Inventarios (8 SP) ya planificado. Posible retraso si el módulo base no se estabiliza a tiempo.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230100" y="6667365"/>
            <a:ext cx="2857500" cy="389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8"/>
              </a:lnSpc>
            </a:pPr>
            <a:r>
              <a:rPr lang="en-US" b="true" sz="22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TRABAJO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230100" y="7079661"/>
            <a:ext cx="4305300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9"/>
              </a:lnSpc>
            </a:pPr>
            <a:r>
              <a:rPr lang="en-US" sz="1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Nivel 6 — Implementación de formularios dinámicos, controladores con lógica de negocio, vistas Blade con Alpine.js y políticas Role-Based Access Control por rol de usuario.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335000" y="4648110"/>
            <a:ext cx="2857500" cy="389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8"/>
              </a:lnSpc>
            </a:pPr>
            <a:r>
              <a:rPr lang="en-US" b="true" sz="22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Total Estimado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335000" y="5060406"/>
            <a:ext cx="4343400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9"/>
              </a:lnSpc>
            </a:pPr>
            <a:r>
              <a:rPr lang="en-US" sz="1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 Story Points — Funcionalidad de complejidad media-baja con dependencia técnica en Inventarios. Prioridad Media en el Sprint Backlog. Responsable: David.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8262496" y="686929"/>
            <a:ext cx="973346" cy="952187"/>
          </a:xfrm>
          <a:custGeom>
            <a:avLst/>
            <a:gdLst/>
            <a:ahLst/>
            <a:cxnLst/>
            <a:rect r="r" b="b" t="t" l="l"/>
            <a:pathLst>
              <a:path h="952187" w="973346">
                <a:moveTo>
                  <a:pt x="0" y="0"/>
                </a:moveTo>
                <a:lnTo>
                  <a:pt x="973346" y="0"/>
                </a:lnTo>
                <a:lnTo>
                  <a:pt x="973346" y="952187"/>
                </a:lnTo>
                <a:lnTo>
                  <a:pt x="0" y="9521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1397196" y="2637519"/>
            <a:ext cx="1125041" cy="981891"/>
          </a:xfrm>
          <a:custGeom>
            <a:avLst/>
            <a:gdLst/>
            <a:ahLst/>
            <a:cxnLst/>
            <a:rect r="r" b="b" t="t" l="l"/>
            <a:pathLst>
              <a:path h="981891" w="1125041">
                <a:moveTo>
                  <a:pt x="0" y="0"/>
                </a:moveTo>
                <a:lnTo>
                  <a:pt x="1125041" y="0"/>
                </a:lnTo>
                <a:lnTo>
                  <a:pt x="1125041" y="981891"/>
                </a:lnTo>
                <a:lnTo>
                  <a:pt x="0" y="9818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190190" y="8783178"/>
            <a:ext cx="953810" cy="950244"/>
          </a:xfrm>
          <a:custGeom>
            <a:avLst/>
            <a:gdLst/>
            <a:ahLst/>
            <a:cxnLst/>
            <a:rect r="r" b="b" t="t" l="l"/>
            <a:pathLst>
              <a:path h="950244" w="953810">
                <a:moveTo>
                  <a:pt x="0" y="0"/>
                </a:moveTo>
                <a:lnTo>
                  <a:pt x="953810" y="0"/>
                </a:lnTo>
                <a:lnTo>
                  <a:pt x="953810" y="950244"/>
                </a:lnTo>
                <a:lnTo>
                  <a:pt x="0" y="9502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1173946" y="6751762"/>
            <a:ext cx="945119" cy="945119"/>
          </a:xfrm>
          <a:custGeom>
            <a:avLst/>
            <a:gdLst/>
            <a:ahLst/>
            <a:cxnLst/>
            <a:rect r="r" b="b" t="t" l="l"/>
            <a:pathLst>
              <a:path h="945119" w="945119">
                <a:moveTo>
                  <a:pt x="0" y="0"/>
                </a:moveTo>
                <a:lnTo>
                  <a:pt x="945119" y="0"/>
                </a:lnTo>
                <a:lnTo>
                  <a:pt x="945119" y="945119"/>
                </a:lnTo>
                <a:lnTo>
                  <a:pt x="0" y="9451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2242716" y="4695735"/>
            <a:ext cx="843554" cy="981891"/>
          </a:xfrm>
          <a:custGeom>
            <a:avLst/>
            <a:gdLst/>
            <a:ahLst/>
            <a:cxnLst/>
            <a:rect r="r" b="b" t="t" l="l"/>
            <a:pathLst>
              <a:path h="981891" w="843554">
                <a:moveTo>
                  <a:pt x="0" y="0"/>
                </a:moveTo>
                <a:lnTo>
                  <a:pt x="843554" y="0"/>
                </a:lnTo>
                <a:lnTo>
                  <a:pt x="843554" y="981891"/>
                </a:lnTo>
                <a:lnTo>
                  <a:pt x="0" y="98189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2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519372" y="2704588"/>
            <a:ext cx="4877824" cy="487782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66700" cap="sq">
              <a:solidFill>
                <a:srgbClr val="CADBE8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839946" y="4201276"/>
            <a:ext cx="2236676" cy="2232609"/>
          </a:xfrm>
          <a:custGeom>
            <a:avLst/>
            <a:gdLst/>
            <a:ahLst/>
            <a:cxnLst/>
            <a:rect r="r" b="b" t="t" l="l"/>
            <a:pathLst>
              <a:path h="2232609" w="2236676">
                <a:moveTo>
                  <a:pt x="0" y="0"/>
                </a:moveTo>
                <a:lnTo>
                  <a:pt x="2236676" y="0"/>
                </a:lnTo>
                <a:lnTo>
                  <a:pt x="2236676" y="2232609"/>
                </a:lnTo>
                <a:lnTo>
                  <a:pt x="0" y="22326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1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5954268" y="2323480"/>
            <a:ext cx="6008033" cy="5640041"/>
          </a:xfrm>
          <a:custGeom>
            <a:avLst/>
            <a:gdLst/>
            <a:ahLst/>
            <a:cxnLst/>
            <a:rect r="r" b="b" t="t" l="l"/>
            <a:pathLst>
              <a:path h="5640041" w="6008033">
                <a:moveTo>
                  <a:pt x="0" y="0"/>
                </a:moveTo>
                <a:lnTo>
                  <a:pt x="6008032" y="0"/>
                </a:lnTo>
                <a:lnTo>
                  <a:pt x="6008032" y="5640040"/>
                </a:lnTo>
                <a:lnTo>
                  <a:pt x="0" y="56400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09600" y="2705983"/>
            <a:ext cx="5436926" cy="3285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91"/>
              </a:lnSpc>
            </a:pPr>
            <a:r>
              <a:rPr lang="en-US" b="true" sz="5596">
                <a:solidFill>
                  <a:srgbClr val="14057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Justificación —</a:t>
            </a:r>
          </a:p>
          <a:p>
            <a:pPr algn="l" marL="0" indent="0" lvl="0">
              <a:lnSpc>
                <a:spcPts val="6491"/>
              </a:lnSpc>
            </a:pPr>
            <a:r>
              <a:rPr lang="en-US" b="true" sz="5596">
                <a:solidFill>
                  <a:srgbClr val="14057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Inspecciones</a:t>
            </a:r>
          </a:p>
          <a:p>
            <a:pPr algn="l" marL="0" indent="0" lvl="0">
              <a:lnSpc>
                <a:spcPts val="6491"/>
              </a:lnSpc>
            </a:pPr>
            <a:r>
              <a:rPr lang="en-US" b="true" sz="5596">
                <a:solidFill>
                  <a:srgbClr val="14057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por Turno</a:t>
            </a:r>
          </a:p>
          <a:p>
            <a:pPr algn="l" marL="0" indent="0" lvl="0">
              <a:lnSpc>
                <a:spcPts val="6491"/>
              </a:lnSpc>
            </a:pPr>
            <a:r>
              <a:rPr lang="en-US" b="true" sz="5596">
                <a:solidFill>
                  <a:srgbClr val="14057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(5 SP)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9600" y="6053227"/>
            <a:ext cx="5436926" cy="826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04"/>
              </a:lnSpc>
            </a:pPr>
            <a:r>
              <a:rPr lang="en-US" sz="157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Análisis técnico de complejidad, riesgo, trabajo e incertidumbre para la funcionalidad de inspecciones por turno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34500" y="609600"/>
            <a:ext cx="2857500" cy="389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8"/>
              </a:lnSpc>
            </a:pPr>
            <a:r>
              <a:rPr lang="en-US" b="true" sz="22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COMPLEJIDAD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34500" y="1021896"/>
            <a:ext cx="432435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9"/>
              </a:lnSpc>
            </a:pPr>
            <a:r>
              <a:rPr lang="en-US" sz="1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Valor: 5 — Lógica de turnos rotativos con validación de horarios, asignación dinámica de personal y registro histórico por turno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34500" y="8686620"/>
            <a:ext cx="2857500" cy="389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8"/>
              </a:lnSpc>
            </a:pPr>
            <a:r>
              <a:rPr lang="en-US" b="true" sz="22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INCERTIDUMBRE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34500" y="9098916"/>
            <a:ext cx="432435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9"/>
              </a:lnSpc>
            </a:pPr>
            <a:r>
              <a:rPr lang="en-US" sz="1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Valor: 2 — Requisitos de inspección bien definidos por el cliente, flujo de trabajo estable y casos de uso documentados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230100" y="2628855"/>
            <a:ext cx="2857500" cy="389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8"/>
              </a:lnSpc>
            </a:pPr>
            <a:r>
              <a:rPr lang="en-US" b="true" sz="22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TRABAJO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230100" y="3041151"/>
            <a:ext cx="430530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9"/>
              </a:lnSpc>
            </a:pPr>
            <a:r>
              <a:rPr lang="en-US" sz="1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Valor: 6 — Desarrollo de formularios de inspección, vistas por turno, reportes de hallazgos y notificaciones al supervisor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230100" y="6667365"/>
            <a:ext cx="2857500" cy="389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8"/>
              </a:lnSpc>
            </a:pPr>
            <a:r>
              <a:rPr lang="en-US" b="true" sz="22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RIESGO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230100" y="7079661"/>
            <a:ext cx="430530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9"/>
              </a:lnSpc>
            </a:pPr>
            <a:r>
              <a:rPr lang="en-US" sz="1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Valor: 2 — Bajo riesgo técnico, sin integraciones externas complejas; depende únicamente del módulo de personal existente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335000" y="4648110"/>
            <a:ext cx="2857500" cy="389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8"/>
              </a:lnSpc>
            </a:pPr>
            <a:r>
              <a:rPr lang="en-US" b="true" sz="22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TOTAL SP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335000" y="5060406"/>
            <a:ext cx="434340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9"/>
              </a:lnSpc>
            </a:pPr>
            <a:r>
              <a:rPr lang="en-US" sz="1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 Story Points — Funcionalidad de complejidad media-baja con trabajo moderado, riesgo mínimo e incertidumbre controlada en Sprint 1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8245024" y="657225"/>
            <a:ext cx="981891" cy="981891"/>
          </a:xfrm>
          <a:custGeom>
            <a:avLst/>
            <a:gdLst/>
            <a:ahLst/>
            <a:cxnLst/>
            <a:rect r="r" b="b" t="t" l="l"/>
            <a:pathLst>
              <a:path h="981891" w="981891">
                <a:moveTo>
                  <a:pt x="0" y="0"/>
                </a:moveTo>
                <a:lnTo>
                  <a:pt x="981891" y="0"/>
                </a:lnTo>
                <a:lnTo>
                  <a:pt x="981891" y="981891"/>
                </a:lnTo>
                <a:lnTo>
                  <a:pt x="0" y="9818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1169475" y="2676480"/>
            <a:ext cx="931173" cy="981891"/>
          </a:xfrm>
          <a:custGeom>
            <a:avLst/>
            <a:gdLst/>
            <a:ahLst/>
            <a:cxnLst/>
            <a:rect r="r" b="b" t="t" l="l"/>
            <a:pathLst>
              <a:path h="981891" w="931173">
                <a:moveTo>
                  <a:pt x="0" y="0"/>
                </a:moveTo>
                <a:lnTo>
                  <a:pt x="931173" y="0"/>
                </a:lnTo>
                <a:lnTo>
                  <a:pt x="931173" y="981891"/>
                </a:lnTo>
                <a:lnTo>
                  <a:pt x="0" y="9818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425646" y="8734245"/>
            <a:ext cx="801269" cy="981891"/>
          </a:xfrm>
          <a:custGeom>
            <a:avLst/>
            <a:gdLst/>
            <a:ahLst/>
            <a:cxnLst/>
            <a:rect r="r" b="b" t="t" l="l"/>
            <a:pathLst>
              <a:path h="981891" w="801269">
                <a:moveTo>
                  <a:pt x="0" y="0"/>
                </a:moveTo>
                <a:lnTo>
                  <a:pt x="801269" y="0"/>
                </a:lnTo>
                <a:lnTo>
                  <a:pt x="801269" y="981891"/>
                </a:lnTo>
                <a:lnTo>
                  <a:pt x="0" y="9818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1015289" y="6730664"/>
            <a:ext cx="1085359" cy="851748"/>
          </a:xfrm>
          <a:custGeom>
            <a:avLst/>
            <a:gdLst/>
            <a:ahLst/>
            <a:cxnLst/>
            <a:rect r="r" b="b" t="t" l="l"/>
            <a:pathLst>
              <a:path h="851748" w="1085359">
                <a:moveTo>
                  <a:pt x="0" y="0"/>
                </a:moveTo>
                <a:lnTo>
                  <a:pt x="1085359" y="0"/>
                </a:lnTo>
                <a:lnTo>
                  <a:pt x="1085359" y="851748"/>
                </a:lnTo>
                <a:lnTo>
                  <a:pt x="0" y="85174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2521231" y="4696596"/>
            <a:ext cx="724312" cy="981030"/>
          </a:xfrm>
          <a:custGeom>
            <a:avLst/>
            <a:gdLst/>
            <a:ahLst/>
            <a:cxnLst/>
            <a:rect r="r" b="b" t="t" l="l"/>
            <a:pathLst>
              <a:path h="981030" w="724312">
                <a:moveTo>
                  <a:pt x="0" y="0"/>
                </a:moveTo>
                <a:lnTo>
                  <a:pt x="724312" y="0"/>
                </a:lnTo>
                <a:lnTo>
                  <a:pt x="724312" y="981030"/>
                </a:lnTo>
                <a:lnTo>
                  <a:pt x="0" y="9810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2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65148" y="2670260"/>
            <a:ext cx="6433862" cy="6556802"/>
          </a:xfrm>
          <a:custGeom>
            <a:avLst/>
            <a:gdLst/>
            <a:ahLst/>
            <a:cxnLst/>
            <a:rect r="r" b="b" t="t" l="l"/>
            <a:pathLst>
              <a:path h="6556802" w="6433862">
                <a:moveTo>
                  <a:pt x="0" y="0"/>
                </a:moveTo>
                <a:lnTo>
                  <a:pt x="6433862" y="0"/>
                </a:lnTo>
                <a:lnTo>
                  <a:pt x="6433862" y="6556802"/>
                </a:lnTo>
                <a:lnTo>
                  <a:pt x="0" y="65568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299010" y="2657194"/>
            <a:ext cx="2857500" cy="297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05"/>
              </a:lnSpc>
            </a:pPr>
            <a:r>
              <a:rPr lang="en-US" b="true" sz="178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Rama main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299010" y="3040915"/>
            <a:ext cx="4000500" cy="816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8"/>
              </a:lnSpc>
            </a:pPr>
            <a:r>
              <a:rPr lang="en-US" sz="15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Código estable y productivo. Solo recibe merges desde DEV tras revisión y aprobación del equipo.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299010" y="5709360"/>
            <a:ext cx="2857500" cy="297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05"/>
              </a:lnSpc>
            </a:pPr>
            <a:r>
              <a:rPr lang="en-US" b="true" sz="178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Rama DEVELOP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299010" y="6093081"/>
            <a:ext cx="4000500" cy="816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8"/>
              </a:lnSpc>
            </a:pPr>
            <a:r>
              <a:rPr lang="en-US" sz="15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Integración continua del equipo. Todas las feature branches se fusionan aquí antes de pasar a main.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299010" y="7776777"/>
            <a:ext cx="2857500" cy="297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05"/>
              </a:lnSpc>
            </a:pPr>
            <a:r>
              <a:rPr lang="en-US" b="true" sz="178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Ramas feature/*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299010" y="8160498"/>
            <a:ext cx="4000500" cy="816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8"/>
              </a:lnSpc>
            </a:pPr>
            <a:r>
              <a:rPr lang="en-US" sz="15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Cada desarrollador trabaja en su propia rama: feature/nombre. Se crea desde DEV y se fusiona de vuelta a DEV.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24000" y="3306743"/>
            <a:ext cx="2857500" cy="297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05"/>
              </a:lnSpc>
            </a:pPr>
            <a:r>
              <a:rPr lang="en-US" b="true" sz="178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Convenciones de Commit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24000" y="3690463"/>
            <a:ext cx="4000500" cy="136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8"/>
              </a:lnSpc>
            </a:pPr>
            <a:r>
              <a:rPr lang="en-US" sz="15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feat: nueva función</a:t>
            </a:r>
          </a:p>
          <a:p>
            <a:pPr algn="l" marL="0" indent="0" lvl="0">
              <a:lnSpc>
                <a:spcPts val="2238"/>
              </a:lnSpc>
            </a:pPr>
            <a:r>
              <a:rPr lang="en-US" sz="15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fix: corrección de bug</a:t>
            </a:r>
          </a:p>
          <a:p>
            <a:pPr algn="l" marL="0" indent="0" lvl="0">
              <a:lnSpc>
                <a:spcPts val="2238"/>
              </a:lnSpc>
            </a:pPr>
            <a:r>
              <a:rPr lang="en-US" sz="15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refactor: mejora de código</a:t>
            </a:r>
          </a:p>
          <a:p>
            <a:pPr algn="l" marL="0" indent="0" lvl="0">
              <a:lnSpc>
                <a:spcPts val="2238"/>
              </a:lnSpc>
            </a:pPr>
            <a:r>
              <a:rPr lang="en-US" sz="15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docs: documentación</a:t>
            </a:r>
          </a:p>
          <a:p>
            <a:pPr algn="l" marL="0" indent="0" lvl="0">
              <a:lnSpc>
                <a:spcPts val="2238"/>
              </a:lnSpc>
            </a:pPr>
            <a:r>
              <a:rPr lang="en-US" sz="15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chore: tareas de mantenimiento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85900" y="5902555"/>
            <a:ext cx="2857500" cy="297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05"/>
              </a:lnSpc>
            </a:pPr>
            <a:r>
              <a:rPr lang="en-US" b="true" sz="178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Reglas de Branch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85900" y="6286276"/>
            <a:ext cx="4000500" cy="1092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8"/>
              </a:lnSpc>
            </a:pPr>
            <a:r>
              <a:rPr lang="en-US" sz="15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No push directo a main</a:t>
            </a:r>
          </a:p>
          <a:p>
            <a:pPr algn="l" marL="0" indent="0" lvl="0">
              <a:lnSpc>
                <a:spcPts val="2238"/>
              </a:lnSpc>
            </a:pPr>
            <a:r>
              <a:rPr lang="en-US" sz="15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PR obligatorio para merge a DEV</a:t>
            </a:r>
          </a:p>
          <a:p>
            <a:pPr algn="l" marL="0" indent="0" lvl="0">
              <a:lnSpc>
                <a:spcPts val="2238"/>
              </a:lnSpc>
            </a:pPr>
            <a:r>
              <a:rPr lang="en-US" sz="15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Revisión mínima de 1 miembro</a:t>
            </a:r>
          </a:p>
          <a:p>
            <a:pPr algn="l" marL="0" indent="0" lvl="0">
              <a:lnSpc>
                <a:spcPts val="2238"/>
              </a:lnSpc>
            </a:pPr>
            <a:r>
              <a:rPr lang="en-US" sz="15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Tests deben pasar antes del merge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09600" y="628650"/>
            <a:ext cx="8382000" cy="591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64"/>
              </a:lnSpc>
            </a:pPr>
            <a:r>
              <a:rPr lang="en-US" b="true" sz="4021">
                <a:solidFill>
                  <a:srgbClr val="14057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Estrategia Git — Flujo de Trabajo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09600" y="1338344"/>
            <a:ext cx="8382000" cy="611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</a:pPr>
            <a:r>
              <a:rPr lang="en-US" sz="17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Ramas principales, convenciones de commit y reglas de integración del proyecto Ajoolnaj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6605317" y="4411619"/>
            <a:ext cx="685088" cy="687663"/>
          </a:xfrm>
          <a:custGeom>
            <a:avLst/>
            <a:gdLst/>
            <a:ahLst/>
            <a:cxnLst/>
            <a:rect r="r" b="b" t="t" l="l"/>
            <a:pathLst>
              <a:path h="687663" w="685088">
                <a:moveTo>
                  <a:pt x="0" y="0"/>
                </a:moveTo>
                <a:lnTo>
                  <a:pt x="685088" y="0"/>
                </a:lnTo>
                <a:lnTo>
                  <a:pt x="685088" y="687663"/>
                </a:lnTo>
                <a:lnTo>
                  <a:pt x="0" y="6876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390488" y="4976521"/>
            <a:ext cx="850642" cy="761413"/>
          </a:xfrm>
          <a:custGeom>
            <a:avLst/>
            <a:gdLst/>
            <a:ahLst/>
            <a:cxnLst/>
            <a:rect r="r" b="b" t="t" l="l"/>
            <a:pathLst>
              <a:path h="761413" w="850642">
                <a:moveTo>
                  <a:pt x="0" y="0"/>
                </a:moveTo>
                <a:lnTo>
                  <a:pt x="850641" y="0"/>
                </a:lnTo>
                <a:lnTo>
                  <a:pt x="850641" y="761414"/>
                </a:lnTo>
                <a:lnTo>
                  <a:pt x="0" y="7614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878082" y="6838567"/>
            <a:ext cx="1035575" cy="966785"/>
          </a:xfrm>
          <a:custGeom>
            <a:avLst/>
            <a:gdLst/>
            <a:ahLst/>
            <a:cxnLst/>
            <a:rect r="r" b="b" t="t" l="l"/>
            <a:pathLst>
              <a:path h="966785" w="1035575">
                <a:moveTo>
                  <a:pt x="0" y="0"/>
                </a:moveTo>
                <a:lnTo>
                  <a:pt x="1035575" y="0"/>
                </a:lnTo>
                <a:lnTo>
                  <a:pt x="1035575" y="966785"/>
                </a:lnTo>
                <a:lnTo>
                  <a:pt x="0" y="9667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2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66897" y="7078209"/>
            <a:ext cx="8853697" cy="269324"/>
            <a:chOff x="0" y="0"/>
            <a:chExt cx="2487343" cy="7566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87344" cy="75663"/>
            </a:xfrm>
            <a:custGeom>
              <a:avLst/>
              <a:gdLst/>
              <a:ahLst/>
              <a:cxnLst/>
              <a:rect r="r" b="b" t="t" l="l"/>
              <a:pathLst>
                <a:path h="75663" w="2487344">
                  <a:moveTo>
                    <a:pt x="37832" y="0"/>
                  </a:moveTo>
                  <a:lnTo>
                    <a:pt x="2449512" y="0"/>
                  </a:lnTo>
                  <a:cubicBezTo>
                    <a:pt x="2470406" y="0"/>
                    <a:pt x="2487344" y="16938"/>
                    <a:pt x="2487344" y="37832"/>
                  </a:cubicBezTo>
                  <a:lnTo>
                    <a:pt x="2487344" y="37832"/>
                  </a:lnTo>
                  <a:cubicBezTo>
                    <a:pt x="2487344" y="47865"/>
                    <a:pt x="2483358" y="57488"/>
                    <a:pt x="2476263" y="64583"/>
                  </a:cubicBezTo>
                  <a:cubicBezTo>
                    <a:pt x="2469168" y="71678"/>
                    <a:pt x="2459545" y="75663"/>
                    <a:pt x="2449512" y="75663"/>
                  </a:cubicBezTo>
                  <a:lnTo>
                    <a:pt x="37832" y="75663"/>
                  </a:lnTo>
                  <a:cubicBezTo>
                    <a:pt x="16938" y="75663"/>
                    <a:pt x="0" y="58726"/>
                    <a:pt x="0" y="37832"/>
                  </a:cubicBezTo>
                  <a:lnTo>
                    <a:pt x="0" y="37832"/>
                  </a:lnTo>
                  <a:cubicBezTo>
                    <a:pt x="0" y="16938"/>
                    <a:pt x="16938" y="0"/>
                    <a:pt x="37832" y="0"/>
                  </a:cubicBezTo>
                  <a:close/>
                </a:path>
              </a:pathLst>
            </a:custGeom>
            <a:solidFill>
              <a:srgbClr val="6BB3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487343" cy="104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300002" y="5218139"/>
            <a:ext cx="972756" cy="1131934"/>
            <a:chOff x="0" y="0"/>
            <a:chExt cx="6985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18449"/>
              <a:ext cx="698500" cy="775902"/>
            </a:xfrm>
            <a:custGeom>
              <a:avLst/>
              <a:gdLst/>
              <a:ahLst/>
              <a:cxnLst/>
              <a:rect r="r" b="b" t="t" l="l"/>
              <a:pathLst>
                <a:path h="775902" w="698500">
                  <a:moveTo>
                    <a:pt x="408368" y="15947"/>
                  </a:moveTo>
                  <a:lnTo>
                    <a:pt x="639382" y="150355"/>
                  </a:lnTo>
                  <a:cubicBezTo>
                    <a:pt x="675983" y="171650"/>
                    <a:pt x="698500" y="210801"/>
                    <a:pt x="698500" y="253146"/>
                  </a:cubicBezTo>
                  <a:lnTo>
                    <a:pt x="698500" y="522756"/>
                  </a:lnTo>
                  <a:cubicBezTo>
                    <a:pt x="698500" y="565101"/>
                    <a:pt x="675983" y="604252"/>
                    <a:pt x="639382" y="625547"/>
                  </a:cubicBezTo>
                  <a:lnTo>
                    <a:pt x="408368" y="759955"/>
                  </a:lnTo>
                  <a:cubicBezTo>
                    <a:pt x="371823" y="781217"/>
                    <a:pt x="326677" y="781217"/>
                    <a:pt x="290132" y="759955"/>
                  </a:cubicBezTo>
                  <a:lnTo>
                    <a:pt x="59118" y="625547"/>
                  </a:lnTo>
                  <a:cubicBezTo>
                    <a:pt x="22517" y="604252"/>
                    <a:pt x="0" y="565101"/>
                    <a:pt x="0" y="522756"/>
                  </a:cubicBezTo>
                  <a:lnTo>
                    <a:pt x="0" y="253146"/>
                  </a:lnTo>
                  <a:cubicBezTo>
                    <a:pt x="0" y="210801"/>
                    <a:pt x="22517" y="171650"/>
                    <a:pt x="59118" y="150355"/>
                  </a:cubicBezTo>
                  <a:lnTo>
                    <a:pt x="290132" y="15947"/>
                  </a:lnTo>
                  <a:cubicBezTo>
                    <a:pt x="326677" y="-5315"/>
                    <a:pt x="371823" y="-5315"/>
                    <a:pt x="408368" y="15947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88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413043" y="5349677"/>
            <a:ext cx="746675" cy="868858"/>
            <a:chOff x="0" y="0"/>
            <a:chExt cx="6985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12018"/>
              <a:ext cx="698500" cy="788765"/>
            </a:xfrm>
            <a:custGeom>
              <a:avLst/>
              <a:gdLst/>
              <a:ahLst/>
              <a:cxnLst/>
              <a:rect r="r" b="b" t="t" l="l"/>
              <a:pathLst>
                <a:path h="788765" w="698500">
                  <a:moveTo>
                    <a:pt x="387759" y="10387"/>
                  </a:moveTo>
                  <a:lnTo>
                    <a:pt x="659991" y="168777"/>
                  </a:lnTo>
                  <a:cubicBezTo>
                    <a:pt x="683833" y="182648"/>
                    <a:pt x="698500" y="208151"/>
                    <a:pt x="698500" y="235734"/>
                  </a:cubicBezTo>
                  <a:lnTo>
                    <a:pt x="698500" y="553030"/>
                  </a:lnTo>
                  <a:cubicBezTo>
                    <a:pt x="698500" y="580613"/>
                    <a:pt x="683833" y="606116"/>
                    <a:pt x="659991" y="619987"/>
                  </a:cubicBezTo>
                  <a:lnTo>
                    <a:pt x="387759" y="778377"/>
                  </a:lnTo>
                  <a:cubicBezTo>
                    <a:pt x="363954" y="792227"/>
                    <a:pt x="334546" y="792227"/>
                    <a:pt x="310741" y="778377"/>
                  </a:cubicBezTo>
                  <a:lnTo>
                    <a:pt x="38509" y="619987"/>
                  </a:lnTo>
                  <a:cubicBezTo>
                    <a:pt x="14667" y="606116"/>
                    <a:pt x="0" y="580613"/>
                    <a:pt x="0" y="553030"/>
                  </a:cubicBezTo>
                  <a:lnTo>
                    <a:pt x="0" y="235734"/>
                  </a:lnTo>
                  <a:cubicBezTo>
                    <a:pt x="0" y="208151"/>
                    <a:pt x="14667" y="182648"/>
                    <a:pt x="38509" y="168777"/>
                  </a:cubicBezTo>
                  <a:lnTo>
                    <a:pt x="310741" y="10387"/>
                  </a:lnTo>
                  <a:cubicBezTo>
                    <a:pt x="334546" y="-3463"/>
                    <a:pt x="363954" y="-3463"/>
                    <a:pt x="387759" y="10387"/>
                  </a:cubicBezTo>
                  <a:close/>
                </a:path>
              </a:pathLst>
            </a:custGeom>
            <a:solidFill>
              <a:srgbClr val="AB87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88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588282" y="5218139"/>
            <a:ext cx="972756" cy="1131934"/>
            <a:chOff x="0" y="0"/>
            <a:chExt cx="6985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18449"/>
              <a:ext cx="698500" cy="775902"/>
            </a:xfrm>
            <a:custGeom>
              <a:avLst/>
              <a:gdLst/>
              <a:ahLst/>
              <a:cxnLst/>
              <a:rect r="r" b="b" t="t" l="l"/>
              <a:pathLst>
                <a:path h="775902" w="698500">
                  <a:moveTo>
                    <a:pt x="408368" y="15947"/>
                  </a:moveTo>
                  <a:lnTo>
                    <a:pt x="639382" y="150355"/>
                  </a:lnTo>
                  <a:cubicBezTo>
                    <a:pt x="675983" y="171650"/>
                    <a:pt x="698500" y="210801"/>
                    <a:pt x="698500" y="253146"/>
                  </a:cubicBezTo>
                  <a:lnTo>
                    <a:pt x="698500" y="522756"/>
                  </a:lnTo>
                  <a:cubicBezTo>
                    <a:pt x="698500" y="565101"/>
                    <a:pt x="675983" y="604252"/>
                    <a:pt x="639382" y="625547"/>
                  </a:cubicBezTo>
                  <a:lnTo>
                    <a:pt x="408368" y="759955"/>
                  </a:lnTo>
                  <a:cubicBezTo>
                    <a:pt x="371823" y="781217"/>
                    <a:pt x="326677" y="781217"/>
                    <a:pt x="290132" y="759955"/>
                  </a:cubicBezTo>
                  <a:lnTo>
                    <a:pt x="59118" y="625547"/>
                  </a:lnTo>
                  <a:cubicBezTo>
                    <a:pt x="22517" y="604252"/>
                    <a:pt x="0" y="565101"/>
                    <a:pt x="0" y="522756"/>
                  </a:cubicBezTo>
                  <a:lnTo>
                    <a:pt x="0" y="253146"/>
                  </a:lnTo>
                  <a:cubicBezTo>
                    <a:pt x="0" y="210801"/>
                    <a:pt x="22517" y="171650"/>
                    <a:pt x="59118" y="150355"/>
                  </a:cubicBezTo>
                  <a:lnTo>
                    <a:pt x="290132" y="15947"/>
                  </a:lnTo>
                  <a:cubicBezTo>
                    <a:pt x="326677" y="-5315"/>
                    <a:pt x="371823" y="-5315"/>
                    <a:pt x="408368" y="15947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88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701322" y="5349677"/>
            <a:ext cx="746675" cy="868858"/>
            <a:chOff x="0" y="0"/>
            <a:chExt cx="6985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12018"/>
              <a:ext cx="698500" cy="788765"/>
            </a:xfrm>
            <a:custGeom>
              <a:avLst/>
              <a:gdLst/>
              <a:ahLst/>
              <a:cxnLst/>
              <a:rect r="r" b="b" t="t" l="l"/>
              <a:pathLst>
                <a:path h="788765" w="698500">
                  <a:moveTo>
                    <a:pt x="387759" y="10387"/>
                  </a:moveTo>
                  <a:lnTo>
                    <a:pt x="659991" y="168777"/>
                  </a:lnTo>
                  <a:cubicBezTo>
                    <a:pt x="683833" y="182648"/>
                    <a:pt x="698500" y="208151"/>
                    <a:pt x="698500" y="235734"/>
                  </a:cubicBezTo>
                  <a:lnTo>
                    <a:pt x="698500" y="553030"/>
                  </a:lnTo>
                  <a:cubicBezTo>
                    <a:pt x="698500" y="580613"/>
                    <a:pt x="683833" y="606116"/>
                    <a:pt x="659991" y="619987"/>
                  </a:cubicBezTo>
                  <a:lnTo>
                    <a:pt x="387759" y="778377"/>
                  </a:lnTo>
                  <a:cubicBezTo>
                    <a:pt x="363954" y="792227"/>
                    <a:pt x="334546" y="792227"/>
                    <a:pt x="310741" y="778377"/>
                  </a:cubicBezTo>
                  <a:lnTo>
                    <a:pt x="38509" y="619987"/>
                  </a:lnTo>
                  <a:cubicBezTo>
                    <a:pt x="14667" y="606116"/>
                    <a:pt x="0" y="580613"/>
                    <a:pt x="0" y="553030"/>
                  </a:cubicBezTo>
                  <a:lnTo>
                    <a:pt x="0" y="235734"/>
                  </a:lnTo>
                  <a:cubicBezTo>
                    <a:pt x="0" y="208151"/>
                    <a:pt x="14667" y="182648"/>
                    <a:pt x="38509" y="168777"/>
                  </a:cubicBezTo>
                  <a:lnTo>
                    <a:pt x="310741" y="10387"/>
                  </a:lnTo>
                  <a:cubicBezTo>
                    <a:pt x="334546" y="-3463"/>
                    <a:pt x="363954" y="-3463"/>
                    <a:pt x="387759" y="10387"/>
                  </a:cubicBezTo>
                  <a:close/>
                </a:path>
              </a:pathLst>
            </a:custGeom>
            <a:solidFill>
              <a:srgbClr val="F27ED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88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875613" y="5199585"/>
            <a:ext cx="972756" cy="1131934"/>
            <a:chOff x="0" y="0"/>
            <a:chExt cx="6985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18449"/>
              <a:ext cx="698500" cy="775902"/>
            </a:xfrm>
            <a:custGeom>
              <a:avLst/>
              <a:gdLst/>
              <a:ahLst/>
              <a:cxnLst/>
              <a:rect r="r" b="b" t="t" l="l"/>
              <a:pathLst>
                <a:path h="775902" w="698500">
                  <a:moveTo>
                    <a:pt x="408368" y="15947"/>
                  </a:moveTo>
                  <a:lnTo>
                    <a:pt x="639382" y="150355"/>
                  </a:lnTo>
                  <a:cubicBezTo>
                    <a:pt x="675983" y="171650"/>
                    <a:pt x="698500" y="210801"/>
                    <a:pt x="698500" y="253146"/>
                  </a:cubicBezTo>
                  <a:lnTo>
                    <a:pt x="698500" y="522756"/>
                  </a:lnTo>
                  <a:cubicBezTo>
                    <a:pt x="698500" y="565101"/>
                    <a:pt x="675983" y="604252"/>
                    <a:pt x="639382" y="625547"/>
                  </a:cubicBezTo>
                  <a:lnTo>
                    <a:pt x="408368" y="759955"/>
                  </a:lnTo>
                  <a:cubicBezTo>
                    <a:pt x="371823" y="781217"/>
                    <a:pt x="326677" y="781217"/>
                    <a:pt x="290132" y="759955"/>
                  </a:cubicBezTo>
                  <a:lnTo>
                    <a:pt x="59118" y="625547"/>
                  </a:lnTo>
                  <a:cubicBezTo>
                    <a:pt x="22517" y="604252"/>
                    <a:pt x="0" y="565101"/>
                    <a:pt x="0" y="522756"/>
                  </a:cubicBezTo>
                  <a:lnTo>
                    <a:pt x="0" y="253146"/>
                  </a:lnTo>
                  <a:cubicBezTo>
                    <a:pt x="0" y="210801"/>
                    <a:pt x="22517" y="171650"/>
                    <a:pt x="59118" y="150355"/>
                  </a:cubicBezTo>
                  <a:lnTo>
                    <a:pt x="290132" y="15947"/>
                  </a:lnTo>
                  <a:cubicBezTo>
                    <a:pt x="326677" y="-5315"/>
                    <a:pt x="371823" y="-5315"/>
                    <a:pt x="408368" y="15947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88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988653" y="5331123"/>
            <a:ext cx="746675" cy="868858"/>
            <a:chOff x="0" y="0"/>
            <a:chExt cx="6985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12018"/>
              <a:ext cx="698500" cy="788765"/>
            </a:xfrm>
            <a:custGeom>
              <a:avLst/>
              <a:gdLst/>
              <a:ahLst/>
              <a:cxnLst/>
              <a:rect r="r" b="b" t="t" l="l"/>
              <a:pathLst>
                <a:path h="788765" w="698500">
                  <a:moveTo>
                    <a:pt x="387759" y="10387"/>
                  </a:moveTo>
                  <a:lnTo>
                    <a:pt x="659991" y="168777"/>
                  </a:lnTo>
                  <a:cubicBezTo>
                    <a:pt x="683833" y="182648"/>
                    <a:pt x="698500" y="208151"/>
                    <a:pt x="698500" y="235734"/>
                  </a:cubicBezTo>
                  <a:lnTo>
                    <a:pt x="698500" y="553030"/>
                  </a:lnTo>
                  <a:cubicBezTo>
                    <a:pt x="698500" y="580613"/>
                    <a:pt x="683833" y="606116"/>
                    <a:pt x="659991" y="619987"/>
                  </a:cubicBezTo>
                  <a:lnTo>
                    <a:pt x="387759" y="778377"/>
                  </a:lnTo>
                  <a:cubicBezTo>
                    <a:pt x="363954" y="792227"/>
                    <a:pt x="334546" y="792227"/>
                    <a:pt x="310741" y="778377"/>
                  </a:cubicBezTo>
                  <a:lnTo>
                    <a:pt x="38509" y="619987"/>
                  </a:lnTo>
                  <a:cubicBezTo>
                    <a:pt x="14667" y="606116"/>
                    <a:pt x="0" y="580613"/>
                    <a:pt x="0" y="553030"/>
                  </a:cubicBezTo>
                  <a:lnTo>
                    <a:pt x="0" y="235734"/>
                  </a:lnTo>
                  <a:cubicBezTo>
                    <a:pt x="0" y="208151"/>
                    <a:pt x="14667" y="182648"/>
                    <a:pt x="38509" y="168777"/>
                  </a:cubicBezTo>
                  <a:lnTo>
                    <a:pt x="310741" y="10387"/>
                  </a:lnTo>
                  <a:cubicBezTo>
                    <a:pt x="334546" y="-3463"/>
                    <a:pt x="363954" y="-3463"/>
                    <a:pt x="387759" y="10387"/>
                  </a:cubicBezTo>
                  <a:close/>
                </a:path>
              </a:pathLst>
            </a:custGeom>
            <a:solidFill>
              <a:srgbClr val="FFD50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88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7845512" y="3860888"/>
            <a:ext cx="3032958" cy="297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8"/>
              </a:lnSpc>
            </a:pPr>
            <a:r>
              <a:rPr lang="en-US" b="true" sz="17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Pull Request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226342" y="3860888"/>
            <a:ext cx="3032958" cy="297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8"/>
              </a:lnSpc>
            </a:pPr>
            <a:r>
              <a:rPr lang="en-US" b="true" sz="17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Review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845512" y="4272003"/>
            <a:ext cx="3032958" cy="708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98"/>
              </a:lnSpc>
            </a:pPr>
            <a:r>
              <a:rPr lang="en-US" sz="13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Abrir PR hacia DEV con descripción clara de cambios y revisores asignados.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226342" y="4272003"/>
            <a:ext cx="3032958" cy="470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98"/>
              </a:lnSpc>
            </a:pPr>
            <a:r>
              <a:rPr lang="en-US" sz="13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Revisión de código por pares, aprobación y comentarios resueltos.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5315924" y="5307132"/>
            <a:ext cx="972756" cy="1131934"/>
            <a:chOff x="0" y="0"/>
            <a:chExt cx="6985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18449"/>
              <a:ext cx="698500" cy="775902"/>
            </a:xfrm>
            <a:custGeom>
              <a:avLst/>
              <a:gdLst/>
              <a:ahLst/>
              <a:cxnLst/>
              <a:rect r="r" b="b" t="t" l="l"/>
              <a:pathLst>
                <a:path h="775902" w="698500">
                  <a:moveTo>
                    <a:pt x="408368" y="15947"/>
                  </a:moveTo>
                  <a:lnTo>
                    <a:pt x="639382" y="150355"/>
                  </a:lnTo>
                  <a:cubicBezTo>
                    <a:pt x="675983" y="171650"/>
                    <a:pt x="698500" y="210801"/>
                    <a:pt x="698500" y="253146"/>
                  </a:cubicBezTo>
                  <a:lnTo>
                    <a:pt x="698500" y="522756"/>
                  </a:lnTo>
                  <a:cubicBezTo>
                    <a:pt x="698500" y="565101"/>
                    <a:pt x="675983" y="604252"/>
                    <a:pt x="639382" y="625547"/>
                  </a:cubicBezTo>
                  <a:lnTo>
                    <a:pt x="408368" y="759955"/>
                  </a:lnTo>
                  <a:cubicBezTo>
                    <a:pt x="371823" y="781217"/>
                    <a:pt x="326677" y="781217"/>
                    <a:pt x="290132" y="759955"/>
                  </a:cubicBezTo>
                  <a:lnTo>
                    <a:pt x="59118" y="625547"/>
                  </a:lnTo>
                  <a:cubicBezTo>
                    <a:pt x="22517" y="604252"/>
                    <a:pt x="0" y="565101"/>
                    <a:pt x="0" y="522756"/>
                  </a:cubicBezTo>
                  <a:lnTo>
                    <a:pt x="0" y="253146"/>
                  </a:lnTo>
                  <a:cubicBezTo>
                    <a:pt x="0" y="210801"/>
                    <a:pt x="22517" y="171650"/>
                    <a:pt x="59118" y="150355"/>
                  </a:cubicBezTo>
                  <a:lnTo>
                    <a:pt x="290132" y="15947"/>
                  </a:lnTo>
                  <a:cubicBezTo>
                    <a:pt x="326677" y="-5315"/>
                    <a:pt x="371823" y="-5315"/>
                    <a:pt x="408368" y="15947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88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5428964" y="5438670"/>
            <a:ext cx="746675" cy="868858"/>
            <a:chOff x="0" y="0"/>
            <a:chExt cx="6985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12018"/>
              <a:ext cx="698500" cy="788765"/>
            </a:xfrm>
            <a:custGeom>
              <a:avLst/>
              <a:gdLst/>
              <a:ahLst/>
              <a:cxnLst/>
              <a:rect r="r" b="b" t="t" l="l"/>
              <a:pathLst>
                <a:path h="788765" w="698500">
                  <a:moveTo>
                    <a:pt x="387759" y="10387"/>
                  </a:moveTo>
                  <a:lnTo>
                    <a:pt x="659991" y="168777"/>
                  </a:lnTo>
                  <a:cubicBezTo>
                    <a:pt x="683833" y="182648"/>
                    <a:pt x="698500" y="208151"/>
                    <a:pt x="698500" y="235734"/>
                  </a:cubicBezTo>
                  <a:lnTo>
                    <a:pt x="698500" y="553030"/>
                  </a:lnTo>
                  <a:cubicBezTo>
                    <a:pt x="698500" y="580613"/>
                    <a:pt x="683833" y="606116"/>
                    <a:pt x="659991" y="619987"/>
                  </a:cubicBezTo>
                  <a:lnTo>
                    <a:pt x="387759" y="778377"/>
                  </a:lnTo>
                  <a:cubicBezTo>
                    <a:pt x="363954" y="792227"/>
                    <a:pt x="334546" y="792227"/>
                    <a:pt x="310741" y="778377"/>
                  </a:cubicBezTo>
                  <a:lnTo>
                    <a:pt x="38509" y="619987"/>
                  </a:lnTo>
                  <a:cubicBezTo>
                    <a:pt x="14667" y="606116"/>
                    <a:pt x="0" y="580613"/>
                    <a:pt x="0" y="553030"/>
                  </a:cubicBezTo>
                  <a:lnTo>
                    <a:pt x="0" y="235734"/>
                  </a:lnTo>
                  <a:cubicBezTo>
                    <a:pt x="0" y="208151"/>
                    <a:pt x="14667" y="182648"/>
                    <a:pt x="38509" y="168777"/>
                  </a:cubicBezTo>
                  <a:lnTo>
                    <a:pt x="310741" y="10387"/>
                  </a:lnTo>
                  <a:cubicBezTo>
                    <a:pt x="334546" y="-3463"/>
                    <a:pt x="363954" y="-3463"/>
                    <a:pt x="387759" y="10387"/>
                  </a:cubicBezTo>
                  <a:close/>
                </a:path>
              </a:pathLst>
            </a:custGeom>
            <a:solidFill>
              <a:srgbClr val="FF94A0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88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961918" y="5331123"/>
            <a:ext cx="972756" cy="1131934"/>
            <a:chOff x="0" y="0"/>
            <a:chExt cx="6985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18449"/>
              <a:ext cx="698500" cy="775902"/>
            </a:xfrm>
            <a:custGeom>
              <a:avLst/>
              <a:gdLst/>
              <a:ahLst/>
              <a:cxnLst/>
              <a:rect r="r" b="b" t="t" l="l"/>
              <a:pathLst>
                <a:path h="775902" w="698500">
                  <a:moveTo>
                    <a:pt x="408368" y="15947"/>
                  </a:moveTo>
                  <a:lnTo>
                    <a:pt x="639382" y="150355"/>
                  </a:lnTo>
                  <a:cubicBezTo>
                    <a:pt x="675983" y="171650"/>
                    <a:pt x="698500" y="210801"/>
                    <a:pt x="698500" y="253146"/>
                  </a:cubicBezTo>
                  <a:lnTo>
                    <a:pt x="698500" y="522756"/>
                  </a:lnTo>
                  <a:cubicBezTo>
                    <a:pt x="698500" y="565101"/>
                    <a:pt x="675983" y="604252"/>
                    <a:pt x="639382" y="625547"/>
                  </a:cubicBezTo>
                  <a:lnTo>
                    <a:pt x="408368" y="759955"/>
                  </a:lnTo>
                  <a:cubicBezTo>
                    <a:pt x="371823" y="781217"/>
                    <a:pt x="326677" y="781217"/>
                    <a:pt x="290132" y="759955"/>
                  </a:cubicBezTo>
                  <a:lnTo>
                    <a:pt x="59118" y="625547"/>
                  </a:lnTo>
                  <a:cubicBezTo>
                    <a:pt x="22517" y="604252"/>
                    <a:pt x="0" y="565101"/>
                    <a:pt x="0" y="522756"/>
                  </a:cubicBezTo>
                  <a:lnTo>
                    <a:pt x="0" y="253146"/>
                  </a:lnTo>
                  <a:cubicBezTo>
                    <a:pt x="0" y="210801"/>
                    <a:pt x="22517" y="171650"/>
                    <a:pt x="59118" y="150355"/>
                  </a:cubicBezTo>
                  <a:lnTo>
                    <a:pt x="290132" y="15947"/>
                  </a:lnTo>
                  <a:cubicBezTo>
                    <a:pt x="326677" y="-5315"/>
                    <a:pt x="371823" y="-5315"/>
                    <a:pt x="408368" y="15947"/>
                  </a:cubicBezTo>
                  <a:close/>
                </a:path>
              </a:pathLst>
            </a:custGeom>
            <a:solidFill>
              <a:srgbClr val="FCFDFE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88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074958" y="5462661"/>
            <a:ext cx="746675" cy="868858"/>
            <a:chOff x="0" y="0"/>
            <a:chExt cx="6985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12018"/>
              <a:ext cx="698500" cy="788765"/>
            </a:xfrm>
            <a:custGeom>
              <a:avLst/>
              <a:gdLst/>
              <a:ahLst/>
              <a:cxnLst/>
              <a:rect r="r" b="b" t="t" l="l"/>
              <a:pathLst>
                <a:path h="788765" w="698500">
                  <a:moveTo>
                    <a:pt x="387759" y="10387"/>
                  </a:moveTo>
                  <a:lnTo>
                    <a:pt x="659991" y="168777"/>
                  </a:lnTo>
                  <a:cubicBezTo>
                    <a:pt x="683833" y="182648"/>
                    <a:pt x="698500" y="208151"/>
                    <a:pt x="698500" y="235734"/>
                  </a:cubicBezTo>
                  <a:lnTo>
                    <a:pt x="698500" y="553030"/>
                  </a:lnTo>
                  <a:cubicBezTo>
                    <a:pt x="698500" y="580613"/>
                    <a:pt x="683833" y="606116"/>
                    <a:pt x="659991" y="619987"/>
                  </a:cubicBezTo>
                  <a:lnTo>
                    <a:pt x="387759" y="778377"/>
                  </a:lnTo>
                  <a:cubicBezTo>
                    <a:pt x="363954" y="792227"/>
                    <a:pt x="334546" y="792227"/>
                    <a:pt x="310741" y="778377"/>
                  </a:cubicBezTo>
                  <a:lnTo>
                    <a:pt x="38509" y="619987"/>
                  </a:lnTo>
                  <a:cubicBezTo>
                    <a:pt x="14667" y="606116"/>
                    <a:pt x="0" y="580613"/>
                    <a:pt x="0" y="553030"/>
                  </a:cubicBezTo>
                  <a:lnTo>
                    <a:pt x="0" y="235734"/>
                  </a:lnTo>
                  <a:cubicBezTo>
                    <a:pt x="0" y="208151"/>
                    <a:pt x="14667" y="182648"/>
                    <a:pt x="38509" y="168777"/>
                  </a:cubicBezTo>
                  <a:lnTo>
                    <a:pt x="310741" y="10387"/>
                  </a:lnTo>
                  <a:cubicBezTo>
                    <a:pt x="334546" y="-3463"/>
                    <a:pt x="363954" y="-3463"/>
                    <a:pt x="387759" y="10387"/>
                  </a:cubicBezTo>
                  <a:close/>
                </a:path>
              </a:pathLst>
            </a:custGeom>
            <a:solidFill>
              <a:srgbClr val="FFB376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88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300584" y="3860888"/>
            <a:ext cx="3014272" cy="297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8"/>
              </a:lnSpc>
            </a:pPr>
            <a:r>
              <a:rPr lang="en-US" b="true" sz="17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Code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591082" y="3860888"/>
            <a:ext cx="3009837" cy="297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8"/>
              </a:lnSpc>
            </a:pPr>
            <a:r>
              <a:rPr lang="en-US" b="true" sz="17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Commit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00584" y="4272003"/>
            <a:ext cx="3014272" cy="708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98"/>
              </a:lnSpc>
            </a:pPr>
            <a:r>
              <a:rPr lang="en-US" sz="13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Escribir código limpio en rama feature/* siguiendo estándares del proyecto.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591082" y="4272003"/>
            <a:ext cx="3009837" cy="470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98"/>
              </a:lnSpc>
            </a:pPr>
            <a:r>
              <a:rPr lang="en-US" sz="13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Confirmar cambios con mensajes descriptivos: feat:, fix:, chore:.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939006" y="3860888"/>
            <a:ext cx="3018580" cy="297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8"/>
              </a:lnSpc>
            </a:pPr>
            <a:r>
              <a:rPr lang="en-US" b="true" sz="17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Push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939006" y="4272003"/>
            <a:ext cx="3018580" cy="470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98"/>
              </a:lnSpc>
            </a:pPr>
            <a:r>
              <a:rPr lang="en-US" sz="13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Subir la rama al repositorio remoto en GitHub/GitLab.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91178" y="628650"/>
            <a:ext cx="12033998" cy="828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91"/>
              </a:lnSpc>
            </a:pPr>
            <a:r>
              <a:rPr lang="en-US" b="true" sz="5596">
                <a:solidFill>
                  <a:srgbClr val="14057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Flujo de Integración Continua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91178" y="1636828"/>
            <a:ext cx="12033998" cy="356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7"/>
              </a:lnSpc>
            </a:pPr>
            <a:r>
              <a:rPr lang="en-US" sz="20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Proceso paso a paso para integrar cambios de forma segura y continua.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8057164" y="6474394"/>
            <a:ext cx="934436" cy="1476953"/>
            <a:chOff x="0" y="0"/>
            <a:chExt cx="1245915" cy="1969271"/>
          </a:xfrm>
        </p:grpSpPr>
        <p:grpSp>
          <p:nvGrpSpPr>
            <p:cNvPr name="Group 49" id="49"/>
            <p:cNvGrpSpPr/>
            <p:nvPr/>
          </p:nvGrpSpPr>
          <p:grpSpPr>
            <a:xfrm rot="2700000">
              <a:off x="-41282" y="427997"/>
              <a:ext cx="1359301" cy="359099"/>
              <a:chOff x="0" y="0"/>
              <a:chExt cx="286410" cy="75663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286410" cy="75663"/>
              </a:xfrm>
              <a:custGeom>
                <a:avLst/>
                <a:gdLst/>
                <a:ahLst/>
                <a:cxnLst/>
                <a:rect r="r" b="b" t="t" l="l"/>
                <a:pathLst>
                  <a:path h="75663" w="286410">
                    <a:moveTo>
                      <a:pt x="37832" y="0"/>
                    </a:moveTo>
                    <a:lnTo>
                      <a:pt x="248578" y="0"/>
                    </a:lnTo>
                    <a:cubicBezTo>
                      <a:pt x="269472" y="0"/>
                      <a:pt x="286410" y="16938"/>
                      <a:pt x="286410" y="37832"/>
                    </a:cubicBezTo>
                    <a:lnTo>
                      <a:pt x="286410" y="37832"/>
                    </a:lnTo>
                    <a:cubicBezTo>
                      <a:pt x="286410" y="47865"/>
                      <a:pt x="282424" y="57488"/>
                      <a:pt x="275329" y="64583"/>
                    </a:cubicBezTo>
                    <a:cubicBezTo>
                      <a:pt x="268234" y="71678"/>
                      <a:pt x="258612" y="75663"/>
                      <a:pt x="248578" y="75663"/>
                    </a:cubicBezTo>
                    <a:lnTo>
                      <a:pt x="37832" y="75663"/>
                    </a:lnTo>
                    <a:cubicBezTo>
                      <a:pt x="16938" y="75663"/>
                      <a:pt x="0" y="58726"/>
                      <a:pt x="0" y="37832"/>
                    </a:cubicBezTo>
                    <a:lnTo>
                      <a:pt x="0" y="37832"/>
                    </a:lnTo>
                    <a:cubicBezTo>
                      <a:pt x="0" y="16938"/>
                      <a:pt x="16938" y="0"/>
                      <a:pt x="37832" y="0"/>
                    </a:cubicBezTo>
                    <a:close/>
                  </a:path>
                </a:pathLst>
              </a:custGeom>
              <a:solidFill>
                <a:srgbClr val="6BB3FF"/>
              </a:solid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28575"/>
                <a:ext cx="286410" cy="1042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240"/>
                  </a:lnSpc>
                </a:pPr>
              </a:p>
            </p:txBody>
          </p:sp>
        </p:grpSp>
        <p:grpSp>
          <p:nvGrpSpPr>
            <p:cNvPr name="Group 52" id="52"/>
            <p:cNvGrpSpPr/>
            <p:nvPr/>
          </p:nvGrpSpPr>
          <p:grpSpPr>
            <a:xfrm rot="-2700000">
              <a:off x="-78488" y="1166764"/>
              <a:ext cx="1402891" cy="359099"/>
              <a:chOff x="0" y="0"/>
              <a:chExt cx="295594" cy="75663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295594" cy="75663"/>
              </a:xfrm>
              <a:custGeom>
                <a:avLst/>
                <a:gdLst/>
                <a:ahLst/>
                <a:cxnLst/>
                <a:rect r="r" b="b" t="t" l="l"/>
                <a:pathLst>
                  <a:path h="75663" w="295594">
                    <a:moveTo>
                      <a:pt x="37832" y="0"/>
                    </a:moveTo>
                    <a:lnTo>
                      <a:pt x="257763" y="0"/>
                    </a:lnTo>
                    <a:cubicBezTo>
                      <a:pt x="267796" y="0"/>
                      <a:pt x="277419" y="3986"/>
                      <a:pt x="284514" y="11081"/>
                    </a:cubicBezTo>
                    <a:cubicBezTo>
                      <a:pt x="291609" y="18175"/>
                      <a:pt x="295594" y="27798"/>
                      <a:pt x="295594" y="37832"/>
                    </a:cubicBezTo>
                    <a:lnTo>
                      <a:pt x="295594" y="37832"/>
                    </a:lnTo>
                    <a:cubicBezTo>
                      <a:pt x="295594" y="58726"/>
                      <a:pt x="278657" y="75663"/>
                      <a:pt x="257763" y="75663"/>
                    </a:cubicBezTo>
                    <a:lnTo>
                      <a:pt x="37832" y="75663"/>
                    </a:lnTo>
                    <a:cubicBezTo>
                      <a:pt x="16938" y="75663"/>
                      <a:pt x="0" y="58726"/>
                      <a:pt x="0" y="37832"/>
                    </a:cubicBezTo>
                    <a:lnTo>
                      <a:pt x="0" y="37832"/>
                    </a:lnTo>
                    <a:cubicBezTo>
                      <a:pt x="0" y="16938"/>
                      <a:pt x="16938" y="0"/>
                      <a:pt x="37832" y="0"/>
                    </a:cubicBezTo>
                    <a:close/>
                  </a:path>
                </a:pathLst>
              </a:custGeom>
              <a:solidFill>
                <a:srgbClr val="6BB3FF"/>
              </a:solidFill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28575"/>
                <a:ext cx="295594" cy="1042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240"/>
                  </a:lnSpc>
                </a:pPr>
              </a:p>
            </p:txBody>
          </p:sp>
        </p:grpSp>
      </p:grpSp>
      <p:sp>
        <p:nvSpPr>
          <p:cNvPr name="Freeform 55" id="55"/>
          <p:cNvSpPr/>
          <p:nvPr/>
        </p:nvSpPr>
        <p:spPr>
          <a:xfrm flipH="false" flipV="false" rot="0">
            <a:off x="2616415" y="5647587"/>
            <a:ext cx="347060" cy="255557"/>
          </a:xfrm>
          <a:custGeom>
            <a:avLst/>
            <a:gdLst/>
            <a:ahLst/>
            <a:cxnLst/>
            <a:rect r="r" b="b" t="t" l="l"/>
            <a:pathLst>
              <a:path h="255557" w="347060">
                <a:moveTo>
                  <a:pt x="0" y="0"/>
                </a:moveTo>
                <a:lnTo>
                  <a:pt x="347060" y="0"/>
                </a:lnTo>
                <a:lnTo>
                  <a:pt x="347060" y="255557"/>
                </a:lnTo>
                <a:lnTo>
                  <a:pt x="0" y="2555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15589483" y="5687310"/>
            <a:ext cx="443605" cy="403750"/>
          </a:xfrm>
          <a:custGeom>
            <a:avLst/>
            <a:gdLst/>
            <a:ahLst/>
            <a:cxnLst/>
            <a:rect r="r" b="b" t="t" l="l"/>
            <a:pathLst>
              <a:path h="403750" w="443605">
                <a:moveTo>
                  <a:pt x="0" y="0"/>
                </a:moveTo>
                <a:lnTo>
                  <a:pt x="443605" y="0"/>
                </a:lnTo>
                <a:lnTo>
                  <a:pt x="443605" y="403750"/>
                </a:lnTo>
                <a:lnTo>
                  <a:pt x="0" y="403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12167703" y="5677952"/>
            <a:ext cx="558853" cy="390294"/>
          </a:xfrm>
          <a:custGeom>
            <a:avLst/>
            <a:gdLst/>
            <a:ahLst/>
            <a:cxnLst/>
            <a:rect r="r" b="b" t="t" l="l"/>
            <a:pathLst>
              <a:path h="390294" w="558853">
                <a:moveTo>
                  <a:pt x="0" y="0"/>
                </a:moveTo>
                <a:lnTo>
                  <a:pt x="558853" y="0"/>
                </a:lnTo>
                <a:lnTo>
                  <a:pt x="558853" y="390294"/>
                </a:lnTo>
                <a:lnTo>
                  <a:pt x="0" y="3902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9141831" y="5389771"/>
            <a:ext cx="438150" cy="788670"/>
          </a:xfrm>
          <a:custGeom>
            <a:avLst/>
            <a:gdLst/>
            <a:ahLst/>
            <a:cxnLst/>
            <a:rect r="r" b="b" t="t" l="l"/>
            <a:pathLst>
              <a:path h="788670" w="438150">
                <a:moveTo>
                  <a:pt x="0" y="0"/>
                </a:moveTo>
                <a:lnTo>
                  <a:pt x="438150" y="0"/>
                </a:lnTo>
                <a:lnTo>
                  <a:pt x="438150" y="788670"/>
                </a:lnTo>
                <a:lnTo>
                  <a:pt x="0" y="7886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5780413" y="5507377"/>
            <a:ext cx="590620" cy="559159"/>
          </a:xfrm>
          <a:custGeom>
            <a:avLst/>
            <a:gdLst/>
            <a:ahLst/>
            <a:cxnLst/>
            <a:rect r="r" b="b" t="t" l="l"/>
            <a:pathLst>
              <a:path h="559159" w="590620">
                <a:moveTo>
                  <a:pt x="0" y="0"/>
                </a:moveTo>
                <a:lnTo>
                  <a:pt x="590621" y="0"/>
                </a:lnTo>
                <a:lnTo>
                  <a:pt x="590621" y="559159"/>
                </a:lnTo>
                <a:lnTo>
                  <a:pt x="0" y="5591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8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053602" y="628650"/>
            <a:ext cx="12033998" cy="828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91"/>
              </a:lnSpc>
            </a:pPr>
            <a:r>
              <a:rPr lang="en-US" b="true" sz="5596">
                <a:solidFill>
                  <a:srgbClr val="14057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Manejo de Conflictos de Merge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053602" y="1636828"/>
            <a:ext cx="12033998" cy="356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</a:pPr>
            <a:r>
              <a:rPr lang="en-US" sz="20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Estrategias para identificar, resolver y prevenir conflictos en el flujo de trabajo Git del equipo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600000">
            <a:off x="1669849" y="3772129"/>
            <a:ext cx="2904562" cy="5281022"/>
          </a:xfrm>
          <a:custGeom>
            <a:avLst/>
            <a:gdLst/>
            <a:ahLst/>
            <a:cxnLst/>
            <a:rect r="r" b="b" t="t" l="l"/>
            <a:pathLst>
              <a:path h="5281022" w="2904562">
                <a:moveTo>
                  <a:pt x="0" y="0"/>
                </a:moveTo>
                <a:lnTo>
                  <a:pt x="2904562" y="0"/>
                </a:lnTo>
                <a:lnTo>
                  <a:pt x="2904562" y="5281022"/>
                </a:lnTo>
                <a:lnTo>
                  <a:pt x="0" y="52810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-600000">
            <a:off x="1784618" y="5540233"/>
            <a:ext cx="2501696" cy="289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12"/>
              </a:lnSpc>
            </a:pPr>
            <a:r>
              <a:rPr lang="en-US" b="true" sz="172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¿Qué es un conflicto?</a:t>
            </a:r>
          </a:p>
        </p:txBody>
      </p:sp>
      <p:sp>
        <p:nvSpPr>
          <p:cNvPr name="TextBox 7" id="7"/>
          <p:cNvSpPr txBox="true"/>
          <p:nvPr/>
        </p:nvSpPr>
        <p:spPr>
          <a:xfrm rot="-600000">
            <a:off x="2008588" y="6132575"/>
            <a:ext cx="2501696" cy="1645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8"/>
              </a:lnSpc>
            </a:pPr>
            <a:r>
              <a:rPr lang="en-US" sz="15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Ocurre cuando dos ramas modifican las mismas líneas de código y Git no puede fusionarlas automáticamente.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299999">
            <a:off x="5695724" y="2873763"/>
            <a:ext cx="2906532" cy="5579374"/>
          </a:xfrm>
          <a:custGeom>
            <a:avLst/>
            <a:gdLst/>
            <a:ahLst/>
            <a:cxnLst/>
            <a:rect r="r" b="b" t="t" l="l"/>
            <a:pathLst>
              <a:path h="5579374" w="2906532">
                <a:moveTo>
                  <a:pt x="0" y="0"/>
                </a:moveTo>
                <a:lnTo>
                  <a:pt x="2906532" y="0"/>
                </a:lnTo>
                <a:lnTo>
                  <a:pt x="2906532" y="5579374"/>
                </a:lnTo>
                <a:lnTo>
                  <a:pt x="0" y="55793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-299999">
            <a:off x="5875785" y="4797739"/>
            <a:ext cx="2501696" cy="289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12"/>
              </a:lnSpc>
            </a:pPr>
            <a:r>
              <a:rPr lang="en-US" b="true" sz="172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Resolución paso a paso</a:t>
            </a:r>
          </a:p>
        </p:txBody>
      </p:sp>
      <p:sp>
        <p:nvSpPr>
          <p:cNvPr name="TextBox 10" id="10"/>
          <p:cNvSpPr txBox="true"/>
          <p:nvPr/>
        </p:nvSpPr>
        <p:spPr>
          <a:xfrm rot="-299999">
            <a:off x="5988198" y="5404768"/>
            <a:ext cx="2501696" cy="1645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201" indent="-172601" lvl="1">
              <a:lnSpc>
                <a:spcPts val="2238"/>
              </a:lnSpc>
              <a:buAutoNum type="arabicPeriod" startAt="1"/>
            </a:pPr>
            <a:r>
              <a:rPr lang="en-US" sz="15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git fetch + merge</a:t>
            </a:r>
          </a:p>
          <a:p>
            <a:pPr algn="l" marL="345201" indent="-172601" lvl="1">
              <a:lnSpc>
                <a:spcPts val="2238"/>
              </a:lnSpc>
              <a:buAutoNum type="arabicPeriod" startAt="1"/>
            </a:pPr>
            <a:r>
              <a:rPr lang="en-US" sz="15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Identificar marcadores.</a:t>
            </a:r>
          </a:p>
          <a:p>
            <a:pPr algn="l" marL="345201" indent="-172601" lvl="1">
              <a:lnSpc>
                <a:spcPts val="2238"/>
              </a:lnSpc>
              <a:buAutoNum type="arabicPeriod" startAt="1"/>
            </a:pPr>
            <a:r>
              <a:rPr lang="en-US" sz="15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Editar y conservar cambios correctos</a:t>
            </a:r>
          </a:p>
          <a:p>
            <a:pPr algn="l" marL="345201" indent="-172601" lvl="1">
              <a:lnSpc>
                <a:spcPts val="2238"/>
              </a:lnSpc>
              <a:buAutoNum type="arabicPeriod" startAt="1"/>
            </a:pPr>
            <a:r>
              <a:rPr lang="en-US" sz="15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git add + commit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-299999">
            <a:off x="6721448" y="3865581"/>
            <a:ext cx="500878" cy="434141"/>
          </a:xfrm>
          <a:custGeom>
            <a:avLst/>
            <a:gdLst/>
            <a:ahLst/>
            <a:cxnLst/>
            <a:rect r="r" b="b" t="t" l="l"/>
            <a:pathLst>
              <a:path h="434141" w="500878">
                <a:moveTo>
                  <a:pt x="0" y="0"/>
                </a:moveTo>
                <a:lnTo>
                  <a:pt x="500877" y="0"/>
                </a:lnTo>
                <a:lnTo>
                  <a:pt x="500877" y="434140"/>
                </a:lnTo>
                <a:lnTo>
                  <a:pt x="0" y="4341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299999">
            <a:off x="9689293" y="2983939"/>
            <a:ext cx="2905017" cy="5379662"/>
          </a:xfrm>
          <a:custGeom>
            <a:avLst/>
            <a:gdLst/>
            <a:ahLst/>
            <a:cxnLst/>
            <a:rect r="r" b="b" t="t" l="l"/>
            <a:pathLst>
              <a:path h="5379662" w="2905017">
                <a:moveTo>
                  <a:pt x="0" y="0"/>
                </a:moveTo>
                <a:lnTo>
                  <a:pt x="2905017" y="0"/>
                </a:lnTo>
                <a:lnTo>
                  <a:pt x="2905017" y="5379662"/>
                </a:lnTo>
                <a:lnTo>
                  <a:pt x="0" y="53796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299999">
            <a:off x="9929780" y="4799424"/>
            <a:ext cx="2501696" cy="289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12"/>
              </a:lnSpc>
            </a:pPr>
            <a:r>
              <a:rPr lang="en-US" b="true" sz="172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Estrategias Preventivas</a:t>
            </a:r>
          </a:p>
        </p:txBody>
      </p:sp>
      <p:sp>
        <p:nvSpPr>
          <p:cNvPr name="TextBox 14" id="14"/>
          <p:cNvSpPr txBox="true"/>
          <p:nvPr/>
        </p:nvSpPr>
        <p:spPr>
          <a:xfrm rot="299999">
            <a:off x="9829404" y="5406979"/>
            <a:ext cx="2501696" cy="136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8"/>
              </a:lnSpc>
            </a:pPr>
            <a:r>
              <a:rPr lang="en-US" sz="15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Sincronizar con DEV diariamente. Ramas cortas y enfocadas. Revisar PRs antes de mergear a DEV.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299999">
            <a:off x="10950902" y="3909044"/>
            <a:ext cx="496656" cy="493057"/>
          </a:xfrm>
          <a:custGeom>
            <a:avLst/>
            <a:gdLst/>
            <a:ahLst/>
            <a:cxnLst/>
            <a:rect r="r" b="b" t="t" l="l"/>
            <a:pathLst>
              <a:path h="493057" w="496656">
                <a:moveTo>
                  <a:pt x="0" y="0"/>
                </a:moveTo>
                <a:lnTo>
                  <a:pt x="496657" y="0"/>
                </a:lnTo>
                <a:lnTo>
                  <a:pt x="496657" y="493058"/>
                </a:lnTo>
                <a:lnTo>
                  <a:pt x="0" y="4930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600000">
            <a:off x="13714004" y="3708032"/>
            <a:ext cx="2905229" cy="5405076"/>
          </a:xfrm>
          <a:custGeom>
            <a:avLst/>
            <a:gdLst/>
            <a:ahLst/>
            <a:cxnLst/>
            <a:rect r="r" b="b" t="t" l="l"/>
            <a:pathLst>
              <a:path h="5405076" w="2905229">
                <a:moveTo>
                  <a:pt x="0" y="0"/>
                </a:moveTo>
                <a:lnTo>
                  <a:pt x="2905228" y="0"/>
                </a:lnTo>
                <a:lnTo>
                  <a:pt x="2905228" y="5405076"/>
                </a:lnTo>
                <a:lnTo>
                  <a:pt x="0" y="540507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600000">
            <a:off x="14026351" y="5392742"/>
            <a:ext cx="2501696" cy="594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12"/>
              </a:lnSpc>
            </a:pPr>
            <a:r>
              <a:rPr lang="en-US" b="true" sz="172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Convenciones de Commits</a:t>
            </a:r>
          </a:p>
        </p:txBody>
      </p:sp>
      <p:sp>
        <p:nvSpPr>
          <p:cNvPr name="TextBox 18" id="18"/>
          <p:cNvSpPr txBox="true"/>
          <p:nvPr/>
        </p:nvSpPr>
        <p:spPr>
          <a:xfrm rot="600000">
            <a:off x="13826364" y="6139583"/>
            <a:ext cx="2501696" cy="136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8"/>
              </a:lnSpc>
            </a:pPr>
            <a:r>
              <a:rPr lang="en-US" sz="15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Usar prefijos: feat:, fix:, refactor:, docs:. Mensajes claros y descriptivos en español para trazabilidad.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600000">
            <a:off x="15189599" y="4650911"/>
            <a:ext cx="400430" cy="515733"/>
          </a:xfrm>
          <a:custGeom>
            <a:avLst/>
            <a:gdLst/>
            <a:ahLst/>
            <a:cxnLst/>
            <a:rect r="r" b="b" t="t" l="l"/>
            <a:pathLst>
              <a:path h="515733" w="400430">
                <a:moveTo>
                  <a:pt x="0" y="0"/>
                </a:moveTo>
                <a:lnTo>
                  <a:pt x="400430" y="0"/>
                </a:lnTo>
                <a:lnTo>
                  <a:pt x="400430" y="515733"/>
                </a:lnTo>
                <a:lnTo>
                  <a:pt x="0" y="51573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652970">
            <a:off x="2584425" y="5162476"/>
            <a:ext cx="381780" cy="381780"/>
          </a:xfrm>
          <a:custGeom>
            <a:avLst/>
            <a:gdLst/>
            <a:ahLst/>
            <a:cxnLst/>
            <a:rect r="r" b="b" t="t" l="l"/>
            <a:pathLst>
              <a:path h="381780" w="381780">
                <a:moveTo>
                  <a:pt x="0" y="0"/>
                </a:moveTo>
                <a:lnTo>
                  <a:pt x="381780" y="0"/>
                </a:lnTo>
                <a:lnTo>
                  <a:pt x="381780" y="381780"/>
                </a:lnTo>
                <a:lnTo>
                  <a:pt x="0" y="3817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8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959915" y="4582845"/>
            <a:ext cx="1073674" cy="107367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95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30336" lIns="30336" bIns="30336" rIns="30336"/>
            <a:lstStyle/>
            <a:p>
              <a:pPr algn="ctr" marL="0" indent="0" lvl="0">
                <a:lnSpc>
                  <a:spcPts val="22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072642" y="5448942"/>
            <a:ext cx="848221" cy="677310"/>
            <a:chOff x="0" y="0"/>
            <a:chExt cx="642126" cy="51274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42126" cy="512741"/>
            </a:xfrm>
            <a:custGeom>
              <a:avLst/>
              <a:gdLst/>
              <a:ahLst/>
              <a:cxnLst/>
              <a:rect r="r" b="b" t="t" l="l"/>
              <a:pathLst>
                <a:path h="512741" w="642126">
                  <a:moveTo>
                    <a:pt x="321063" y="512741"/>
                  </a:moveTo>
                  <a:lnTo>
                    <a:pt x="642126" y="0"/>
                  </a:lnTo>
                  <a:lnTo>
                    <a:pt x="0" y="0"/>
                  </a:lnTo>
                  <a:lnTo>
                    <a:pt x="321063" y="512741"/>
                  </a:lnTo>
                  <a:close/>
                </a:path>
              </a:pathLst>
            </a:custGeom>
            <a:solidFill>
              <a:srgbClr val="3895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00332" y="8049"/>
              <a:ext cx="441461" cy="266633"/>
            </a:xfrm>
            <a:prstGeom prst="rect">
              <a:avLst/>
            </a:prstGeom>
          </p:spPr>
          <p:txBody>
            <a:bodyPr anchor="ctr" rtlCol="false" tIns="30336" lIns="30336" bIns="30336" rIns="30336"/>
            <a:lstStyle/>
            <a:p>
              <a:pPr algn="ctr" marL="0" indent="0" lvl="0">
                <a:lnSpc>
                  <a:spcPts val="224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072642" y="4695572"/>
            <a:ext cx="848221" cy="84822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30336" lIns="30336" bIns="30336" rIns="30336"/>
            <a:lstStyle/>
            <a:p>
              <a:pPr algn="ctr" marL="0" indent="0" lvl="0">
                <a:lnSpc>
                  <a:spcPts val="224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801303" y="3480486"/>
            <a:ext cx="3390900" cy="297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</a:pPr>
            <a:r>
              <a:rPr lang="en-US" b="true" sz="17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Sprint 1 (Actual)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01303" y="3891600"/>
            <a:ext cx="3390900" cy="540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8"/>
              </a:lnSpc>
            </a:pPr>
            <a:r>
              <a:rPr lang="en-US" sz="15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Completar Sprint 1 · 2 semanas · 27 SP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607163" y="4582845"/>
            <a:ext cx="1073674" cy="1073674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7ED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30336" lIns="30336" bIns="30336" rIns="30336"/>
            <a:lstStyle/>
            <a:p>
              <a:pPr algn="ctr" marL="0" indent="0" lvl="0">
                <a:lnSpc>
                  <a:spcPts val="224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719890" y="5448942"/>
            <a:ext cx="848221" cy="677310"/>
            <a:chOff x="0" y="0"/>
            <a:chExt cx="642126" cy="51274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42126" cy="512741"/>
            </a:xfrm>
            <a:custGeom>
              <a:avLst/>
              <a:gdLst/>
              <a:ahLst/>
              <a:cxnLst/>
              <a:rect r="r" b="b" t="t" l="l"/>
              <a:pathLst>
                <a:path h="512741" w="642126">
                  <a:moveTo>
                    <a:pt x="321063" y="512741"/>
                  </a:moveTo>
                  <a:lnTo>
                    <a:pt x="642126" y="0"/>
                  </a:lnTo>
                  <a:lnTo>
                    <a:pt x="0" y="0"/>
                  </a:lnTo>
                  <a:lnTo>
                    <a:pt x="321063" y="512741"/>
                  </a:lnTo>
                  <a:close/>
                </a:path>
              </a:pathLst>
            </a:custGeom>
            <a:solidFill>
              <a:srgbClr val="F27ED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00332" y="8049"/>
              <a:ext cx="441461" cy="266633"/>
            </a:xfrm>
            <a:prstGeom prst="rect">
              <a:avLst/>
            </a:prstGeom>
          </p:spPr>
          <p:txBody>
            <a:bodyPr anchor="ctr" rtlCol="false" tIns="30336" lIns="30336" bIns="30336" rIns="30336"/>
            <a:lstStyle/>
            <a:p>
              <a:pPr algn="ctr" marL="0" indent="0" lvl="0">
                <a:lnSpc>
                  <a:spcPts val="224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719890" y="4695572"/>
            <a:ext cx="848221" cy="848221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30336" lIns="30336" bIns="30336" rIns="30336"/>
            <a:lstStyle/>
            <a:p>
              <a:pPr algn="ctr" marL="0" indent="0" lvl="0">
                <a:lnSpc>
                  <a:spcPts val="224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7448550" y="3430124"/>
            <a:ext cx="3390900" cy="297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</a:pPr>
            <a:r>
              <a:rPr lang="en-US" b="true" sz="17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Sprint 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448550" y="3841238"/>
            <a:ext cx="3390900" cy="540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8"/>
              </a:lnSpc>
            </a:pPr>
            <a:r>
              <a:rPr lang="en-US" sz="15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Sprint</a:t>
            </a:r>
            <a:r>
              <a:rPr lang="en-US" sz="15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2 - 2 semanas · 20 SP estimados</a:t>
            </a:r>
          </a:p>
        </p:txBody>
      </p:sp>
      <p:grpSp>
        <p:nvGrpSpPr>
          <p:cNvPr name="Group 25" id="25"/>
          <p:cNvGrpSpPr/>
          <p:nvPr/>
        </p:nvGrpSpPr>
        <p:grpSpPr>
          <a:xfrm rot="-10800000">
            <a:off x="5784326" y="6595984"/>
            <a:ext cx="1073674" cy="1073674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B87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30336" lIns="30336" bIns="30336" rIns="30336"/>
            <a:lstStyle/>
            <a:p>
              <a:pPr algn="ctr" marL="0" indent="0" lvl="0">
                <a:lnSpc>
                  <a:spcPts val="224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-10800000">
            <a:off x="5897053" y="6126252"/>
            <a:ext cx="848221" cy="677310"/>
            <a:chOff x="0" y="0"/>
            <a:chExt cx="642126" cy="51274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42126" cy="512741"/>
            </a:xfrm>
            <a:custGeom>
              <a:avLst/>
              <a:gdLst/>
              <a:ahLst/>
              <a:cxnLst/>
              <a:rect r="r" b="b" t="t" l="l"/>
              <a:pathLst>
                <a:path h="512741" w="642126">
                  <a:moveTo>
                    <a:pt x="321063" y="512741"/>
                  </a:moveTo>
                  <a:lnTo>
                    <a:pt x="642126" y="0"/>
                  </a:lnTo>
                  <a:lnTo>
                    <a:pt x="0" y="0"/>
                  </a:lnTo>
                  <a:lnTo>
                    <a:pt x="321063" y="512741"/>
                  </a:lnTo>
                  <a:close/>
                </a:path>
              </a:pathLst>
            </a:custGeom>
            <a:solidFill>
              <a:srgbClr val="AB87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100332" y="8049"/>
              <a:ext cx="441461" cy="266633"/>
            </a:xfrm>
            <a:prstGeom prst="rect">
              <a:avLst/>
            </a:prstGeom>
          </p:spPr>
          <p:txBody>
            <a:bodyPr anchor="ctr" rtlCol="false" tIns="30336" lIns="30336" bIns="30336" rIns="30336"/>
            <a:lstStyle/>
            <a:p>
              <a:pPr algn="ctr" marL="0" indent="0" lvl="0">
                <a:lnSpc>
                  <a:spcPts val="224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-10800000">
            <a:off x="5897053" y="6708711"/>
            <a:ext cx="848221" cy="848221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30336" lIns="30336" bIns="30336" rIns="30336"/>
            <a:lstStyle/>
            <a:p>
              <a:pPr algn="ctr" marL="0" indent="0" lvl="0">
                <a:lnSpc>
                  <a:spcPts val="2240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4625713" y="7783959"/>
            <a:ext cx="3390900" cy="297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</a:pPr>
            <a:r>
              <a:rPr lang="en-US" b="true" sz="17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Avance Actual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625713" y="8195073"/>
            <a:ext cx="3390900" cy="540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8"/>
              </a:lnSpc>
            </a:pPr>
            <a:r>
              <a:rPr lang="en-US" sz="15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25</a:t>
            </a:r>
            <a:r>
              <a:rPr lang="en-US" sz="15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% del proyecto completado al inicio del Sprint 1.</a:t>
            </a:r>
          </a:p>
        </p:txBody>
      </p:sp>
      <p:grpSp>
        <p:nvGrpSpPr>
          <p:cNvPr name="Group 36" id="36"/>
          <p:cNvGrpSpPr/>
          <p:nvPr/>
        </p:nvGrpSpPr>
        <p:grpSpPr>
          <a:xfrm rot="-10800000">
            <a:off x="11429280" y="6595984"/>
            <a:ext cx="1073674" cy="1073674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4A0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30336" lIns="30336" bIns="30336" rIns="30336"/>
            <a:lstStyle/>
            <a:p>
              <a:pPr algn="ctr" marL="0" indent="0" lvl="0">
                <a:lnSpc>
                  <a:spcPts val="2240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-10800000">
            <a:off x="11542007" y="6126252"/>
            <a:ext cx="848221" cy="677310"/>
            <a:chOff x="0" y="0"/>
            <a:chExt cx="642126" cy="51274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42126" cy="512741"/>
            </a:xfrm>
            <a:custGeom>
              <a:avLst/>
              <a:gdLst/>
              <a:ahLst/>
              <a:cxnLst/>
              <a:rect r="r" b="b" t="t" l="l"/>
              <a:pathLst>
                <a:path h="512741" w="642126">
                  <a:moveTo>
                    <a:pt x="321063" y="512741"/>
                  </a:moveTo>
                  <a:lnTo>
                    <a:pt x="642126" y="0"/>
                  </a:lnTo>
                  <a:lnTo>
                    <a:pt x="0" y="0"/>
                  </a:lnTo>
                  <a:lnTo>
                    <a:pt x="321063" y="512741"/>
                  </a:lnTo>
                  <a:close/>
                </a:path>
              </a:pathLst>
            </a:custGeom>
            <a:solidFill>
              <a:srgbClr val="FF94A0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100332" y="8049"/>
              <a:ext cx="441461" cy="266633"/>
            </a:xfrm>
            <a:prstGeom prst="rect">
              <a:avLst/>
            </a:prstGeom>
          </p:spPr>
          <p:txBody>
            <a:bodyPr anchor="ctr" rtlCol="false" tIns="30336" lIns="30336" bIns="30336" rIns="30336"/>
            <a:lstStyle/>
            <a:p>
              <a:pPr algn="ctr" marL="0" indent="0" lvl="0">
                <a:lnSpc>
                  <a:spcPts val="2240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-10800000">
            <a:off x="11542007" y="6708711"/>
            <a:ext cx="848221" cy="848221"/>
            <a:chOff x="0" y="0"/>
            <a:chExt cx="812800" cy="812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30336" lIns="30336" bIns="30336" rIns="30336"/>
            <a:lstStyle/>
            <a:p>
              <a:pPr algn="ctr" marL="0" indent="0" lvl="0">
                <a:lnSpc>
                  <a:spcPts val="2240"/>
                </a:lnSpc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0270667" y="7829244"/>
            <a:ext cx="3390900" cy="297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</a:pPr>
            <a:r>
              <a:rPr lang="en-US" b="true" sz="17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Meta Final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270667" y="8240359"/>
            <a:ext cx="3390900" cy="540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8"/>
              </a:lnSpc>
            </a:pPr>
            <a:r>
              <a:rPr lang="en-US" sz="15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50</a:t>
            </a:r>
            <a:r>
              <a:rPr lang="en-US" sz="15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% completado al finalizar Sprint 1 y Sprint 2.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4251397" y="4582845"/>
            <a:ext cx="1073674" cy="1073674"/>
            <a:chOff x="0" y="0"/>
            <a:chExt cx="812800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376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30336" lIns="30336" bIns="30336" rIns="30336"/>
            <a:lstStyle/>
            <a:p>
              <a:pPr algn="ctr" marL="0" indent="0" lvl="0">
                <a:lnSpc>
                  <a:spcPts val="2240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4364124" y="5448942"/>
            <a:ext cx="848221" cy="677310"/>
            <a:chOff x="0" y="0"/>
            <a:chExt cx="642126" cy="51274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42126" cy="512741"/>
            </a:xfrm>
            <a:custGeom>
              <a:avLst/>
              <a:gdLst/>
              <a:ahLst/>
              <a:cxnLst/>
              <a:rect r="r" b="b" t="t" l="l"/>
              <a:pathLst>
                <a:path h="512741" w="642126">
                  <a:moveTo>
                    <a:pt x="321063" y="512741"/>
                  </a:moveTo>
                  <a:lnTo>
                    <a:pt x="642126" y="0"/>
                  </a:lnTo>
                  <a:lnTo>
                    <a:pt x="0" y="0"/>
                  </a:lnTo>
                  <a:lnTo>
                    <a:pt x="321063" y="512741"/>
                  </a:lnTo>
                  <a:close/>
                </a:path>
              </a:pathLst>
            </a:custGeom>
            <a:solidFill>
              <a:srgbClr val="FFB376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100332" y="8049"/>
              <a:ext cx="441461" cy="266633"/>
            </a:xfrm>
            <a:prstGeom prst="rect">
              <a:avLst/>
            </a:prstGeom>
          </p:spPr>
          <p:txBody>
            <a:bodyPr anchor="ctr" rtlCol="false" tIns="30336" lIns="30336" bIns="30336" rIns="30336"/>
            <a:lstStyle/>
            <a:p>
              <a:pPr algn="ctr" marL="0" indent="0" lvl="0">
                <a:lnSpc>
                  <a:spcPts val="2240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4364124" y="4695572"/>
            <a:ext cx="848221" cy="848221"/>
            <a:chOff x="0" y="0"/>
            <a:chExt cx="812800" cy="812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30336" lIns="30336" bIns="30336" rIns="30336"/>
            <a:lstStyle/>
            <a:p>
              <a:pPr algn="ctr" marL="0" indent="0" lvl="0">
                <a:lnSpc>
                  <a:spcPts val="2240"/>
                </a:lnSpc>
              </a:pP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13092784" y="3430124"/>
            <a:ext cx="3390900" cy="297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</a:pPr>
            <a:r>
              <a:rPr lang="en-US" b="true" sz="17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Deuda Técnica + Testing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3092784" y="3841238"/>
            <a:ext cx="3390900" cy="540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8"/>
              </a:lnSpc>
            </a:pPr>
            <a:r>
              <a:rPr lang="en-US" sz="15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 semana · Indexación FK, pruebas y documentación</a:t>
            </a:r>
          </a:p>
        </p:txBody>
      </p:sp>
      <p:sp>
        <p:nvSpPr>
          <p:cNvPr name="AutoShape 58" id="58"/>
          <p:cNvSpPr/>
          <p:nvPr/>
        </p:nvSpPr>
        <p:spPr>
          <a:xfrm>
            <a:off x="-342616" y="6107202"/>
            <a:ext cx="18973232" cy="0"/>
          </a:xfrm>
          <a:prstGeom prst="line">
            <a:avLst/>
          </a:prstGeom>
          <a:ln cap="flat" w="66675">
            <a:solidFill>
              <a:srgbClr val="CADBE8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TextBox 59" id="59"/>
          <p:cNvSpPr txBox="true"/>
          <p:nvPr/>
        </p:nvSpPr>
        <p:spPr>
          <a:xfrm rot="0">
            <a:off x="3053602" y="628650"/>
            <a:ext cx="12033998" cy="828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91"/>
              </a:lnSpc>
            </a:pPr>
            <a:r>
              <a:rPr lang="en-US" b="true" sz="5596">
                <a:solidFill>
                  <a:srgbClr val="14057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Roadmap — Próximos Pasos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3053602" y="1636828"/>
            <a:ext cx="12033998" cy="356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</a:pPr>
            <a:r>
              <a:rPr lang="en-US" sz="20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Ajoolnaj · Sprint Planning 1</a:t>
            </a:r>
          </a:p>
        </p:txBody>
      </p:sp>
      <p:sp>
        <p:nvSpPr>
          <p:cNvPr name="Freeform 61" id="61"/>
          <p:cNvSpPr/>
          <p:nvPr/>
        </p:nvSpPr>
        <p:spPr>
          <a:xfrm flipH="false" flipV="false" rot="5400000">
            <a:off x="3340964" y="4898876"/>
            <a:ext cx="216115" cy="438623"/>
          </a:xfrm>
          <a:custGeom>
            <a:avLst/>
            <a:gdLst/>
            <a:ahLst/>
            <a:cxnLst/>
            <a:rect r="r" b="b" t="t" l="l"/>
            <a:pathLst>
              <a:path h="438623" w="216115">
                <a:moveTo>
                  <a:pt x="0" y="0"/>
                </a:moveTo>
                <a:lnTo>
                  <a:pt x="216115" y="0"/>
                </a:lnTo>
                <a:lnTo>
                  <a:pt x="216115" y="438623"/>
                </a:lnTo>
                <a:lnTo>
                  <a:pt x="0" y="4386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14543761" y="4898380"/>
            <a:ext cx="460329" cy="467662"/>
          </a:xfrm>
          <a:custGeom>
            <a:avLst/>
            <a:gdLst/>
            <a:ahLst/>
            <a:cxnLst/>
            <a:rect r="r" b="b" t="t" l="l"/>
            <a:pathLst>
              <a:path h="467662" w="460329">
                <a:moveTo>
                  <a:pt x="0" y="0"/>
                </a:moveTo>
                <a:lnTo>
                  <a:pt x="460329" y="0"/>
                </a:lnTo>
                <a:lnTo>
                  <a:pt x="460329" y="467662"/>
                </a:lnTo>
                <a:lnTo>
                  <a:pt x="0" y="4676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11744765" y="6959204"/>
            <a:ext cx="435548" cy="434695"/>
          </a:xfrm>
          <a:custGeom>
            <a:avLst/>
            <a:gdLst/>
            <a:ahLst/>
            <a:cxnLst/>
            <a:rect r="r" b="b" t="t" l="l"/>
            <a:pathLst>
              <a:path h="434695" w="435548">
                <a:moveTo>
                  <a:pt x="0" y="0"/>
                </a:moveTo>
                <a:lnTo>
                  <a:pt x="435548" y="0"/>
                </a:lnTo>
                <a:lnTo>
                  <a:pt x="435548" y="434696"/>
                </a:lnTo>
                <a:lnTo>
                  <a:pt x="0" y="4346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8954572" y="4865925"/>
            <a:ext cx="397905" cy="480126"/>
          </a:xfrm>
          <a:custGeom>
            <a:avLst/>
            <a:gdLst/>
            <a:ahLst/>
            <a:cxnLst/>
            <a:rect r="r" b="b" t="t" l="l"/>
            <a:pathLst>
              <a:path h="480126" w="397905">
                <a:moveTo>
                  <a:pt x="0" y="0"/>
                </a:moveTo>
                <a:lnTo>
                  <a:pt x="397905" y="0"/>
                </a:lnTo>
                <a:lnTo>
                  <a:pt x="397905" y="480126"/>
                </a:lnTo>
                <a:lnTo>
                  <a:pt x="0" y="4801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DAHOYFFuCyY</dc:identifier>
  <dcterms:modified xsi:type="dcterms:W3CDTF">2011-08-01T06:04:30Z</dcterms:modified>
  <cp:revision>1</cp:revision>
  <dc:title>Sprint Planning — Ágil Ajoolnaj Institutional Management</dc:title>
</cp:coreProperties>
</file>